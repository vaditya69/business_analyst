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57" r:id="rId3"/>
    <p:sldId id="258" r:id="rId4"/>
    <p:sldId id="264" r:id="rId5"/>
    <p:sldId id="259" r:id="rId6"/>
    <p:sldId id="267" r:id="rId7"/>
    <p:sldId id="268" r:id="rId8"/>
    <p:sldId id="265" r:id="rId9"/>
    <p:sldId id="262" r:id="rId10"/>
    <p:sldId id="260" r:id="rId11"/>
    <p:sldId id="2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95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23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666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67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2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03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92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228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6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53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167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1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6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002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293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519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8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7990AE-784B-427B-ADCE-9D1A122917E5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931E96F-2CAA-48ED-8189-7F759B43D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20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C63DAD-9F9F-4F34-B890-F606DF87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1" y="1545231"/>
            <a:ext cx="6237288" cy="1602316"/>
          </a:xfrm>
        </p:spPr>
        <p:txBody>
          <a:bodyPr/>
          <a:lstStyle/>
          <a:p>
            <a:r>
              <a:rPr lang="en-US" dirty="0"/>
              <a:t>Phone Pe Data Analysis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50AB74-981F-4E06-9766-898564C25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5054" y="4813840"/>
            <a:ext cx="9244897" cy="1282160"/>
          </a:xfrm>
        </p:spPr>
        <p:txBody>
          <a:bodyPr>
            <a:normAutofit/>
          </a:bodyPr>
          <a:lstStyle/>
          <a:p>
            <a:pPr algn="r"/>
            <a:r>
              <a:rPr lang="en-US" sz="2200" dirty="0"/>
              <a:t>- Aditya Verma</a:t>
            </a:r>
          </a:p>
          <a:p>
            <a:pPr algn="r"/>
            <a:r>
              <a:rPr lang="en-US" sz="2200" dirty="0"/>
              <a:t>- Data Analyst at </a:t>
            </a:r>
            <a:r>
              <a:rPr lang="en-US" sz="2200" dirty="0" err="1"/>
              <a:t>Innovexis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5723F-9B73-40BC-88AA-4F131A54F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421998"/>
            <a:ext cx="2417763" cy="24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4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E87C-B5CC-421A-8231-D1DC9EF9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3EB8A-8716-409C-8D39-A105ADC9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57449"/>
            <a:ext cx="10227421" cy="3971925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This project focuses on </a:t>
            </a:r>
            <a:r>
              <a:rPr lang="en-IN" dirty="0" err="1"/>
              <a:t>analyzing</a:t>
            </a:r>
            <a:r>
              <a:rPr lang="en-IN" dirty="0"/>
              <a:t> </a:t>
            </a:r>
            <a:r>
              <a:rPr lang="en-IN" b="1" dirty="0" err="1"/>
              <a:t>PhonePe</a:t>
            </a:r>
            <a:r>
              <a:rPr lang="en-IN" b="1" dirty="0"/>
              <a:t> Pulse data</a:t>
            </a:r>
            <a:r>
              <a:rPr lang="en-IN" dirty="0"/>
              <a:t> to uncover meaningful insights about digital transactions, user growth, and regional trends across India.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📊 </a:t>
            </a:r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1,00,000+ records</a:t>
            </a:r>
            <a:r>
              <a:rPr lang="en-IN" dirty="0"/>
              <a:t> covering transactions, users, states, districts, and time periods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🗂️ Data sourced from the </a:t>
            </a:r>
            <a:r>
              <a:rPr lang="en-IN" b="1" dirty="0" err="1"/>
              <a:t>PhonePe</a:t>
            </a:r>
            <a:r>
              <a:rPr lang="en-IN" b="1" dirty="0"/>
              <a:t> Pulse GitHub repository</a:t>
            </a:r>
            <a:r>
              <a:rPr lang="en-IN" dirty="0"/>
              <a:t> and transformed into structured datasets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🧹 Performed </a:t>
            </a:r>
            <a:r>
              <a:rPr lang="en-IN" b="1" dirty="0"/>
              <a:t>data cleaning, </a:t>
            </a:r>
            <a:r>
              <a:rPr lang="en-IN" b="1" dirty="0" err="1"/>
              <a:t>preprocessing</a:t>
            </a:r>
            <a:r>
              <a:rPr lang="en-IN" b="1" dirty="0"/>
              <a:t>, and transformation</a:t>
            </a:r>
            <a:r>
              <a:rPr lang="en-IN" dirty="0"/>
              <a:t> to ensure accuracy and usability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📈 Built an </a:t>
            </a:r>
            <a:r>
              <a:rPr lang="en-IN" b="1" dirty="0"/>
              <a:t>interactive Power BI dashboard</a:t>
            </a:r>
            <a:r>
              <a:rPr lang="en-IN" dirty="0"/>
              <a:t> with dynamic filters and drill-down capabilities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🌍 Developed </a:t>
            </a:r>
            <a:r>
              <a:rPr lang="en-IN" b="1" dirty="0"/>
              <a:t>geo-visualizations</a:t>
            </a:r>
            <a:r>
              <a:rPr lang="en-IN" dirty="0"/>
              <a:t> to understand state-wise and district-wise distribution </a:t>
            </a:r>
          </a:p>
          <a:p>
            <a:r>
              <a:rPr lang="en-IN" dirty="0"/>
              <a:t>👉 The dashboard enables users to explore: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Transaction volume &amp; amount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growth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Brand/device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Regional performance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13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E68C-63CD-4E8D-9DD0-31B77E07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of the Meeting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DE15D-A115-4671-96E0-ED4B0665C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24100"/>
            <a:ext cx="10027396" cy="4267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Introduction </a:t>
            </a:r>
            <a:r>
              <a:rPr lang="en-US" dirty="0"/>
              <a:t>providing an overview of the </a:t>
            </a:r>
            <a:r>
              <a:rPr lang="en-US" b="1" dirty="0" err="1"/>
              <a:t>PhonePe</a:t>
            </a:r>
            <a:r>
              <a:rPr lang="en-US" dirty="0"/>
              <a:t> data analysis project along with its objectives and scope. </a:t>
            </a:r>
          </a:p>
          <a:p>
            <a:r>
              <a:rPr lang="en-US" b="1" dirty="0"/>
              <a:t>Problem Statement</a:t>
            </a:r>
            <a:r>
              <a:rPr lang="en-US" dirty="0"/>
              <a:t> where key challenges in analyzing large-scale transaction data and the need for an interactive visualization solution will be discussed.</a:t>
            </a:r>
          </a:p>
          <a:p>
            <a:r>
              <a:rPr lang="en-US" b="1" dirty="0"/>
              <a:t>Data Overview</a:t>
            </a:r>
            <a:r>
              <a:rPr lang="en-US" dirty="0"/>
              <a:t> will cover the dataset source and structure, including the analysis of </a:t>
            </a:r>
            <a:r>
              <a:rPr lang="en-US" b="1" dirty="0"/>
              <a:t>1,00,000+ records</a:t>
            </a:r>
            <a:r>
              <a:rPr lang="en-US" dirty="0"/>
              <a:t> across transactions, users, states, districts, and time periods.</a:t>
            </a:r>
          </a:p>
          <a:p>
            <a:r>
              <a:rPr lang="en-US" b="1" dirty="0"/>
              <a:t>Data Processing</a:t>
            </a:r>
            <a:r>
              <a:rPr lang="en-US" dirty="0"/>
              <a:t>, explaining data extraction, cleaning, transformation, and modeling in Power BI.</a:t>
            </a:r>
          </a:p>
          <a:p>
            <a:r>
              <a:rPr lang="en-US" b="1" dirty="0"/>
              <a:t>Dashboard Walkthrough</a:t>
            </a:r>
            <a:r>
              <a:rPr lang="en-US" dirty="0"/>
              <a:t> will demonstrate KPI metrics, geo-visualizations, and dynamic filters such as year, quarter, and region. </a:t>
            </a:r>
          </a:p>
          <a:p>
            <a:r>
              <a:rPr lang="en-US" b="1" dirty="0"/>
              <a:t>Key Insights </a:t>
            </a:r>
            <a:r>
              <a:rPr lang="en-US" dirty="0"/>
              <a:t>section will highlight important findings like transaction trends, user growth, and regional performance patterns.</a:t>
            </a:r>
          </a:p>
          <a:p>
            <a:r>
              <a:rPr lang="en-US" b="1" dirty="0"/>
              <a:t>Advanced Analysis</a:t>
            </a:r>
            <a:r>
              <a:rPr lang="en-US" dirty="0"/>
              <a:t>, focusing on metrics such as Year-over-Year (YoY) growth and contribution analysis.</a:t>
            </a:r>
          </a:p>
          <a:p>
            <a:r>
              <a:rPr lang="en-US" b="1" dirty="0"/>
              <a:t>Business Impact</a:t>
            </a:r>
            <a:r>
              <a:rPr lang="en-US" dirty="0"/>
              <a:t> section, where actionable insights and opportunities for growth will be presented. </a:t>
            </a:r>
          </a:p>
          <a:p>
            <a:r>
              <a:rPr lang="en-US" b="1" dirty="0"/>
              <a:t>Conclusion</a:t>
            </a:r>
            <a:r>
              <a:rPr lang="en-US" dirty="0"/>
              <a:t>, summarizing outcomes and learnings, followed by a </a:t>
            </a:r>
            <a:r>
              <a:rPr lang="en-US" b="1" dirty="0"/>
              <a:t>Q&amp;A session</a:t>
            </a:r>
            <a:r>
              <a:rPr lang="en-US" dirty="0"/>
              <a:t> for discussion and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25919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3C57-3D80-4D8A-B49A-8871B124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AB536-8C45-4FA8-97D8-4DCB050C8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798" y="2449538"/>
            <a:ext cx="5468277" cy="396078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1EB844-7140-4F8A-8335-0CB3F2EE110D}"/>
              </a:ext>
            </a:extLst>
          </p:cNvPr>
          <p:cNvSpPr txBox="1"/>
          <p:nvPr/>
        </p:nvSpPr>
        <p:spPr>
          <a:xfrm>
            <a:off x="6096000" y="2449538"/>
            <a:ext cx="58388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dashboard presents an analysis of over </a:t>
            </a:r>
            <a:r>
              <a:rPr lang="en-US" b="1" dirty="0"/>
              <a:t>1,00,000+ </a:t>
            </a:r>
            <a:r>
              <a:rPr lang="en-US" b="1" dirty="0" err="1"/>
              <a:t>PhonePe</a:t>
            </a:r>
            <a:r>
              <a:rPr lang="en-US" b="1" dirty="0"/>
              <a:t> transaction records</a:t>
            </a:r>
            <a:r>
              <a:rPr lang="en-US" dirty="0"/>
              <a:t>, providing a comprehensive view of digital payment trends across India. It highlights a total of </a:t>
            </a:r>
            <a:r>
              <a:rPr lang="en-US" b="1" dirty="0"/>
              <a:t>5 billion+ registered users</a:t>
            </a:r>
            <a:r>
              <a:rPr lang="en-US" dirty="0"/>
              <a:t>, with an overall transaction value of approximately </a:t>
            </a:r>
            <a:r>
              <a:rPr lang="en-US" b="1" dirty="0"/>
              <a:t>$121.41 trillion</a:t>
            </a:r>
            <a:r>
              <a:rPr lang="en-US" dirty="0"/>
              <a:t> and more than </a:t>
            </a:r>
            <a:r>
              <a:rPr lang="en-US" b="1" dirty="0"/>
              <a:t>72 billion transactions</a:t>
            </a:r>
            <a:r>
              <a:rPr lang="en-US" dirty="0"/>
              <a:t> recorded. In terms of transaction types, </a:t>
            </a:r>
            <a:r>
              <a:rPr lang="en-US" b="1" dirty="0"/>
              <a:t>merchant payments dominate with around 46.19% (33 billion transactions)</a:t>
            </a:r>
            <a:r>
              <a:rPr lang="en-US" dirty="0"/>
              <a:t>, followed by </a:t>
            </a:r>
            <a:r>
              <a:rPr lang="en-US" b="1" dirty="0"/>
              <a:t>peer-to-peer transactions contributing about 40.56% (29 billion)</a:t>
            </a:r>
            <a:r>
              <a:rPr lang="en-US" dirty="0"/>
              <a:t>, while the remaining share comes from recharges, financial services, and other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522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FF0CF-DB65-4EC6-ABE7-5AA42925A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140" y="2419351"/>
            <a:ext cx="6772085" cy="38766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Geographically, the data shows that states like </a:t>
            </a:r>
            <a:r>
              <a:rPr lang="en-US" b="1" dirty="0"/>
              <a:t>Maharashtra, Karnataka, and Telangana</a:t>
            </a:r>
            <a:r>
              <a:rPr lang="en-US" dirty="0"/>
              <a:t> are the top contributors to transaction volume, with major urban districts such as </a:t>
            </a:r>
            <a:r>
              <a:rPr lang="en-US" b="1" dirty="0"/>
              <a:t>Bengaluru Urban, Hyderabad, and Pune</a:t>
            </a:r>
            <a:r>
              <a:rPr lang="en-US" dirty="0"/>
              <a:t> leading in transaction amounts, each contributing in the range of </a:t>
            </a:r>
            <a:r>
              <a:rPr lang="en-US" b="1" dirty="0"/>
              <a:t>₹40 crore to ₹78 crore+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The trend analysis indicates a strong and consistent growth in digital transactions from </a:t>
            </a:r>
            <a:r>
              <a:rPr lang="en-US" b="1" dirty="0"/>
              <a:t>2018 to 2022</a:t>
            </a:r>
            <a:r>
              <a:rPr lang="en-US" dirty="0"/>
              <a:t>, with a peak observed in 2022 at over </a:t>
            </a:r>
            <a:r>
              <a:rPr lang="en-US" b="1" dirty="0"/>
              <a:t>30 billion transactions</a:t>
            </a:r>
            <a:r>
              <a:rPr lang="en-US" dirty="0"/>
              <a:t>, reflecting rapid adoption of digital payments. Overall, the dashboard demonstrates a </a:t>
            </a:r>
            <a:r>
              <a:rPr lang="en-US" b="1" dirty="0"/>
              <a:t>high concentration of activity in urban regions along with significant year-on-year growth</a:t>
            </a:r>
            <a:r>
              <a:rPr lang="en-US" dirty="0"/>
              <a:t>, highlighting both the maturity of key markets and the potential for expansion in emerging areas.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4DDEE-19BF-46C1-9446-41D2C64C0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60" y="2419351"/>
            <a:ext cx="4381880" cy="41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9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2AB44-BE4F-4581-8C16-E7C1EFE5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8409D5-ACA8-467A-A4DD-5F897B952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654" y="2627509"/>
            <a:ext cx="5018171" cy="279678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49D586-55E9-42C8-85F6-8CAABB5FD2AF}"/>
              </a:ext>
            </a:extLst>
          </p:cNvPr>
          <p:cNvSpPr txBox="1"/>
          <p:nvPr/>
        </p:nvSpPr>
        <p:spPr>
          <a:xfrm>
            <a:off x="5534025" y="2400301"/>
            <a:ext cx="674361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Both metrics show exponential growth, rising from ~$2–3T in 2018 to ~$45T (total) and ~$65T (top transactions) in 2022.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The Top Transaction Amount consistently exceeds Total Transaction Amount, with the gap widening significantly over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From 2020 to 2022, total transactions grew from ~$12T to ~$45T (~275% increase), while top transactions surged from ~$15T to ~$65T (~330% increase) — indicating faster growth in high-value transactions.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The gap between the two increased from ~$2–3T in 2018 to ~$20T+ by 2022, showing a strong concentration of value in top transactions.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The most rapid growth phase occurs between 2020–2022, where both metrics more than tripled, </a:t>
            </a:r>
            <a:r>
              <a:rPr lang="en-IN" sz="1700" dirty="0" err="1"/>
              <a:t>signaling</a:t>
            </a:r>
            <a:r>
              <a:rPr lang="en-IN" sz="1700" dirty="0"/>
              <a:t> a major acceleration in digital payment adoption and high-value usage.</a:t>
            </a:r>
          </a:p>
        </p:txBody>
      </p:sp>
    </p:spTree>
    <p:extLst>
      <p:ext uri="{BB962C8B-B14F-4D97-AF65-F5344CB8AC3E}">
        <p14:creationId xmlns:p14="http://schemas.microsoft.com/office/powerpoint/2010/main" val="134446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C46A-EB95-46B8-BFA0-2B9E51F6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AED44-5404-47A9-A8A9-9C2582585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0" y="2603500"/>
            <a:ext cx="6324600" cy="40830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platform has processed a </a:t>
            </a:r>
            <a:r>
              <a:rPr lang="en-US" b="1" dirty="0"/>
              <a:t>total transaction value of ~$121.41T</a:t>
            </a:r>
            <a:r>
              <a:rPr lang="en-US" dirty="0"/>
              <a:t>, out of which </a:t>
            </a:r>
            <a:r>
              <a:rPr lang="en-US" b="1" dirty="0"/>
              <a:t>~$93.25T (~77%) comes from top transactions</a:t>
            </a:r>
            <a:r>
              <a:rPr lang="en-US" dirty="0"/>
              <a:t>, indicating a </a:t>
            </a:r>
            <a:r>
              <a:rPr lang="en-US" b="1" dirty="0"/>
              <a:t>high concentration of value in large transactions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Total transaction volume is massive, with </a:t>
            </a:r>
            <a:r>
              <a:rPr lang="en-US" b="1" dirty="0"/>
              <a:t>~57–72 billion transactions</a:t>
            </a:r>
            <a:r>
              <a:rPr lang="en-US" dirty="0"/>
              <a:t>, showing </a:t>
            </a:r>
            <a:r>
              <a:rPr lang="en-US" b="1" dirty="0"/>
              <a:t>high user activity alongside high-value transactions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dirty="0"/>
              <a:t>Year-wise Growth:</a:t>
            </a:r>
          </a:p>
          <a:p>
            <a:pPr marL="0" indent="0">
              <a:buNone/>
            </a:pPr>
            <a:r>
              <a:rPr lang="en-US" b="1" dirty="0"/>
              <a:t>2018:</a:t>
            </a:r>
            <a:r>
              <a:rPr lang="en-US" dirty="0"/>
              <a:t> ~</a:t>
            </a:r>
            <a:r>
              <a:rPr lang="en-US" b="1" dirty="0"/>
              <a:t>$2T</a:t>
            </a:r>
            <a:r>
              <a:rPr lang="en-US" dirty="0"/>
              <a:t> (initial stage) </a:t>
            </a:r>
          </a:p>
          <a:p>
            <a:pPr marL="0" indent="0">
              <a:buNone/>
            </a:pPr>
            <a:r>
              <a:rPr lang="en-US" b="1" dirty="0"/>
              <a:t>2019:</a:t>
            </a:r>
            <a:r>
              <a:rPr lang="en-US" dirty="0"/>
              <a:t> ~</a:t>
            </a:r>
            <a:r>
              <a:rPr lang="en-US" b="1" dirty="0"/>
              <a:t>$6–7T</a:t>
            </a:r>
            <a:r>
              <a:rPr lang="en-US" dirty="0"/>
              <a:t> (</a:t>
            </a:r>
            <a:r>
              <a:rPr lang="en-US" b="1" dirty="0"/>
              <a:t>~3x growth YoY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b="1" dirty="0"/>
              <a:t>2020:</a:t>
            </a:r>
            <a:r>
              <a:rPr lang="en-US" dirty="0"/>
              <a:t> ~</a:t>
            </a:r>
            <a:r>
              <a:rPr lang="en-US" b="1" dirty="0"/>
              <a:t>$15T</a:t>
            </a:r>
            <a:r>
              <a:rPr lang="en-US" dirty="0"/>
              <a:t> (</a:t>
            </a:r>
            <a:r>
              <a:rPr lang="en-US" b="1" dirty="0"/>
              <a:t>~2.5x growth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b="1" dirty="0"/>
              <a:t>2021:</a:t>
            </a:r>
            <a:r>
              <a:rPr lang="en-US" dirty="0"/>
              <a:t> ~</a:t>
            </a:r>
            <a:r>
              <a:rPr lang="en-US" b="1" dirty="0"/>
              <a:t>$35–40T</a:t>
            </a:r>
            <a:r>
              <a:rPr lang="en-US" dirty="0"/>
              <a:t> (</a:t>
            </a:r>
            <a:r>
              <a:rPr lang="en-US" b="1" dirty="0"/>
              <a:t>~2.5x growth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b="1" dirty="0"/>
              <a:t>2022:</a:t>
            </a:r>
            <a:r>
              <a:rPr lang="en-US" dirty="0"/>
              <a:t> ~</a:t>
            </a:r>
            <a:r>
              <a:rPr lang="en-US" b="1" dirty="0"/>
              <a:t>$65T+</a:t>
            </a:r>
            <a:r>
              <a:rPr lang="en-US" dirty="0"/>
              <a:t> (</a:t>
            </a:r>
            <a:r>
              <a:rPr lang="en-US" b="1" dirty="0"/>
              <a:t>~70–80% growth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b="1" dirty="0"/>
              <a:t>2018 to 2022</a:t>
            </a:r>
            <a:r>
              <a:rPr lang="en-US" dirty="0"/>
              <a:t>, transaction value grew </a:t>
            </a:r>
            <a:r>
              <a:rPr lang="en-US" b="1" dirty="0"/>
              <a:t>over 30x</a:t>
            </a:r>
            <a:r>
              <a:rPr lang="en-US" dirty="0"/>
              <a:t>, highlighting </a:t>
            </a:r>
            <a:r>
              <a:rPr lang="en-US" b="1" dirty="0"/>
              <a:t>explosive adoption and scale-up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The biggest acceleration happened post-2020, where transactions jumped from </a:t>
            </a:r>
            <a:r>
              <a:rPr lang="en-US" b="1" dirty="0"/>
              <a:t>~$15T to ~$65T (4x increase in just 2 years)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43E78-BE35-4EB0-BD31-C7BB46B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46" y="2603499"/>
            <a:ext cx="4715029" cy="291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67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28AD-C055-4A26-AB9D-CB220A23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Brand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F0347-1967-4A15-A2F0-786CFF7CF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849" y="2286000"/>
            <a:ext cx="6162675" cy="4419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Xiaomi leads by a significant margin, followed by Samsung (~672M users), making these two brands the primary market leaders. </a:t>
            </a:r>
          </a:p>
          <a:p>
            <a:r>
              <a:rPr lang="en-US" dirty="0"/>
              <a:t>The next tier includes Vivo (~420M) and Oppo (~283M), indicating a noticeable drop of nearly 37% from Samsung to Vivo and another ~33% drop to Oppo. </a:t>
            </a:r>
          </a:p>
          <a:p>
            <a:r>
              <a:rPr lang="en-US" dirty="0"/>
              <a:t>Mid-tier brands like </a:t>
            </a:r>
            <a:r>
              <a:rPr lang="en-US" dirty="0" err="1"/>
              <a:t>Realme</a:t>
            </a:r>
            <a:r>
              <a:rPr lang="en-US" dirty="0"/>
              <a:t> (~96M) and Apple (~64M) show a sharp decline, with Apple having ~90% fewer users than Samsung, highlighting its relatively niche positioning in terms of user volume. </a:t>
            </a:r>
          </a:p>
          <a:p>
            <a:r>
              <a:rPr lang="en-US" dirty="0"/>
              <a:t>Beyond the top 6–7 brands, the user base drops drastically: brands like Lenovo (~43M), Micromax (~11M), and </a:t>
            </a:r>
            <a:r>
              <a:rPr lang="en-US" dirty="0" err="1"/>
              <a:t>Infinix</a:t>
            </a:r>
            <a:r>
              <a:rPr lang="en-US" dirty="0"/>
              <a:t> (~4M) have less than 10% of the leading brand’s users. </a:t>
            </a:r>
          </a:p>
          <a:p>
            <a:r>
              <a:rPr lang="en-US" dirty="0"/>
              <a:t>The bottom segment (Lava, </a:t>
            </a:r>
            <a:r>
              <a:rPr lang="en-US" dirty="0" err="1"/>
              <a:t>Lyf</a:t>
            </a:r>
            <a:r>
              <a:rPr lang="en-US" dirty="0"/>
              <a:t>, COOLPAD) contributes negligible user share (~0–2M), indicating near insignificance in overall market penetration.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71FDF-95C7-492D-89D8-F8C9BC9E4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" y="2371529"/>
            <a:ext cx="5048249" cy="251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78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2023D-B712-4A26-BB21-266AF6E3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2EA16-3482-476C-B6B8-0788847F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25" y="2312573"/>
            <a:ext cx="6381750" cy="42787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Across all states, the market share is highly fragmented, with no single brand consistently dominating beyond ~20–25% in any state. </a:t>
            </a:r>
          </a:p>
          <a:p>
            <a:r>
              <a:rPr lang="en-US" dirty="0"/>
              <a:t>Lenovo, Huawei, and </a:t>
            </a:r>
            <a:r>
              <a:rPr lang="en-US" dirty="0" err="1"/>
              <a:t>Infinix</a:t>
            </a:r>
            <a:r>
              <a:rPr lang="en-US" dirty="0"/>
              <a:t> appear to contribute the largest combined shares, often making up ~40–60% of the total in states like Jharkhand, Karnataka, and Puducherry. </a:t>
            </a:r>
          </a:p>
          <a:p>
            <a:r>
              <a:rPr lang="en-US" dirty="0"/>
              <a:t>Premium brands like Apple and Asus have minimal penetration (~2–8%) across most states, indicating a limited but consistent niche presence.</a:t>
            </a:r>
          </a:p>
          <a:p>
            <a:r>
              <a:rPr lang="en-US" dirty="0"/>
              <a:t>States such as Jharkhand and Mizoram show a more balanced distribution, where the top 3–4 brands together contribute ~70–80%, suggesting moderate competition. </a:t>
            </a:r>
          </a:p>
          <a:p>
            <a:r>
              <a:rPr lang="en-US" dirty="0"/>
              <a:t>In contrast, Delhi and Arunachal Pradesh show higher concentration, where a few brands dominate a larger chunk (~60%+ share), indicating less even distribution.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2E8AC-73CD-4019-B160-D0DF32964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40" y="2722148"/>
            <a:ext cx="4877010" cy="285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0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8730-8E92-4308-8CAC-BE1346A69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1135-17FF-47CE-9AB9-77856EDE3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6" y="2276475"/>
            <a:ext cx="11144250" cy="4448175"/>
          </a:xfrm>
        </p:spPr>
        <p:txBody>
          <a:bodyPr>
            <a:normAutofit fontScale="70000" lnSpcReduction="2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Massive Scale of Platform The platform operates at an extremely large scale, processing over </a:t>
            </a:r>
            <a:r>
              <a:rPr lang="en-US" b="1" dirty="0"/>
              <a:t>$121.41 trillion </a:t>
            </a:r>
            <a:r>
              <a:rPr lang="en-US" dirty="0"/>
              <a:t>in transaction value, with more than </a:t>
            </a:r>
            <a:r>
              <a:rPr lang="en-US" b="1" dirty="0"/>
              <a:t>72 billion </a:t>
            </a:r>
            <a:r>
              <a:rPr lang="en-US" dirty="0"/>
              <a:t>transactions and </a:t>
            </a:r>
            <a:r>
              <a:rPr lang="en-US" b="1" dirty="0"/>
              <a:t>5 billion+ </a:t>
            </a:r>
            <a:r>
              <a:rPr lang="en-US" dirty="0"/>
              <a:t>registered users. This indicates widespread adoption and positions the platform as one of the largest digital payment ecosystems, handling both high volume and high frequency transactions efficiently. </a:t>
            </a:r>
          </a:p>
          <a:p>
            <a:pPr>
              <a:buFont typeface="+mj-lt"/>
              <a:buAutoNum type="arabicPeriod"/>
            </a:pPr>
            <a:r>
              <a:rPr lang="en-US" dirty="0"/>
              <a:t>Dominance of High-Value Transactions A significant </a:t>
            </a:r>
            <a:r>
              <a:rPr lang="en-US" b="1" dirty="0"/>
              <a:t>~77% </a:t>
            </a:r>
            <a:r>
              <a:rPr lang="en-US" dirty="0"/>
              <a:t>of the total transaction value </a:t>
            </a:r>
            <a:r>
              <a:rPr lang="en-US" b="1" dirty="0"/>
              <a:t>(~$93.25T)</a:t>
            </a:r>
            <a:r>
              <a:rPr lang="en-US" dirty="0"/>
              <a:t> comes from top transactions, highlighting that the platform’s value is heavily concentrated in high-value transactions. This suggests that while many transactions occur, larger transactions contribute disproportionately to total value, indicating strong usage among high-spending users or businesses. </a:t>
            </a:r>
          </a:p>
          <a:p>
            <a:pPr>
              <a:buFont typeface="+mj-lt"/>
              <a:buAutoNum type="arabicPeriod"/>
            </a:pPr>
            <a:r>
              <a:rPr lang="en-US" dirty="0"/>
              <a:t>Exponential Growth Trend The platform has witnessed explosive growth of over </a:t>
            </a:r>
            <a:r>
              <a:rPr lang="en-US" b="1" dirty="0"/>
              <a:t>30x from 2018 to 2022</a:t>
            </a:r>
            <a:r>
              <a:rPr lang="en-US" dirty="0"/>
              <a:t>, with transaction value increasing from </a:t>
            </a:r>
            <a:r>
              <a:rPr lang="en-US" b="1" dirty="0"/>
              <a:t>~$2T to ~$65T+</a:t>
            </a:r>
            <a:r>
              <a:rPr lang="en-US" dirty="0"/>
              <a:t>. The most significant growth occurred between </a:t>
            </a:r>
            <a:r>
              <a:rPr lang="en-US" b="1" dirty="0"/>
              <a:t>2020 and 2022 (4x increase)</a:t>
            </a:r>
            <a:r>
              <a:rPr lang="en-US" dirty="0"/>
              <a:t>, reflecting rapid digital adoption, likely driven by increased smartphone usage and a shift toward cashless payments. </a:t>
            </a:r>
          </a:p>
          <a:p>
            <a:pPr>
              <a:buFont typeface="+mj-lt"/>
              <a:buAutoNum type="arabicPeriod"/>
            </a:pPr>
            <a:r>
              <a:rPr lang="en-US" dirty="0"/>
              <a:t>Urban-Centric Transaction Distribution Transaction activity is highly concentrated in urban regions, with states </a:t>
            </a:r>
            <a:r>
              <a:rPr lang="en-US" b="1" dirty="0"/>
              <a:t>like Maharashtra, Karnataka,</a:t>
            </a:r>
            <a:r>
              <a:rPr lang="en-US" dirty="0"/>
              <a:t> and </a:t>
            </a:r>
            <a:r>
              <a:rPr lang="en-US" b="1" dirty="0"/>
              <a:t>Telangana</a:t>
            </a:r>
            <a:r>
              <a:rPr lang="en-US" dirty="0"/>
              <a:t> leading in volume. Key districts such as </a:t>
            </a:r>
            <a:r>
              <a:rPr lang="en-US" b="1" dirty="0"/>
              <a:t>Bengaluru, Hyderabad, </a:t>
            </a:r>
            <a:r>
              <a:rPr lang="en-US" dirty="0"/>
              <a:t>and </a:t>
            </a:r>
            <a:r>
              <a:rPr lang="en-US" b="1" dirty="0"/>
              <a:t>Pune </a:t>
            </a:r>
            <a:r>
              <a:rPr lang="en-US" dirty="0"/>
              <a:t>contribute the highest transaction amounts, indicating that metro and </a:t>
            </a:r>
            <a:r>
              <a:rPr lang="en-US" b="1" dirty="0"/>
              <a:t>tier-1 citie</a:t>
            </a:r>
            <a:r>
              <a:rPr lang="en-US" dirty="0"/>
              <a:t>s are the primary drivers of digital payment growth. </a:t>
            </a:r>
          </a:p>
          <a:p>
            <a:pPr>
              <a:buFont typeface="+mj-lt"/>
              <a:buAutoNum type="arabicPeriod"/>
            </a:pPr>
            <a:r>
              <a:rPr lang="en-US" dirty="0"/>
              <a:t>Transaction Type Distribution Merchant payments account for </a:t>
            </a:r>
            <a:r>
              <a:rPr lang="en-US" b="1" dirty="0"/>
              <a:t>~46% (33B transactions), </a:t>
            </a:r>
            <a:r>
              <a:rPr lang="en-US" dirty="0"/>
              <a:t>followed by peer-to-peer transactions at </a:t>
            </a:r>
            <a:r>
              <a:rPr lang="en-US" b="1" dirty="0"/>
              <a:t>~40% (29B transactions</a:t>
            </a:r>
            <a:r>
              <a:rPr lang="en-US" dirty="0"/>
              <a:t>). This shows that the platform is not only used for personal transfers but is also widely adopted for commercial and business transactions, making it a dual-purpose ecosystem. </a:t>
            </a:r>
          </a:p>
          <a:p>
            <a:pPr>
              <a:buFont typeface="+mj-lt"/>
              <a:buAutoNum type="arabicPeriod"/>
            </a:pPr>
            <a:r>
              <a:rPr lang="en-US" dirty="0"/>
              <a:t>Device Market Concentration The user base is heavily concentrated among a few smartphone brands, with </a:t>
            </a:r>
            <a:r>
              <a:rPr lang="en-US" b="1" dirty="0"/>
              <a:t>Xiaomi, Samsung, Vivo, and Oppo </a:t>
            </a:r>
            <a:r>
              <a:rPr lang="en-US" dirty="0"/>
              <a:t>dominating the majority share. In contrast, smaller brands contribute less than </a:t>
            </a:r>
            <a:r>
              <a:rPr lang="en-US" b="1" dirty="0"/>
              <a:t>10%, </a:t>
            </a:r>
            <a:r>
              <a:rPr lang="en-US" dirty="0"/>
              <a:t>indicating a top-heavy device ecosystem, which could influence app performance optimization and targeting strategies. </a:t>
            </a:r>
          </a:p>
          <a:p>
            <a:pPr>
              <a:buFont typeface="+mj-lt"/>
              <a:buAutoNum type="arabicPeriod"/>
            </a:pPr>
            <a:r>
              <a:rPr lang="en-US" dirty="0"/>
              <a:t>Fragmented State-Level Brand Competition Despite dominance at the national level, brand distribution across states is highly fragmented, with no single brand consistently exceeding </a:t>
            </a:r>
            <a:r>
              <a:rPr lang="en-US" b="1" dirty="0"/>
              <a:t>20–25%</a:t>
            </a:r>
            <a:r>
              <a:rPr lang="en-US" dirty="0"/>
              <a:t> market share. This reflects healthy competition and diverse consumer preferences across regions, suggesting opportunities for targeted regional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0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A2C47-0FA4-4F00-A7C3-7F283924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8249-163E-4395-BAE4-1A9A6FF7C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2365374"/>
            <a:ext cx="10572750" cy="439737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platform processed ~$121.41T total transaction value, with ~$93.25T (~77%) coming from top transactions, showing a high-value concentration ecosystem. </a:t>
            </a:r>
          </a:p>
          <a:p>
            <a:r>
              <a:rPr lang="en-IN" dirty="0"/>
              <a:t>Total transaction volume reached ~72 billion transactions, supported by ~5 billion+ users, indicating massive scale and adoption. </a:t>
            </a:r>
          </a:p>
          <a:p>
            <a:r>
              <a:rPr lang="en-IN" dirty="0"/>
              <a:t>Transaction value grew from ~$2T in 2018 to ~$65T+ in 2022 (30x growth), with the fastest acceleration between 2020–2022 (4x growth). </a:t>
            </a:r>
          </a:p>
          <a:p>
            <a:r>
              <a:rPr lang="en-IN" dirty="0"/>
              <a:t>Top transactions are growing faster than overall transactions (~330% vs ~275%), increasing the value gap from ~$2–3T to ~$20T+, indicating dominance of high-value transactions. </a:t>
            </a:r>
          </a:p>
          <a:p>
            <a:r>
              <a:rPr lang="en-IN" dirty="0"/>
              <a:t>Geographically, Maharashtra, Karnataka, and Telangana contribute the highest transaction volume, with districts like Bengaluru, Hyderabad, and Pune leading individually.</a:t>
            </a:r>
          </a:p>
          <a:p>
            <a:r>
              <a:rPr lang="en-IN" dirty="0"/>
              <a:t>In user distribution, Xiaomi, Samsung, Vivo, and Oppo dominate, while smaller brands contribute &lt;10% share, showing a top-heavy device ecosystem.</a:t>
            </a:r>
          </a:p>
          <a:p>
            <a:pPr marL="0" indent="0">
              <a:buNone/>
            </a:pPr>
            <a:r>
              <a:rPr lang="en-US" b="1" dirty="0"/>
              <a:t>Final Insight:</a:t>
            </a:r>
            <a:br>
              <a:rPr lang="en-US" dirty="0"/>
            </a:br>
            <a:r>
              <a:rPr lang="en-US" dirty="0"/>
              <a:t>The ecosystem is </a:t>
            </a:r>
            <a:r>
              <a:rPr lang="en-US" b="1" dirty="0"/>
              <a:t>hyper-scaled, highly concentrated, and driven by high-value transactions</a:t>
            </a:r>
            <a:r>
              <a:rPr lang="en-US" dirty="0"/>
              <a:t>, with strong dominance of </a:t>
            </a:r>
            <a:r>
              <a:rPr lang="en-US" b="1" dirty="0"/>
              <a:t>urban regions and top brands</a:t>
            </a:r>
            <a:r>
              <a:rPr lang="en-US" dirty="0"/>
              <a:t>, while still showing </a:t>
            </a:r>
            <a:r>
              <a:rPr lang="en-US" b="1" dirty="0"/>
              <a:t>growth potential in smaller states and lower-tier brands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350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C63DAD-9F9F-4F34-B890-F606DF87E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50AB74-981F-4E06-9766-898564C25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- Aditya Verma</a:t>
            </a:r>
          </a:p>
          <a:p>
            <a:pPr algn="r"/>
            <a:r>
              <a:rPr lang="en-US" dirty="0"/>
              <a:t>- Data Analyst at </a:t>
            </a:r>
            <a:r>
              <a:rPr lang="en-US" dirty="0" err="1"/>
              <a:t>Innovexis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5723F-9B73-40BC-88AA-4F131A54F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850" y="1498198"/>
            <a:ext cx="2417763" cy="24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029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434</TotalTime>
  <Words>1732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Phone Pe Data Analysis</vt:lpstr>
      <vt:lpstr>Introduction</vt:lpstr>
      <vt:lpstr>Agenda of the Meeting</vt:lpstr>
      <vt:lpstr>Home Page</vt:lpstr>
      <vt:lpstr>PowerPoint Presentation</vt:lpstr>
      <vt:lpstr>Time Series Analysis</vt:lpstr>
      <vt:lpstr>PowerPoint Presentation</vt:lpstr>
      <vt:lpstr>Mobile Brand Analysis</vt:lpstr>
      <vt:lpstr>PowerPoint Presentation</vt:lpstr>
      <vt:lpstr>Key Takeaways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 Pe -Data Analysis</dc:title>
  <dc:creator>Aditya Verma</dc:creator>
  <cp:lastModifiedBy>Aditya Verma</cp:lastModifiedBy>
  <cp:revision>9</cp:revision>
  <dcterms:created xsi:type="dcterms:W3CDTF">2026-03-25T15:12:06Z</dcterms:created>
  <dcterms:modified xsi:type="dcterms:W3CDTF">2026-03-25T22:33:10Z</dcterms:modified>
</cp:coreProperties>
</file>