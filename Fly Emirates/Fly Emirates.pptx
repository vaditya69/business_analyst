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62" r:id="rId3"/>
    <p:sldId id="263" r:id="rId4"/>
    <p:sldId id="257" r:id="rId5"/>
    <p:sldId id="258" r:id="rId6"/>
    <p:sldId id="259" r:id="rId7"/>
    <p:sldId id="260" r:id="rId8"/>
    <p:sldId id="261" r:id="rId9"/>
    <p:sldId id="267" r:id="rId10"/>
    <p:sldId id="268" r:id="rId11"/>
    <p:sldId id="269" r:id="rId12"/>
    <p:sldId id="270" r:id="rId13"/>
    <p:sldId id="271" r:id="rId14"/>
    <p:sldId id="265" r:id="rId15"/>
    <p:sldId id="264"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77969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762472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784111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962665-1937-40E5-8F68-831DD18AA67D}"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242323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962665-1937-40E5-8F68-831DD18AA67D}"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28988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962665-1937-40E5-8F68-831DD18AA67D}"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504958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962665-1937-40E5-8F68-831DD18AA67D}" type="datetimeFigureOut">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7478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62665-1937-40E5-8F68-831DD18AA67D}"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997547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62665-1937-40E5-8F68-831DD18AA67D}"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43037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962665-1937-40E5-8F68-831DD18AA67D}"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653856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572355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3446274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4037052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3895110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2889011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2592893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962665-1937-40E5-8F68-831DD18AA67D}"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CE6DA4-E4A1-4599-88B8-3176BC829133}" type="slidenum">
              <a:rPr lang="en-IN" smtClean="0"/>
              <a:t>‹#›</a:t>
            </a:fld>
            <a:endParaRPr lang="en-IN"/>
          </a:p>
        </p:txBody>
      </p:sp>
    </p:spTree>
    <p:extLst>
      <p:ext uri="{BB962C8B-B14F-4D97-AF65-F5344CB8AC3E}">
        <p14:creationId xmlns:p14="http://schemas.microsoft.com/office/powerpoint/2010/main" val="1975227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962665-1937-40E5-8F68-831DD18AA67D}" type="datetimeFigureOut">
              <a:rPr lang="en-IN" smtClean="0"/>
              <a:t>09-03-2026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CE6DA4-E4A1-4599-88B8-3176BC829133}" type="slidenum">
              <a:rPr lang="en-IN" smtClean="0"/>
              <a:t>‹#›</a:t>
            </a:fld>
            <a:endParaRPr lang="en-IN"/>
          </a:p>
        </p:txBody>
      </p:sp>
    </p:spTree>
    <p:extLst>
      <p:ext uri="{BB962C8B-B14F-4D97-AF65-F5344CB8AC3E}">
        <p14:creationId xmlns:p14="http://schemas.microsoft.com/office/powerpoint/2010/main" val="171206672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59C7-C1BC-458F-9E4C-22959CCD8E82}"/>
              </a:ext>
            </a:extLst>
          </p:cNvPr>
          <p:cNvSpPr>
            <a:spLocks noGrp="1"/>
          </p:cNvSpPr>
          <p:nvPr>
            <p:ph type="ctrTitle"/>
          </p:nvPr>
        </p:nvSpPr>
        <p:spPr/>
        <p:txBody>
          <a:bodyPr/>
          <a:lstStyle/>
          <a:p>
            <a:r>
              <a:rPr lang="en-US" dirty="0"/>
              <a:t>Fly Emirates Data Analysis</a:t>
            </a:r>
            <a:endParaRPr lang="en-IN" dirty="0"/>
          </a:p>
        </p:txBody>
      </p:sp>
      <p:sp>
        <p:nvSpPr>
          <p:cNvPr id="3" name="Subtitle 2">
            <a:extLst>
              <a:ext uri="{FF2B5EF4-FFF2-40B4-BE49-F238E27FC236}">
                <a16:creationId xmlns:a16="http://schemas.microsoft.com/office/drawing/2014/main" id="{6508F4EE-A36B-4C22-ABB9-122CFD39ED72}"/>
              </a:ext>
            </a:extLst>
          </p:cNvPr>
          <p:cNvSpPr>
            <a:spLocks noGrp="1"/>
          </p:cNvSpPr>
          <p:nvPr>
            <p:ph type="subTitle" idx="1"/>
          </p:nvPr>
        </p:nvSpPr>
        <p:spPr/>
        <p:txBody>
          <a:bodyPr/>
          <a:lstStyle/>
          <a:p>
            <a:pPr marL="342900" indent="-342900" algn="r">
              <a:buFontTx/>
              <a:buChar char="-"/>
            </a:pPr>
            <a:r>
              <a:rPr lang="en-US" dirty="0"/>
              <a:t>Aditya Verma</a:t>
            </a:r>
          </a:p>
          <a:p>
            <a:pPr marL="342900" indent="-342900" algn="r">
              <a:buFontTx/>
              <a:buChar char="-"/>
            </a:pPr>
            <a:r>
              <a:rPr lang="en-US" dirty="0"/>
              <a:t>Business/Data Analyst </a:t>
            </a:r>
            <a:r>
              <a:rPr lang="en-US" dirty="0" err="1"/>
              <a:t>Innovexis</a:t>
            </a:r>
            <a:endParaRPr lang="en-IN" dirty="0"/>
          </a:p>
        </p:txBody>
      </p:sp>
    </p:spTree>
    <p:extLst>
      <p:ext uri="{BB962C8B-B14F-4D97-AF65-F5344CB8AC3E}">
        <p14:creationId xmlns:p14="http://schemas.microsoft.com/office/powerpoint/2010/main" val="1158955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E552-D568-4161-8CD3-C48AEFCF58A7}"/>
              </a:ext>
            </a:extLst>
          </p:cNvPr>
          <p:cNvSpPr>
            <a:spLocks noGrp="1"/>
          </p:cNvSpPr>
          <p:nvPr>
            <p:ph type="title"/>
          </p:nvPr>
        </p:nvSpPr>
        <p:spPr>
          <a:xfrm>
            <a:off x="1113631" y="1"/>
            <a:ext cx="10198894" cy="800099"/>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357FCDB2-F100-42B4-8E67-C5C28AF1104C}"/>
              </a:ext>
            </a:extLst>
          </p:cNvPr>
          <p:cNvSpPr>
            <a:spLocks noGrp="1"/>
          </p:cNvSpPr>
          <p:nvPr>
            <p:ph idx="1"/>
          </p:nvPr>
        </p:nvSpPr>
        <p:spPr>
          <a:xfrm>
            <a:off x="1113631" y="800100"/>
            <a:ext cx="11054553" cy="5791200"/>
          </a:xfrm>
        </p:spPr>
        <p:txBody>
          <a:bodyPr>
            <a:noAutofit/>
          </a:bodyPr>
          <a:lstStyle/>
          <a:p>
            <a:pPr marL="0" indent="0">
              <a:lnSpc>
                <a:spcPct val="120000"/>
              </a:lnSpc>
              <a:spcBef>
                <a:spcPts val="100"/>
              </a:spcBef>
              <a:buNone/>
            </a:pPr>
            <a:r>
              <a:rPr lang="en-US" sz="2000" b="1" dirty="0"/>
              <a:t>1. </a:t>
            </a:r>
            <a:r>
              <a:rPr lang="en-US" sz="1500" b="1" dirty="0"/>
              <a:t>Company / Industry Overview: </a:t>
            </a:r>
            <a:r>
              <a:rPr lang="en-US" sz="1500" dirty="0"/>
              <a:t>The U.S. aviation industry is one of the largest transportation networks in the world, handling millions of passengers and flights each year. To maintain operational efficiency and improve passenger experience, airlines and airport authorities rely heavily on </a:t>
            </a:r>
            <a:r>
              <a:rPr lang="en-US" sz="1500" b="1" dirty="0"/>
              <a:t>data-driven analysis to monitor flight performance, delays, and cancellations</a:t>
            </a:r>
            <a:r>
              <a:rPr lang="en-US" sz="1500" dirty="0"/>
              <a:t>. This project focuses on analyzing aviation operational data to identify patterns in flight disruptions and evaluate airline and airport performance.</a:t>
            </a:r>
          </a:p>
          <a:p>
            <a:pPr marL="0" indent="0">
              <a:lnSpc>
                <a:spcPct val="120000"/>
              </a:lnSpc>
              <a:spcBef>
                <a:spcPts val="100"/>
              </a:spcBef>
              <a:buNone/>
            </a:pPr>
            <a:r>
              <a:rPr lang="en-US" sz="2000" b="1" dirty="0"/>
              <a:t>2. </a:t>
            </a:r>
            <a:r>
              <a:rPr lang="en-US" sz="1500" b="1" dirty="0"/>
              <a:t>Dataset Overview: </a:t>
            </a:r>
            <a:r>
              <a:rPr lang="en-US" sz="1500" dirty="0"/>
              <a:t>The analysis is based on a large historical dataset containing </a:t>
            </a:r>
            <a:r>
              <a:rPr lang="en-US" sz="1500" b="1" dirty="0"/>
              <a:t>over 15 million flight records</a:t>
            </a:r>
            <a:r>
              <a:rPr lang="en-US" sz="1500" dirty="0"/>
              <a:t> from U.S. airline operations. The dataset includes detailed information about </a:t>
            </a:r>
            <a:r>
              <a:rPr lang="en-US" sz="1500" b="1" dirty="0"/>
              <a:t>flight schedules, airlines, airports, delays, cancellations, and diversion events</a:t>
            </a:r>
            <a:r>
              <a:rPr lang="en-US" sz="1500" dirty="0"/>
              <a:t>, enabling a comprehensive evaluation of operational performance across the aviation network.</a:t>
            </a:r>
          </a:p>
          <a:p>
            <a:pPr marL="0" indent="0">
              <a:lnSpc>
                <a:spcPct val="120000"/>
              </a:lnSpc>
              <a:spcBef>
                <a:spcPts val="100"/>
              </a:spcBef>
              <a:buNone/>
            </a:pPr>
            <a:r>
              <a:rPr lang="en-US" sz="2000" b="1" dirty="0"/>
              <a:t>3. </a:t>
            </a:r>
            <a:r>
              <a:rPr lang="en-US" sz="1500" b="1" dirty="0"/>
              <a:t>Problem Statement: </a:t>
            </a:r>
            <a:r>
              <a:rPr lang="en-US" sz="1500" dirty="0"/>
              <a:t>Flight delays and cancellations remain a major challenge in the aviation industry, affecting passengers, airlines, and airport operations. This project aims to </a:t>
            </a:r>
            <a:r>
              <a:rPr lang="en-US" sz="1500" b="1" dirty="0"/>
              <a:t>identify the key drivers of delays and cancellations</a:t>
            </a:r>
            <a:r>
              <a:rPr lang="en-US" sz="1500" dirty="0"/>
              <a:t>, analyze operational performance across airlines and airports, and understand how temporal factors such as </a:t>
            </a:r>
            <a:r>
              <a:rPr lang="en-US" sz="1500" b="1" dirty="0"/>
              <a:t>month, day of week, and routes</a:t>
            </a:r>
            <a:r>
              <a:rPr lang="en-US" sz="1500" dirty="0"/>
              <a:t> influence flight disruptions.</a:t>
            </a:r>
          </a:p>
          <a:p>
            <a:pPr marL="0" indent="0">
              <a:lnSpc>
                <a:spcPct val="120000"/>
              </a:lnSpc>
              <a:spcBef>
                <a:spcPts val="100"/>
              </a:spcBef>
              <a:buNone/>
            </a:pPr>
            <a:r>
              <a:rPr lang="en-US" sz="2000" b="1" dirty="0"/>
              <a:t>4. </a:t>
            </a:r>
            <a:r>
              <a:rPr lang="en-US" sz="1500" b="1" dirty="0"/>
              <a:t>Business Objectives: </a:t>
            </a:r>
            <a:r>
              <a:rPr lang="en-US" sz="1500" dirty="0"/>
              <a:t>The primary objective of this project is to </a:t>
            </a:r>
            <a:r>
              <a:rPr lang="en-US" sz="1500" b="1" dirty="0"/>
              <a:t>analyze flight performance and disruption patterns</a:t>
            </a:r>
            <a:r>
              <a:rPr lang="en-US" sz="1500" dirty="0"/>
              <a:t> using data analytics. The study benchmarks airline performance, evaluates airport operational efficiency, and identifies the major factors contributing to delays and cancellations. These insights can help airlines and airport authorities </a:t>
            </a:r>
            <a:r>
              <a:rPr lang="en-US" sz="1500" b="1" dirty="0"/>
              <a:t>improve scheduling, reduce operational disruptions, and enhance overall passenger experience</a:t>
            </a:r>
            <a:r>
              <a:rPr lang="en-US" sz="1500" dirty="0"/>
              <a:t>.</a:t>
            </a:r>
          </a:p>
          <a:p>
            <a:pPr marL="0" indent="0">
              <a:lnSpc>
                <a:spcPct val="120000"/>
              </a:lnSpc>
              <a:spcBef>
                <a:spcPts val="100"/>
              </a:spcBef>
              <a:buNone/>
            </a:pPr>
            <a:r>
              <a:rPr lang="en-US" sz="2000" b="1" dirty="0"/>
              <a:t>5.</a:t>
            </a:r>
            <a:r>
              <a:rPr lang="en-US" sz="1500" b="1" dirty="0"/>
              <a:t> Expected Outcome: </a:t>
            </a:r>
            <a:r>
              <a:rPr lang="en-US" sz="1500" dirty="0"/>
              <a:t>By analyzing large-scale aviation data, the project provides </a:t>
            </a:r>
            <a:r>
              <a:rPr lang="en-US" sz="1500" b="1" dirty="0"/>
              <a:t>data-driven insights into operational inefficiencies, delay propagation, and disruption patterns</a:t>
            </a:r>
            <a:r>
              <a:rPr lang="en-US" sz="1500" dirty="0"/>
              <a:t>, helping stakeholders make informed decisions to improve airline reliability and airport performance.</a:t>
            </a:r>
          </a:p>
        </p:txBody>
      </p:sp>
    </p:spTree>
    <p:extLst>
      <p:ext uri="{BB962C8B-B14F-4D97-AF65-F5344CB8AC3E}">
        <p14:creationId xmlns:p14="http://schemas.microsoft.com/office/powerpoint/2010/main" val="273854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889C-880E-4659-91BF-CF6AA861DC9B}"/>
              </a:ext>
            </a:extLst>
          </p:cNvPr>
          <p:cNvSpPr>
            <a:spLocks noGrp="1"/>
          </p:cNvSpPr>
          <p:nvPr>
            <p:ph type="title"/>
          </p:nvPr>
        </p:nvSpPr>
        <p:spPr>
          <a:xfrm>
            <a:off x="1370011" y="1"/>
            <a:ext cx="10018713" cy="1066800"/>
          </a:xfrm>
        </p:spPr>
        <p:txBody>
          <a:bodyPr/>
          <a:lstStyle/>
          <a:p>
            <a:r>
              <a:rPr lang="en-US" dirty="0"/>
              <a:t>Agenda of the Meeting</a:t>
            </a:r>
            <a:endParaRPr lang="en-IN" dirty="0"/>
          </a:p>
        </p:txBody>
      </p:sp>
      <p:sp>
        <p:nvSpPr>
          <p:cNvPr id="4" name="Content Placeholder 3">
            <a:extLst>
              <a:ext uri="{FF2B5EF4-FFF2-40B4-BE49-F238E27FC236}">
                <a16:creationId xmlns:a16="http://schemas.microsoft.com/office/drawing/2014/main" id="{79086824-B146-4FB5-AB72-D4153ECDD6E8}"/>
              </a:ext>
            </a:extLst>
          </p:cNvPr>
          <p:cNvSpPr>
            <a:spLocks noGrp="1"/>
          </p:cNvSpPr>
          <p:nvPr>
            <p:ph idx="1"/>
          </p:nvPr>
        </p:nvSpPr>
        <p:spPr>
          <a:xfrm>
            <a:off x="1465262" y="1066801"/>
            <a:ext cx="10133012" cy="5505450"/>
          </a:xfrm>
        </p:spPr>
        <p:txBody>
          <a:bodyPr>
            <a:noAutofit/>
          </a:bodyPr>
          <a:lstStyle/>
          <a:p>
            <a:pPr marL="0" indent="0">
              <a:buNone/>
            </a:pPr>
            <a:r>
              <a:rPr lang="en-US" sz="1700" b="1" dirty="0"/>
              <a:t>1. Dataset and Methodology Overview</a:t>
            </a:r>
          </a:p>
          <a:p>
            <a:pPr marL="0" indent="0">
              <a:buNone/>
            </a:pPr>
            <a:r>
              <a:rPr lang="en-US" sz="1700" dirty="0"/>
              <a:t>Overview of the dataset structure, including flight, airline, and airport data, along with the </a:t>
            </a:r>
            <a:r>
              <a:rPr lang="en-US" sz="1700" b="1" dirty="0"/>
              <a:t>data preparation process using SQL</a:t>
            </a:r>
            <a:r>
              <a:rPr lang="en-US" sz="1700" dirty="0"/>
              <a:t>, data cleaning steps, and integration of multiple datasets to create a unified analytical dataset.</a:t>
            </a:r>
          </a:p>
          <a:p>
            <a:pPr marL="0" indent="0">
              <a:buNone/>
            </a:pPr>
            <a:r>
              <a:rPr lang="en-US" sz="1700" b="1" dirty="0"/>
              <a:t>2. Key Performance Indicators (KPIs)</a:t>
            </a:r>
          </a:p>
          <a:p>
            <a:pPr marL="0" indent="0">
              <a:buNone/>
            </a:pPr>
            <a:r>
              <a:rPr lang="en-US" sz="1700" dirty="0"/>
              <a:t>Discussion of the main metrics used to evaluate operational performance, including </a:t>
            </a:r>
            <a:r>
              <a:rPr lang="en-US" sz="1700" b="1" dirty="0"/>
              <a:t>total flights, average arrival and departure delays, cancellation rates, diversion counts, and delay distribution by type</a:t>
            </a:r>
            <a:r>
              <a:rPr lang="en-US" sz="1700" dirty="0"/>
              <a:t>.</a:t>
            </a:r>
          </a:p>
          <a:p>
            <a:pPr marL="0" indent="0">
              <a:buNone/>
            </a:pPr>
            <a:r>
              <a:rPr lang="en-US" sz="1700" b="1" dirty="0"/>
              <a:t>3. Key Insights and Findings</a:t>
            </a:r>
          </a:p>
          <a:p>
            <a:pPr marL="0" indent="0">
              <a:buNone/>
            </a:pPr>
            <a:r>
              <a:rPr lang="en-US" sz="1700" dirty="0"/>
              <a:t>Presentation of major insights identified through the analysis, including </a:t>
            </a:r>
            <a:r>
              <a:rPr lang="en-US" sz="1700" b="1" dirty="0"/>
              <a:t>primary causes of delays, cancellation patterns, airline performance differences, and congestion trends across major hub airports</a:t>
            </a:r>
            <a:r>
              <a:rPr lang="en-US" sz="1700" dirty="0"/>
              <a:t>.</a:t>
            </a:r>
          </a:p>
          <a:p>
            <a:pPr marL="0" indent="0">
              <a:buNone/>
            </a:pPr>
            <a:r>
              <a:rPr lang="en-US" sz="1700" b="1" dirty="0"/>
              <a:t>4. Recommendations</a:t>
            </a:r>
          </a:p>
          <a:p>
            <a:pPr marL="0" indent="0">
              <a:buNone/>
            </a:pPr>
            <a:r>
              <a:rPr lang="en-US" sz="1700" dirty="0"/>
              <a:t>Discussion of </a:t>
            </a:r>
            <a:r>
              <a:rPr lang="en-US" sz="1700" b="1" dirty="0"/>
              <a:t>data-driven recommendations</a:t>
            </a:r>
            <a:r>
              <a:rPr lang="en-US" sz="1700" dirty="0"/>
              <a:t> aimed at improving operational efficiency, reducing delays, and enhancing airline and airport performance.</a:t>
            </a:r>
          </a:p>
          <a:p>
            <a:pPr marL="0" indent="0">
              <a:buNone/>
            </a:pPr>
            <a:r>
              <a:rPr lang="en-US" sz="1700" b="1" dirty="0"/>
              <a:t>5. Conclusion and Discussion</a:t>
            </a:r>
          </a:p>
          <a:p>
            <a:pPr marL="0" indent="0">
              <a:buNone/>
            </a:pPr>
            <a:r>
              <a:rPr lang="en-US" sz="1700" dirty="0"/>
              <a:t>Summary of the key findings from the project and an open discussion for questions, feedback, and potential next steps for operational improvements.</a:t>
            </a:r>
          </a:p>
          <a:p>
            <a:pPr marL="0" indent="0">
              <a:buNone/>
            </a:pPr>
            <a:endParaRPr lang="en-IN" sz="1700" dirty="0"/>
          </a:p>
        </p:txBody>
      </p:sp>
    </p:spTree>
    <p:extLst>
      <p:ext uri="{BB962C8B-B14F-4D97-AF65-F5344CB8AC3E}">
        <p14:creationId xmlns:p14="http://schemas.microsoft.com/office/powerpoint/2010/main" val="3560624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29D01-462C-473F-813A-BD4267DB0393}"/>
              </a:ext>
            </a:extLst>
          </p:cNvPr>
          <p:cNvSpPr>
            <a:spLocks noGrp="1"/>
          </p:cNvSpPr>
          <p:nvPr>
            <p:ph type="title"/>
          </p:nvPr>
        </p:nvSpPr>
        <p:spPr>
          <a:xfrm>
            <a:off x="600075" y="0"/>
            <a:ext cx="10515600" cy="1325563"/>
          </a:xfrm>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3D80AF92-E318-4FFC-8A48-685262C50930}"/>
              </a:ext>
            </a:extLst>
          </p:cNvPr>
          <p:cNvSpPr>
            <a:spLocks noGrp="1"/>
          </p:cNvSpPr>
          <p:nvPr>
            <p:ph idx="1"/>
          </p:nvPr>
        </p:nvSpPr>
        <p:spPr>
          <a:xfrm>
            <a:off x="6219825" y="1444625"/>
            <a:ext cx="5124450" cy="4351338"/>
          </a:xfrm>
        </p:spPr>
        <p:txBody>
          <a:bodyPr>
            <a:noAutofit/>
          </a:bodyPr>
          <a:lstStyle/>
          <a:p>
            <a:pPr marL="0" indent="0" rtl="0">
              <a:lnSpc>
                <a:spcPts val="1800"/>
              </a:lnSpc>
              <a:spcBef>
                <a:spcPts val="100"/>
              </a:spcBef>
              <a:spcAft>
                <a:spcPts val="500"/>
              </a:spcAft>
              <a:buNone/>
            </a:pPr>
            <a:r>
              <a:rPr lang="en-US" sz="1700" b="1" i="0" u="none" strike="noStrike" dirty="0">
                <a:solidFill>
                  <a:srgbClr val="000000"/>
                </a:solidFill>
                <a:effectLst/>
                <a:latin typeface="Arial" panose="020B0604020202020204" pitchFamily="34" charset="0"/>
              </a:rPr>
              <a:t>Overview of Flight Operations</a:t>
            </a:r>
            <a:endParaRPr lang="en-US" sz="1700" b="1" dirty="0">
              <a:effectLst/>
            </a:endParaRPr>
          </a:p>
          <a:p>
            <a:pPr marL="0" indent="0" rtl="0">
              <a:lnSpc>
                <a:spcPts val="1800"/>
              </a:lnSpc>
              <a:spcBef>
                <a:spcPts val="100"/>
              </a:spcBef>
              <a:spcAft>
                <a:spcPts val="500"/>
              </a:spcAft>
              <a:buNone/>
            </a:pPr>
            <a:r>
              <a:rPr lang="en-US" sz="1700" b="0" i="0" u="none" strike="noStrike" dirty="0">
                <a:solidFill>
                  <a:srgbClr val="000000"/>
                </a:solidFill>
                <a:effectLst/>
                <a:latin typeface="Arial" panose="020B0604020202020204" pitchFamily="34" charset="0"/>
              </a:rPr>
              <a:t>The dashboard provides a high-level overview of airline operations in the United States. The dataset contains approximately </a:t>
            </a:r>
            <a:r>
              <a:rPr lang="en-US" sz="1700" b="1" i="0" u="none" strike="noStrike" dirty="0">
                <a:solidFill>
                  <a:srgbClr val="000000"/>
                </a:solidFill>
                <a:effectLst/>
                <a:latin typeface="Arial" panose="020B0604020202020204" pitchFamily="34" charset="0"/>
              </a:rPr>
              <a:t>6 million flights</a:t>
            </a:r>
            <a:r>
              <a:rPr lang="en-US" sz="1700" b="0" i="0" u="none" strike="noStrike" dirty="0">
                <a:solidFill>
                  <a:srgbClr val="000000"/>
                </a:solidFill>
                <a:effectLst/>
                <a:latin typeface="Arial" panose="020B0604020202020204" pitchFamily="34" charset="0"/>
              </a:rPr>
              <a:t>, out of which around </a:t>
            </a:r>
            <a:r>
              <a:rPr lang="en-US" sz="1700" b="1" i="0" u="none" strike="noStrike" dirty="0">
                <a:solidFill>
                  <a:srgbClr val="000000"/>
                </a:solidFill>
                <a:effectLst/>
                <a:latin typeface="Arial" panose="020B0604020202020204" pitchFamily="34" charset="0"/>
              </a:rPr>
              <a:t>90,000 flights were cancelled</a:t>
            </a:r>
            <a:r>
              <a:rPr lang="en-US" sz="1700" b="0" i="0" u="none" strike="noStrike" dirty="0">
                <a:solidFill>
                  <a:srgbClr val="000000"/>
                </a:solidFill>
                <a:effectLst/>
                <a:latin typeface="Arial" panose="020B0604020202020204" pitchFamily="34" charset="0"/>
              </a:rPr>
              <a:t>, representing about </a:t>
            </a:r>
            <a:r>
              <a:rPr lang="en-US" sz="1700" b="1" i="0" u="none" strike="noStrike" dirty="0">
                <a:solidFill>
                  <a:srgbClr val="000000"/>
                </a:solidFill>
                <a:effectLst/>
                <a:latin typeface="Arial" panose="020B0604020202020204" pitchFamily="34" charset="0"/>
              </a:rPr>
              <a:t>1.5% of total flights</a:t>
            </a:r>
            <a:r>
              <a:rPr lang="en-US" sz="1700" b="0" i="0" u="none" strike="noStrike" dirty="0">
                <a:solidFill>
                  <a:srgbClr val="000000"/>
                </a:solidFill>
                <a:effectLst/>
                <a:latin typeface="Arial" panose="020B0604020202020204" pitchFamily="34" charset="0"/>
              </a:rPr>
              <a:t>. In total, flights covered nearly </a:t>
            </a:r>
            <a:r>
              <a:rPr lang="en-US" sz="1700" b="1" i="0" u="none" strike="noStrike" dirty="0">
                <a:solidFill>
                  <a:srgbClr val="000000"/>
                </a:solidFill>
                <a:effectLst/>
                <a:latin typeface="Arial" panose="020B0604020202020204" pitchFamily="34" charset="0"/>
              </a:rPr>
              <a:t>5 billion miles of distance</a:t>
            </a:r>
            <a:r>
              <a:rPr lang="en-US" sz="1700" b="0" i="0" u="none" strike="noStrike" dirty="0">
                <a:solidFill>
                  <a:srgbClr val="000000"/>
                </a:solidFill>
                <a:effectLst/>
                <a:latin typeface="Arial" panose="020B0604020202020204" pitchFamily="34" charset="0"/>
              </a:rPr>
              <a:t> and accumulated approximately </a:t>
            </a:r>
            <a:r>
              <a:rPr lang="en-US" sz="1700" b="1" i="0" u="none" strike="noStrike" dirty="0">
                <a:solidFill>
                  <a:srgbClr val="000000"/>
                </a:solidFill>
                <a:effectLst/>
                <a:latin typeface="Arial" panose="020B0604020202020204" pitchFamily="34" charset="0"/>
              </a:rPr>
              <a:t>649 million minutes of air time</a:t>
            </a:r>
            <a:r>
              <a:rPr lang="en-US" sz="1700" b="0" i="0" u="none" strike="noStrike" dirty="0">
                <a:solidFill>
                  <a:srgbClr val="000000"/>
                </a:solidFill>
                <a:effectLst/>
                <a:latin typeface="Arial" panose="020B0604020202020204" pitchFamily="34" charset="0"/>
              </a:rPr>
              <a:t>, highlighting the large operational scale of the aviation network.</a:t>
            </a:r>
          </a:p>
          <a:p>
            <a:pPr marL="0" indent="0" rtl="0">
              <a:lnSpc>
                <a:spcPts val="1800"/>
              </a:lnSpc>
              <a:spcBef>
                <a:spcPts val="100"/>
              </a:spcBef>
              <a:spcAft>
                <a:spcPts val="500"/>
              </a:spcAft>
              <a:buNone/>
            </a:pPr>
            <a:r>
              <a:rPr lang="en-US" sz="1700" b="1" i="0" u="none" strike="noStrike" dirty="0">
                <a:solidFill>
                  <a:srgbClr val="000000"/>
                </a:solidFill>
                <a:effectLst/>
                <a:latin typeface="Arial" panose="020B0604020202020204" pitchFamily="34" charset="0"/>
              </a:rPr>
              <a:t>Departure Delay Analysis</a:t>
            </a:r>
            <a:endParaRPr lang="en-US" sz="1700" b="1" dirty="0">
              <a:effectLst/>
            </a:endParaRPr>
          </a:p>
          <a:p>
            <a:pPr marL="0" indent="0" rtl="0">
              <a:lnSpc>
                <a:spcPts val="1800"/>
              </a:lnSpc>
              <a:spcBef>
                <a:spcPts val="100"/>
              </a:spcBef>
              <a:spcAft>
                <a:spcPts val="500"/>
              </a:spcAft>
              <a:buNone/>
            </a:pPr>
            <a:r>
              <a:rPr lang="en-US" sz="1700" b="0" i="0" u="none" strike="noStrike" dirty="0">
                <a:solidFill>
                  <a:srgbClr val="000000"/>
                </a:solidFill>
                <a:effectLst/>
                <a:latin typeface="Arial" panose="020B0604020202020204" pitchFamily="34" charset="0"/>
              </a:rPr>
              <a:t>Departure delays are mainly driven by airline operational issues, which account for about </a:t>
            </a:r>
            <a:r>
              <a:rPr lang="en-US" sz="1700" b="1" i="0" u="none" strike="noStrike" dirty="0">
                <a:solidFill>
                  <a:srgbClr val="000000"/>
                </a:solidFill>
                <a:effectLst/>
                <a:latin typeface="Arial" panose="020B0604020202020204" pitchFamily="34" charset="0"/>
              </a:rPr>
              <a:t>46% of total departure delays (54 million minutes)</a:t>
            </a:r>
            <a:r>
              <a:rPr lang="en-US" sz="1700" b="0" i="0" u="none" strike="noStrike" dirty="0">
                <a:solidFill>
                  <a:srgbClr val="000000"/>
                </a:solidFill>
                <a:effectLst/>
                <a:latin typeface="Arial" panose="020B0604020202020204" pitchFamily="34" charset="0"/>
              </a:rPr>
              <a:t>. Other contributing factors include </a:t>
            </a:r>
            <a:r>
              <a:rPr lang="en-US" sz="1700" b="1" i="0" u="none" strike="noStrike" dirty="0">
                <a:solidFill>
                  <a:srgbClr val="000000"/>
                </a:solidFill>
                <a:effectLst/>
                <a:latin typeface="Arial" panose="020B0604020202020204" pitchFamily="34" charset="0"/>
              </a:rPr>
              <a:t>late aircraft delays (21%)</a:t>
            </a:r>
            <a:r>
              <a:rPr lang="en-US" sz="1700" b="0" i="0" u="none" strike="noStrike" dirty="0">
                <a:solidFill>
                  <a:srgbClr val="000000"/>
                </a:solidFill>
                <a:effectLst/>
                <a:latin typeface="Arial" panose="020B0604020202020204" pitchFamily="34" charset="0"/>
              </a:rPr>
              <a:t>, </a:t>
            </a:r>
            <a:r>
              <a:rPr lang="en-US" sz="1700" b="1" i="0" u="none" strike="noStrike" dirty="0">
                <a:solidFill>
                  <a:srgbClr val="000000"/>
                </a:solidFill>
                <a:effectLst/>
                <a:latin typeface="Arial" panose="020B0604020202020204" pitchFamily="34" charset="0"/>
              </a:rPr>
              <a:t>weather delays (17%)</a:t>
            </a:r>
            <a:r>
              <a:rPr lang="en-US" sz="1700" b="0" i="0" u="none" strike="noStrike" dirty="0">
                <a:solidFill>
                  <a:srgbClr val="000000"/>
                </a:solidFill>
                <a:effectLst/>
                <a:latin typeface="Arial" panose="020B0604020202020204" pitchFamily="34" charset="0"/>
              </a:rPr>
              <a:t>, </a:t>
            </a:r>
            <a:r>
              <a:rPr lang="en-US" sz="1700" b="1" i="0" u="none" strike="noStrike" dirty="0">
                <a:solidFill>
                  <a:srgbClr val="000000"/>
                </a:solidFill>
                <a:effectLst/>
                <a:latin typeface="Arial" panose="020B0604020202020204" pitchFamily="34" charset="0"/>
              </a:rPr>
              <a:t>air traffic system delays (12%)</a:t>
            </a:r>
            <a:r>
              <a:rPr lang="en-US" sz="1700" b="0" i="0" u="none" strike="noStrike" dirty="0">
                <a:solidFill>
                  <a:srgbClr val="000000"/>
                </a:solidFill>
                <a:effectLst/>
                <a:latin typeface="Arial" panose="020B0604020202020204" pitchFamily="34" charset="0"/>
              </a:rPr>
              <a:t>, and </a:t>
            </a:r>
            <a:r>
              <a:rPr lang="en-US" sz="1700" b="1" i="0" u="none" strike="noStrike" dirty="0">
                <a:solidFill>
                  <a:srgbClr val="000000"/>
                </a:solidFill>
                <a:effectLst/>
                <a:latin typeface="Arial" panose="020B0604020202020204" pitchFamily="34" charset="0"/>
              </a:rPr>
              <a:t>security delays (around 3%)</a:t>
            </a:r>
            <a:r>
              <a:rPr lang="en-US" sz="1700" b="0" i="0" u="none" strike="noStrike" dirty="0">
                <a:solidFill>
                  <a:srgbClr val="000000"/>
                </a:solidFill>
                <a:effectLst/>
                <a:latin typeface="Arial" panose="020B0604020202020204" pitchFamily="34" charset="0"/>
              </a:rPr>
              <a:t>, indicating that internal airline operations are the primary cause of delays</a:t>
            </a:r>
          </a:p>
        </p:txBody>
      </p:sp>
      <p:pic>
        <p:nvPicPr>
          <p:cNvPr id="19" name="Picture 18">
            <a:extLst>
              <a:ext uri="{FF2B5EF4-FFF2-40B4-BE49-F238E27FC236}">
                <a16:creationId xmlns:a16="http://schemas.microsoft.com/office/drawing/2014/main" id="{EB529E25-BE13-4AA7-ABF3-475A9E1F4320}"/>
              </a:ext>
            </a:extLst>
          </p:cNvPr>
          <p:cNvPicPr>
            <a:picLocks noChangeAspect="1"/>
          </p:cNvPicPr>
          <p:nvPr/>
        </p:nvPicPr>
        <p:blipFill>
          <a:blip r:embed="rId2"/>
          <a:stretch>
            <a:fillRect/>
          </a:stretch>
        </p:blipFill>
        <p:spPr>
          <a:xfrm>
            <a:off x="600075" y="1444625"/>
            <a:ext cx="5457826" cy="4922947"/>
          </a:xfrm>
          <a:prstGeom prst="rect">
            <a:avLst/>
          </a:prstGeom>
        </p:spPr>
      </p:pic>
    </p:spTree>
    <p:extLst>
      <p:ext uri="{BB962C8B-B14F-4D97-AF65-F5344CB8AC3E}">
        <p14:creationId xmlns:p14="http://schemas.microsoft.com/office/powerpoint/2010/main" val="253782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EBE3-487B-4FA0-8534-85C2451A9A02}"/>
              </a:ext>
            </a:extLst>
          </p:cNvPr>
          <p:cNvSpPr>
            <a:spLocks noGrp="1"/>
          </p:cNvSpPr>
          <p:nvPr>
            <p:ph type="title"/>
          </p:nvPr>
        </p:nvSpPr>
        <p:spPr>
          <a:xfrm>
            <a:off x="658924" y="0"/>
            <a:ext cx="10515600" cy="1325563"/>
          </a:xfrm>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98C5E10A-C751-4CD2-B7A2-28EEB79638F9}"/>
              </a:ext>
            </a:extLst>
          </p:cNvPr>
          <p:cNvSpPr>
            <a:spLocks noGrp="1"/>
          </p:cNvSpPr>
          <p:nvPr>
            <p:ph idx="1"/>
          </p:nvPr>
        </p:nvSpPr>
        <p:spPr>
          <a:xfrm>
            <a:off x="6600824" y="1825625"/>
            <a:ext cx="4752975" cy="4351338"/>
          </a:xfrm>
        </p:spPr>
        <p:txBody>
          <a:bodyPr>
            <a:normAutofit/>
          </a:bodyPr>
          <a:lstStyle/>
          <a:p>
            <a:pPr marL="0" indent="0" rtl="0">
              <a:lnSpc>
                <a:spcPts val="1800"/>
              </a:lnSpc>
              <a:spcBef>
                <a:spcPts val="100"/>
              </a:spcBef>
              <a:spcAft>
                <a:spcPts val="500"/>
              </a:spcAft>
              <a:buNone/>
            </a:pPr>
            <a:r>
              <a:rPr lang="en-US" sz="1700" b="1" i="0" u="none" strike="noStrike" dirty="0">
                <a:solidFill>
                  <a:srgbClr val="000000"/>
                </a:solidFill>
                <a:effectLst/>
                <a:latin typeface="Arial" panose="020B0604020202020204" pitchFamily="34" charset="0"/>
              </a:rPr>
              <a:t>Arrival Delay Analysis</a:t>
            </a:r>
            <a:endParaRPr lang="en-US" sz="1700" b="1" dirty="0">
              <a:effectLst/>
            </a:endParaRPr>
          </a:p>
          <a:p>
            <a:pPr marL="0" indent="0" rtl="0">
              <a:lnSpc>
                <a:spcPts val="1800"/>
              </a:lnSpc>
              <a:spcBef>
                <a:spcPts val="100"/>
              </a:spcBef>
              <a:spcAft>
                <a:spcPts val="500"/>
              </a:spcAft>
              <a:buNone/>
            </a:pPr>
            <a:r>
              <a:rPr lang="en-US" sz="1700" b="0" i="0" u="none" strike="noStrike" dirty="0">
                <a:solidFill>
                  <a:srgbClr val="000000"/>
                </a:solidFill>
                <a:effectLst/>
                <a:latin typeface="Arial" panose="020B0604020202020204" pitchFamily="34" charset="0"/>
              </a:rPr>
              <a:t>Arrival delays are largely influenced by </a:t>
            </a:r>
            <a:r>
              <a:rPr lang="en-US" sz="1700" b="1" i="0" u="none" strike="noStrike" dirty="0">
                <a:solidFill>
                  <a:srgbClr val="000000"/>
                </a:solidFill>
                <a:effectLst/>
                <a:latin typeface="Arial" panose="020B0604020202020204" pitchFamily="34" charset="0"/>
              </a:rPr>
              <a:t>late aircraft delays, contributing nearly 38% of total arrival delays</a:t>
            </a:r>
            <a:r>
              <a:rPr lang="en-US" sz="1700" b="0" i="0" u="none" strike="noStrike" dirty="0">
                <a:solidFill>
                  <a:srgbClr val="000000"/>
                </a:solidFill>
                <a:effectLst/>
                <a:latin typeface="Arial" panose="020B0604020202020204" pitchFamily="34" charset="0"/>
              </a:rPr>
              <a:t>. Airline delays and NAS delays each contribute around </a:t>
            </a:r>
            <a:r>
              <a:rPr lang="en-US" sz="1700" b="1" i="0" u="none" strike="noStrike" dirty="0">
                <a:solidFill>
                  <a:srgbClr val="000000"/>
                </a:solidFill>
                <a:effectLst/>
                <a:latin typeface="Arial" panose="020B0604020202020204" pitchFamily="34" charset="0"/>
              </a:rPr>
              <a:t>17–18%</a:t>
            </a:r>
            <a:r>
              <a:rPr lang="en-US" sz="1700" b="0" i="0" u="none" strike="noStrike" dirty="0">
                <a:solidFill>
                  <a:srgbClr val="000000"/>
                </a:solidFill>
                <a:effectLst/>
                <a:latin typeface="Arial" panose="020B0604020202020204" pitchFamily="34" charset="0"/>
              </a:rPr>
              <a:t>, followed by </a:t>
            </a:r>
            <a:r>
              <a:rPr lang="en-US" sz="1700" b="1" i="0" u="none" strike="noStrike" dirty="0">
                <a:solidFill>
                  <a:srgbClr val="000000"/>
                </a:solidFill>
                <a:effectLst/>
                <a:latin typeface="Arial" panose="020B0604020202020204" pitchFamily="34" charset="0"/>
              </a:rPr>
              <a:t>weather-related delays (14%)</a:t>
            </a:r>
            <a:r>
              <a:rPr lang="en-US" sz="1700" b="0" i="0" u="none" strike="noStrike" dirty="0">
                <a:solidFill>
                  <a:srgbClr val="000000"/>
                </a:solidFill>
                <a:effectLst/>
                <a:latin typeface="Arial" panose="020B0604020202020204" pitchFamily="34" charset="0"/>
              </a:rPr>
              <a:t> and </a:t>
            </a:r>
            <a:r>
              <a:rPr lang="en-US" sz="1700" b="1" i="0" u="none" strike="noStrike" dirty="0">
                <a:solidFill>
                  <a:srgbClr val="000000"/>
                </a:solidFill>
                <a:effectLst/>
                <a:latin typeface="Arial" panose="020B0604020202020204" pitchFamily="34" charset="0"/>
              </a:rPr>
              <a:t>security delays (10%)</a:t>
            </a:r>
            <a:r>
              <a:rPr lang="en-US" sz="1700" b="0" i="0" u="none" strike="noStrike" dirty="0">
                <a:solidFill>
                  <a:srgbClr val="000000"/>
                </a:solidFill>
                <a:effectLst/>
                <a:latin typeface="Arial" panose="020B0604020202020204" pitchFamily="34" charset="0"/>
              </a:rPr>
              <a:t>, showing how delays from earlier flights propagate through the schedule.</a:t>
            </a:r>
            <a:endParaRPr lang="en-US" sz="1700" b="0" dirty="0">
              <a:effectLst/>
            </a:endParaRPr>
          </a:p>
          <a:p>
            <a:pPr marL="0" indent="0" rtl="0">
              <a:lnSpc>
                <a:spcPts val="1800"/>
              </a:lnSpc>
              <a:spcBef>
                <a:spcPts val="100"/>
              </a:spcBef>
              <a:spcAft>
                <a:spcPts val="500"/>
              </a:spcAft>
              <a:buNone/>
            </a:pPr>
            <a:r>
              <a:rPr lang="en-US" sz="1700" b="1" i="0" u="none" strike="noStrike" dirty="0">
                <a:solidFill>
                  <a:srgbClr val="000000"/>
                </a:solidFill>
                <a:effectLst/>
                <a:latin typeface="Arial" panose="020B0604020202020204" pitchFamily="34" charset="0"/>
              </a:rPr>
              <a:t>Airport and Traffic Insights</a:t>
            </a:r>
            <a:endParaRPr lang="en-US" sz="1700" b="0" dirty="0">
              <a:effectLst/>
            </a:endParaRPr>
          </a:p>
          <a:p>
            <a:pPr marL="0" indent="0" rtl="0">
              <a:lnSpc>
                <a:spcPts val="1800"/>
              </a:lnSpc>
              <a:spcBef>
                <a:spcPts val="100"/>
              </a:spcBef>
              <a:spcAft>
                <a:spcPts val="500"/>
              </a:spcAft>
              <a:buNone/>
            </a:pPr>
            <a:r>
              <a:rPr lang="en-US" sz="1700" b="0" i="0" u="none" strike="noStrike" dirty="0">
                <a:solidFill>
                  <a:srgbClr val="000000"/>
                </a:solidFill>
                <a:effectLst/>
                <a:latin typeface="Arial" panose="020B0604020202020204" pitchFamily="34" charset="0"/>
              </a:rPr>
              <a:t>The dashboard highlights major aviation hubs such as </a:t>
            </a:r>
            <a:r>
              <a:rPr lang="en-US" sz="1700" b="1" i="0" u="none" strike="noStrike" dirty="0">
                <a:solidFill>
                  <a:srgbClr val="000000"/>
                </a:solidFill>
                <a:effectLst/>
                <a:latin typeface="Arial" panose="020B0604020202020204" pitchFamily="34" charset="0"/>
              </a:rPr>
              <a:t>ATL, ORD, DFW, DEN, and LAX</a:t>
            </a:r>
            <a:r>
              <a:rPr lang="en-US" sz="1700" b="0" i="0" u="none" strike="noStrike" dirty="0">
                <a:solidFill>
                  <a:srgbClr val="000000"/>
                </a:solidFill>
                <a:effectLst/>
                <a:latin typeface="Arial" panose="020B0604020202020204" pitchFamily="34" charset="0"/>
              </a:rPr>
              <a:t>, which handle the highest flight volumes. The geographic map further shows that flight activity is heavily concentrated across major U.S. travel corridors, reflecting the hub-and-spoke structure of airline networks.</a:t>
            </a:r>
            <a:endParaRPr lang="en-US" sz="1700" b="0" dirty="0">
              <a:effectLst/>
            </a:endParaRPr>
          </a:p>
        </p:txBody>
      </p:sp>
      <p:pic>
        <p:nvPicPr>
          <p:cNvPr id="5" name="Picture 4">
            <a:extLst>
              <a:ext uri="{FF2B5EF4-FFF2-40B4-BE49-F238E27FC236}">
                <a16:creationId xmlns:a16="http://schemas.microsoft.com/office/drawing/2014/main" id="{54C48008-DBF7-411D-A66E-7D9ECE387B7D}"/>
              </a:ext>
            </a:extLst>
          </p:cNvPr>
          <p:cNvPicPr>
            <a:picLocks noChangeAspect="1"/>
          </p:cNvPicPr>
          <p:nvPr/>
        </p:nvPicPr>
        <p:blipFill>
          <a:blip r:embed="rId2"/>
          <a:stretch>
            <a:fillRect/>
          </a:stretch>
        </p:blipFill>
        <p:spPr>
          <a:xfrm>
            <a:off x="658924" y="1435453"/>
            <a:ext cx="5437076" cy="2660297"/>
          </a:xfrm>
          <a:prstGeom prst="rect">
            <a:avLst/>
          </a:prstGeom>
        </p:spPr>
      </p:pic>
      <p:pic>
        <p:nvPicPr>
          <p:cNvPr id="7" name="Picture 6">
            <a:extLst>
              <a:ext uri="{FF2B5EF4-FFF2-40B4-BE49-F238E27FC236}">
                <a16:creationId xmlns:a16="http://schemas.microsoft.com/office/drawing/2014/main" id="{A6123B6F-0C63-43DE-856A-0F18A8A00077}"/>
              </a:ext>
            </a:extLst>
          </p:cNvPr>
          <p:cNvPicPr>
            <a:picLocks noChangeAspect="1"/>
          </p:cNvPicPr>
          <p:nvPr/>
        </p:nvPicPr>
        <p:blipFill>
          <a:blip r:embed="rId3"/>
          <a:stretch>
            <a:fillRect/>
          </a:stretch>
        </p:blipFill>
        <p:spPr>
          <a:xfrm>
            <a:off x="658925" y="4169128"/>
            <a:ext cx="5437076" cy="2588024"/>
          </a:xfrm>
          <a:prstGeom prst="rect">
            <a:avLst/>
          </a:prstGeom>
        </p:spPr>
      </p:pic>
    </p:spTree>
    <p:extLst>
      <p:ext uri="{BB962C8B-B14F-4D97-AF65-F5344CB8AC3E}">
        <p14:creationId xmlns:p14="http://schemas.microsoft.com/office/powerpoint/2010/main" val="27439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E0BD5-45F5-48B1-9958-BC170C07DAC1}"/>
              </a:ext>
            </a:extLst>
          </p:cNvPr>
          <p:cNvSpPr>
            <a:spLocks noGrp="1"/>
          </p:cNvSpPr>
          <p:nvPr>
            <p:ph type="title"/>
          </p:nvPr>
        </p:nvSpPr>
        <p:spPr>
          <a:xfrm>
            <a:off x="685800" y="0"/>
            <a:ext cx="10515600" cy="1325563"/>
          </a:xfrm>
        </p:spPr>
        <p:txBody>
          <a:bodyPr/>
          <a:lstStyle/>
          <a:p>
            <a:r>
              <a:rPr lang="en-US" dirty="0"/>
              <a:t>Delay Analysis</a:t>
            </a:r>
            <a:endParaRPr lang="en-IN" dirty="0"/>
          </a:p>
        </p:txBody>
      </p:sp>
      <p:sp>
        <p:nvSpPr>
          <p:cNvPr id="3" name="Content Placeholder 2">
            <a:extLst>
              <a:ext uri="{FF2B5EF4-FFF2-40B4-BE49-F238E27FC236}">
                <a16:creationId xmlns:a16="http://schemas.microsoft.com/office/drawing/2014/main" id="{AB06087E-9B38-47F1-AB73-89E6951DD460}"/>
              </a:ext>
            </a:extLst>
          </p:cNvPr>
          <p:cNvSpPr>
            <a:spLocks noGrp="1"/>
          </p:cNvSpPr>
          <p:nvPr>
            <p:ph idx="1"/>
          </p:nvPr>
        </p:nvSpPr>
        <p:spPr>
          <a:xfrm>
            <a:off x="6677025" y="1778000"/>
            <a:ext cx="5143500" cy="5080000"/>
          </a:xfrm>
        </p:spPr>
        <p:txBody>
          <a:bodyPr>
            <a:noAutofit/>
          </a:bodyPr>
          <a:lstStyle/>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Delay Performance Overview</a:t>
            </a:r>
            <a:endParaRPr lang="en-US" sz="1700" b="1"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This page focuses on analyzing flight delay performance across the dataset. The </a:t>
            </a:r>
            <a:r>
              <a:rPr lang="en-US" sz="1700" b="1" i="0" u="none" strike="noStrike" dirty="0">
                <a:solidFill>
                  <a:srgbClr val="000000"/>
                </a:solidFill>
                <a:effectLst/>
                <a:latin typeface="Arial" panose="020B0604020202020204" pitchFamily="34" charset="0"/>
              </a:rPr>
              <a:t>average arrival delay is approximately 4.41 minutes</a:t>
            </a:r>
            <a:r>
              <a:rPr lang="en-US" sz="1700" b="0" i="0" u="none" strike="noStrike" dirty="0">
                <a:solidFill>
                  <a:srgbClr val="000000"/>
                </a:solidFill>
                <a:effectLst/>
                <a:latin typeface="Arial" panose="020B0604020202020204" pitchFamily="34" charset="0"/>
              </a:rPr>
              <a:t>, while the </a:t>
            </a:r>
            <a:r>
              <a:rPr lang="en-US" sz="1700" b="1" i="0" u="none" strike="noStrike" dirty="0">
                <a:solidFill>
                  <a:srgbClr val="000000"/>
                </a:solidFill>
                <a:effectLst/>
                <a:latin typeface="Arial" panose="020B0604020202020204" pitchFamily="34" charset="0"/>
              </a:rPr>
              <a:t>average departure delay is higher at around 9.37 minutes</a:t>
            </a:r>
            <a:r>
              <a:rPr lang="en-US" sz="1700" b="0" i="0" u="none" strike="noStrike" dirty="0">
                <a:solidFill>
                  <a:srgbClr val="000000"/>
                </a:solidFill>
                <a:effectLst/>
                <a:latin typeface="Arial" panose="020B0604020202020204" pitchFamily="34" charset="0"/>
              </a:rPr>
              <a:t>, indicating that most delays occur before flights depart. Additionally, the dataset records about </a:t>
            </a:r>
            <a:r>
              <a:rPr lang="en-US" sz="1700" b="1" i="0" u="none" strike="noStrike" dirty="0">
                <a:solidFill>
                  <a:srgbClr val="000000"/>
                </a:solidFill>
                <a:effectLst/>
                <a:latin typeface="Arial" panose="020B0604020202020204" pitchFamily="34" charset="0"/>
              </a:rPr>
              <a:t>15,000 diverted flights</a:t>
            </a:r>
            <a:r>
              <a:rPr lang="en-US" sz="1700" b="0" i="0" u="none" strike="noStrike" dirty="0">
                <a:solidFill>
                  <a:srgbClr val="000000"/>
                </a:solidFill>
                <a:effectLst/>
                <a:latin typeface="Arial" panose="020B0604020202020204" pitchFamily="34" charset="0"/>
              </a:rPr>
              <a:t>, showing the operational impact of disruptions.</a:t>
            </a:r>
            <a:endParaRPr lang="en-US" sz="1700" b="0" dirty="0">
              <a:effectLst/>
            </a:endParaRPr>
          </a:p>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Delay Comparison Insight</a:t>
            </a:r>
            <a:endParaRPr lang="en-US" sz="1700" b="1"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The </a:t>
            </a:r>
            <a:r>
              <a:rPr lang="en-US" sz="1700" b="1" i="0" u="none" strike="noStrike" dirty="0">
                <a:solidFill>
                  <a:srgbClr val="000000"/>
                </a:solidFill>
                <a:effectLst/>
                <a:latin typeface="Arial" panose="020B0604020202020204" pitchFamily="34" charset="0"/>
              </a:rPr>
              <a:t>arrival-to-departure delay ratio is approximately 0.47</a:t>
            </a:r>
            <a:r>
              <a:rPr lang="en-US" sz="1700" b="0" i="0" u="none" strike="noStrike" dirty="0">
                <a:solidFill>
                  <a:srgbClr val="000000"/>
                </a:solidFill>
                <a:effectLst/>
                <a:latin typeface="Arial" panose="020B0604020202020204" pitchFamily="34" charset="0"/>
              </a:rPr>
              <a:t>, which suggests that airlines are able to recover nearly half of the departure delay during flight operations, likely through faster cruising speeds or schedule buffers.</a:t>
            </a:r>
            <a:endParaRPr lang="en-US" sz="1700" b="0" dirty="0">
              <a:effectLst/>
            </a:endParaRPr>
          </a:p>
        </p:txBody>
      </p:sp>
      <p:pic>
        <p:nvPicPr>
          <p:cNvPr id="5" name="Picture 4">
            <a:extLst>
              <a:ext uri="{FF2B5EF4-FFF2-40B4-BE49-F238E27FC236}">
                <a16:creationId xmlns:a16="http://schemas.microsoft.com/office/drawing/2014/main" id="{2B1D3CE7-0688-45B1-BC27-E49E02D3B480}"/>
              </a:ext>
            </a:extLst>
          </p:cNvPr>
          <p:cNvPicPr>
            <a:picLocks noChangeAspect="1"/>
          </p:cNvPicPr>
          <p:nvPr/>
        </p:nvPicPr>
        <p:blipFill>
          <a:blip r:embed="rId2"/>
          <a:stretch>
            <a:fillRect/>
          </a:stretch>
        </p:blipFill>
        <p:spPr>
          <a:xfrm>
            <a:off x="268333" y="4168574"/>
            <a:ext cx="6264183" cy="2324301"/>
          </a:xfrm>
          <a:prstGeom prst="rect">
            <a:avLst/>
          </a:prstGeom>
        </p:spPr>
      </p:pic>
      <p:pic>
        <p:nvPicPr>
          <p:cNvPr id="7" name="Picture 6">
            <a:extLst>
              <a:ext uri="{FF2B5EF4-FFF2-40B4-BE49-F238E27FC236}">
                <a16:creationId xmlns:a16="http://schemas.microsoft.com/office/drawing/2014/main" id="{54621CC7-6265-45E6-8AB1-99C15FDE1BE5}"/>
              </a:ext>
            </a:extLst>
          </p:cNvPr>
          <p:cNvPicPr>
            <a:picLocks noChangeAspect="1"/>
          </p:cNvPicPr>
          <p:nvPr/>
        </p:nvPicPr>
        <p:blipFill>
          <a:blip r:embed="rId3"/>
          <a:stretch>
            <a:fillRect/>
          </a:stretch>
        </p:blipFill>
        <p:spPr>
          <a:xfrm>
            <a:off x="3400424" y="1836066"/>
            <a:ext cx="3086367" cy="2187130"/>
          </a:xfrm>
          <a:prstGeom prst="rect">
            <a:avLst/>
          </a:prstGeom>
        </p:spPr>
      </p:pic>
      <p:pic>
        <p:nvPicPr>
          <p:cNvPr id="9" name="Picture 8">
            <a:extLst>
              <a:ext uri="{FF2B5EF4-FFF2-40B4-BE49-F238E27FC236}">
                <a16:creationId xmlns:a16="http://schemas.microsoft.com/office/drawing/2014/main" id="{EDEDF8DF-93DD-4961-9BD2-912E4025585C}"/>
              </a:ext>
            </a:extLst>
          </p:cNvPr>
          <p:cNvPicPr>
            <a:picLocks noChangeAspect="1"/>
          </p:cNvPicPr>
          <p:nvPr/>
        </p:nvPicPr>
        <p:blipFill>
          <a:blip r:embed="rId4"/>
          <a:stretch>
            <a:fillRect/>
          </a:stretch>
        </p:blipFill>
        <p:spPr>
          <a:xfrm>
            <a:off x="268333" y="1855118"/>
            <a:ext cx="2941857" cy="2149026"/>
          </a:xfrm>
          <a:prstGeom prst="rect">
            <a:avLst/>
          </a:prstGeom>
        </p:spPr>
      </p:pic>
    </p:spTree>
    <p:extLst>
      <p:ext uri="{BB962C8B-B14F-4D97-AF65-F5344CB8AC3E}">
        <p14:creationId xmlns:p14="http://schemas.microsoft.com/office/powerpoint/2010/main" val="1763936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64CB3-1600-427C-869D-8C24C64403FC}"/>
              </a:ext>
            </a:extLst>
          </p:cNvPr>
          <p:cNvSpPr>
            <a:spLocks noGrp="1"/>
          </p:cNvSpPr>
          <p:nvPr>
            <p:ph type="title"/>
          </p:nvPr>
        </p:nvSpPr>
        <p:spPr>
          <a:xfrm>
            <a:off x="702787" y="22225"/>
            <a:ext cx="10515600" cy="1325563"/>
          </a:xfrm>
        </p:spPr>
        <p:txBody>
          <a:bodyPr/>
          <a:lstStyle/>
          <a:p>
            <a:r>
              <a:rPr lang="en-US" dirty="0"/>
              <a:t>Delay Analysis</a:t>
            </a:r>
            <a:endParaRPr lang="en-IN" dirty="0"/>
          </a:p>
        </p:txBody>
      </p:sp>
      <p:sp>
        <p:nvSpPr>
          <p:cNvPr id="3" name="Content Placeholder 2">
            <a:extLst>
              <a:ext uri="{FF2B5EF4-FFF2-40B4-BE49-F238E27FC236}">
                <a16:creationId xmlns:a16="http://schemas.microsoft.com/office/drawing/2014/main" id="{AE64C236-3DBF-44E5-A815-EE5C7DC31D17}"/>
              </a:ext>
            </a:extLst>
          </p:cNvPr>
          <p:cNvSpPr>
            <a:spLocks noGrp="1"/>
          </p:cNvSpPr>
          <p:nvPr>
            <p:ph idx="1"/>
          </p:nvPr>
        </p:nvSpPr>
        <p:spPr>
          <a:xfrm>
            <a:off x="6096000" y="1758950"/>
            <a:ext cx="5886449" cy="5032375"/>
          </a:xfrm>
        </p:spPr>
        <p:txBody>
          <a:bodyPr>
            <a:noAutofit/>
          </a:bodyPr>
          <a:lstStyle/>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Delay Distribution</a:t>
            </a:r>
            <a:endParaRPr lang="en-US" sz="1700" b="1"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The delay breakdown charts show that around </a:t>
            </a:r>
            <a:r>
              <a:rPr lang="en-US" sz="1700" b="1" i="0" u="none" strike="noStrike" dirty="0">
                <a:solidFill>
                  <a:srgbClr val="000000"/>
                </a:solidFill>
                <a:effectLst/>
                <a:latin typeface="Arial" panose="020B0604020202020204" pitchFamily="34" charset="0"/>
              </a:rPr>
              <a:t>64% of flights depart and arrive on time or earlier</a:t>
            </a:r>
            <a:r>
              <a:rPr lang="en-US" sz="1700" b="0" i="0" u="none" strike="noStrike" dirty="0">
                <a:solidFill>
                  <a:srgbClr val="000000"/>
                </a:solidFill>
                <a:effectLst/>
                <a:latin typeface="Arial" panose="020B0604020202020204" pitchFamily="34" charset="0"/>
              </a:rPr>
              <a:t>, while roughly </a:t>
            </a:r>
            <a:r>
              <a:rPr lang="en-US" sz="1700" b="1" i="0" u="none" strike="noStrike" dirty="0">
                <a:solidFill>
                  <a:srgbClr val="000000"/>
                </a:solidFill>
                <a:effectLst/>
                <a:latin typeface="Arial" panose="020B0604020202020204" pitchFamily="34" charset="0"/>
              </a:rPr>
              <a:t>36% experience delays</a:t>
            </a:r>
            <a:r>
              <a:rPr lang="en-US" sz="1700" b="0" i="0" u="none" strike="noStrike" dirty="0">
                <a:solidFill>
                  <a:srgbClr val="000000"/>
                </a:solidFill>
                <a:effectLst/>
                <a:latin typeface="Arial" panose="020B0604020202020204" pitchFamily="34" charset="0"/>
              </a:rPr>
              <a:t>, highlighting that although delays exist, the majority of flights still operate within schedule.</a:t>
            </a:r>
            <a:endParaRPr lang="en-US" sz="1700" b="0" dirty="0">
              <a:effectLst/>
            </a:endParaRPr>
          </a:p>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Diversion and Geographic Insights</a:t>
            </a:r>
            <a:endParaRPr lang="en-US" sz="1700" b="1"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The dashboard also shows </a:t>
            </a:r>
            <a:r>
              <a:rPr lang="en-US" sz="1700" b="1" i="0" u="none" strike="noStrike" dirty="0">
                <a:solidFill>
                  <a:srgbClr val="000000"/>
                </a:solidFill>
                <a:effectLst/>
                <a:latin typeface="Arial" panose="020B0604020202020204" pitchFamily="34" charset="0"/>
              </a:rPr>
              <a:t>diverted flight trends across months</a:t>
            </a:r>
            <a:r>
              <a:rPr lang="en-US" sz="1700" b="0" i="0" u="none" strike="noStrike" dirty="0">
                <a:solidFill>
                  <a:srgbClr val="000000"/>
                </a:solidFill>
                <a:effectLst/>
                <a:latin typeface="Arial" panose="020B0604020202020204" pitchFamily="34" charset="0"/>
              </a:rPr>
              <a:t>, where diversions peak around </a:t>
            </a:r>
            <a:r>
              <a:rPr lang="en-US" sz="1700" b="1" i="0" u="none" strike="noStrike" dirty="0">
                <a:solidFill>
                  <a:srgbClr val="000000"/>
                </a:solidFill>
                <a:effectLst/>
                <a:latin typeface="Arial" panose="020B0604020202020204" pitchFamily="34" charset="0"/>
              </a:rPr>
              <a:t>mid-year months</a:t>
            </a:r>
            <a:r>
              <a:rPr lang="en-US" sz="1700" b="0" i="0" u="none" strike="noStrike" dirty="0">
                <a:solidFill>
                  <a:srgbClr val="000000"/>
                </a:solidFill>
                <a:effectLst/>
                <a:latin typeface="Arial" panose="020B0604020202020204" pitchFamily="34" charset="0"/>
              </a:rPr>
              <a:t> and decrease towards early fall. Additionally, the geographic map highlights </a:t>
            </a:r>
            <a:r>
              <a:rPr lang="en-US" sz="1700" b="1" i="0" u="none" strike="noStrike" dirty="0">
                <a:solidFill>
                  <a:srgbClr val="000000"/>
                </a:solidFill>
                <a:effectLst/>
                <a:latin typeface="Arial" panose="020B0604020202020204" pitchFamily="34" charset="0"/>
              </a:rPr>
              <a:t>concentrations of arrival delays across major U.S. aviation hubs</a:t>
            </a:r>
            <a:r>
              <a:rPr lang="en-US" sz="1700" b="0" i="0" u="none" strike="noStrike" dirty="0">
                <a:solidFill>
                  <a:srgbClr val="000000"/>
                </a:solidFill>
                <a:effectLst/>
                <a:latin typeface="Arial" panose="020B0604020202020204" pitchFamily="34" charset="0"/>
              </a:rPr>
              <a:t>, indicating that high-traffic airports are more prone to delays due to congestion and operational complexity.</a:t>
            </a:r>
            <a:endParaRPr lang="en-US" sz="1700" b="0" dirty="0">
              <a:effectLst/>
            </a:endParaRPr>
          </a:p>
        </p:txBody>
      </p:sp>
      <p:pic>
        <p:nvPicPr>
          <p:cNvPr id="5" name="Picture 4">
            <a:extLst>
              <a:ext uri="{FF2B5EF4-FFF2-40B4-BE49-F238E27FC236}">
                <a16:creationId xmlns:a16="http://schemas.microsoft.com/office/drawing/2014/main" id="{B8450045-9090-4D7E-A514-D06798CC3600}"/>
              </a:ext>
            </a:extLst>
          </p:cNvPr>
          <p:cNvPicPr>
            <a:picLocks noChangeAspect="1"/>
          </p:cNvPicPr>
          <p:nvPr/>
        </p:nvPicPr>
        <p:blipFill>
          <a:blip r:embed="rId2"/>
          <a:stretch>
            <a:fillRect/>
          </a:stretch>
        </p:blipFill>
        <p:spPr>
          <a:xfrm>
            <a:off x="702786" y="1549400"/>
            <a:ext cx="4078763" cy="2301439"/>
          </a:xfrm>
          <a:prstGeom prst="rect">
            <a:avLst/>
          </a:prstGeom>
        </p:spPr>
      </p:pic>
      <p:pic>
        <p:nvPicPr>
          <p:cNvPr id="7" name="Picture 6">
            <a:extLst>
              <a:ext uri="{FF2B5EF4-FFF2-40B4-BE49-F238E27FC236}">
                <a16:creationId xmlns:a16="http://schemas.microsoft.com/office/drawing/2014/main" id="{9A760F30-8AD5-4F26-A244-0ADF15D5EFE2}"/>
              </a:ext>
            </a:extLst>
          </p:cNvPr>
          <p:cNvPicPr>
            <a:picLocks noChangeAspect="1"/>
          </p:cNvPicPr>
          <p:nvPr/>
        </p:nvPicPr>
        <p:blipFill>
          <a:blip r:embed="rId3"/>
          <a:stretch>
            <a:fillRect/>
          </a:stretch>
        </p:blipFill>
        <p:spPr>
          <a:xfrm>
            <a:off x="702787" y="3893265"/>
            <a:ext cx="4888388" cy="2819400"/>
          </a:xfrm>
          <a:prstGeom prst="rect">
            <a:avLst/>
          </a:prstGeom>
        </p:spPr>
      </p:pic>
    </p:spTree>
    <p:extLst>
      <p:ext uri="{BB962C8B-B14F-4D97-AF65-F5344CB8AC3E}">
        <p14:creationId xmlns:p14="http://schemas.microsoft.com/office/powerpoint/2010/main" val="2424385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B6743-7581-48F8-9EE3-3D336187EE3A}"/>
              </a:ext>
            </a:extLst>
          </p:cNvPr>
          <p:cNvSpPr>
            <a:spLocks noGrp="1"/>
          </p:cNvSpPr>
          <p:nvPr>
            <p:ph type="title"/>
          </p:nvPr>
        </p:nvSpPr>
        <p:spPr>
          <a:xfrm>
            <a:off x="1303336" y="-36435"/>
            <a:ext cx="10018713" cy="921339"/>
          </a:xfrm>
        </p:spPr>
        <p:txBody>
          <a:bodyPr/>
          <a:lstStyle/>
          <a:p>
            <a:r>
              <a:rPr lang="en-US" dirty="0"/>
              <a:t>Cancellation Analysis</a:t>
            </a:r>
            <a:endParaRPr lang="en-IN" dirty="0"/>
          </a:p>
        </p:txBody>
      </p:sp>
      <p:pic>
        <p:nvPicPr>
          <p:cNvPr id="5" name="Content Placeholder 4">
            <a:extLst>
              <a:ext uri="{FF2B5EF4-FFF2-40B4-BE49-F238E27FC236}">
                <a16:creationId xmlns:a16="http://schemas.microsoft.com/office/drawing/2014/main" id="{54D905F1-5CA7-4D28-B34C-70794D6A362B}"/>
              </a:ext>
            </a:extLst>
          </p:cNvPr>
          <p:cNvPicPr>
            <a:picLocks noGrp="1" noChangeAspect="1"/>
          </p:cNvPicPr>
          <p:nvPr>
            <p:ph idx="1"/>
          </p:nvPr>
        </p:nvPicPr>
        <p:blipFill>
          <a:blip r:embed="rId2"/>
          <a:stretch>
            <a:fillRect/>
          </a:stretch>
        </p:blipFill>
        <p:spPr>
          <a:xfrm>
            <a:off x="960106" y="884904"/>
            <a:ext cx="3545219" cy="2872989"/>
          </a:xfrm>
        </p:spPr>
      </p:pic>
      <p:pic>
        <p:nvPicPr>
          <p:cNvPr id="7" name="Picture 6">
            <a:extLst>
              <a:ext uri="{FF2B5EF4-FFF2-40B4-BE49-F238E27FC236}">
                <a16:creationId xmlns:a16="http://schemas.microsoft.com/office/drawing/2014/main" id="{A10EAF79-0EE6-4E19-8808-3A18754FE522}"/>
              </a:ext>
            </a:extLst>
          </p:cNvPr>
          <p:cNvPicPr>
            <a:picLocks noChangeAspect="1"/>
          </p:cNvPicPr>
          <p:nvPr/>
        </p:nvPicPr>
        <p:blipFill>
          <a:blip r:embed="rId3"/>
          <a:stretch>
            <a:fillRect/>
          </a:stretch>
        </p:blipFill>
        <p:spPr>
          <a:xfrm>
            <a:off x="960106" y="3893697"/>
            <a:ext cx="4812044" cy="2804403"/>
          </a:xfrm>
          <a:prstGeom prst="rect">
            <a:avLst/>
          </a:prstGeom>
        </p:spPr>
      </p:pic>
      <p:sp>
        <p:nvSpPr>
          <p:cNvPr id="9" name="TextBox 8">
            <a:extLst>
              <a:ext uri="{FF2B5EF4-FFF2-40B4-BE49-F238E27FC236}">
                <a16:creationId xmlns:a16="http://schemas.microsoft.com/office/drawing/2014/main" id="{504B7DFD-195A-4D7A-8360-C7B9BBAF8B7B}"/>
              </a:ext>
            </a:extLst>
          </p:cNvPr>
          <p:cNvSpPr txBox="1"/>
          <p:nvPr/>
        </p:nvSpPr>
        <p:spPr>
          <a:xfrm>
            <a:off x="5905500" y="854404"/>
            <a:ext cx="6286500" cy="6078587"/>
          </a:xfrm>
          <a:prstGeom prst="rect">
            <a:avLst/>
          </a:prstGeom>
          <a:noFill/>
        </p:spPr>
        <p:txBody>
          <a:bodyPr wrap="square">
            <a:spAutoFit/>
          </a:bodyPr>
          <a:lstStyle/>
          <a:p>
            <a:pPr rtl="0">
              <a:spcBef>
                <a:spcPts val="100"/>
              </a:spcBef>
              <a:spcAft>
                <a:spcPts val="500"/>
              </a:spcAft>
            </a:pPr>
            <a:r>
              <a:rPr lang="en-US" sz="1700" b="1" i="0" u="none" strike="noStrike" dirty="0">
                <a:solidFill>
                  <a:srgbClr val="000000"/>
                </a:solidFill>
                <a:effectLst/>
              </a:rPr>
              <a:t>Overall Cancellation Overview</a:t>
            </a:r>
            <a:endParaRPr lang="en-US" sz="1700" b="1" dirty="0">
              <a:effectLst/>
            </a:endParaRPr>
          </a:p>
          <a:p>
            <a:pPr rtl="0">
              <a:spcBef>
                <a:spcPts val="100"/>
              </a:spcBef>
              <a:spcAft>
                <a:spcPts val="500"/>
              </a:spcAft>
            </a:pPr>
            <a:r>
              <a:rPr lang="en-US" sz="1700" b="0" i="0" u="none" strike="noStrike" dirty="0">
                <a:solidFill>
                  <a:srgbClr val="000000"/>
                </a:solidFill>
                <a:effectLst/>
              </a:rPr>
              <a:t>This page focuses on analyzing flight cancellations across the dataset. Out of approximately </a:t>
            </a:r>
            <a:r>
              <a:rPr lang="en-US" sz="1700" b="1" i="0" u="none" strike="noStrike" dirty="0">
                <a:solidFill>
                  <a:srgbClr val="000000"/>
                </a:solidFill>
                <a:effectLst/>
              </a:rPr>
              <a:t>6 million flights analyzed</a:t>
            </a:r>
            <a:r>
              <a:rPr lang="en-US" sz="1700" b="0" i="0" u="none" strike="noStrike" dirty="0">
                <a:solidFill>
                  <a:srgbClr val="000000"/>
                </a:solidFill>
                <a:effectLst/>
              </a:rPr>
              <a:t>, around </a:t>
            </a:r>
            <a:r>
              <a:rPr lang="en-US" sz="1700" b="1" i="0" u="none" strike="noStrike" dirty="0">
                <a:solidFill>
                  <a:srgbClr val="000000"/>
                </a:solidFill>
                <a:effectLst/>
              </a:rPr>
              <a:t>90,000 flights were cancelled</a:t>
            </a:r>
            <a:r>
              <a:rPr lang="en-US" sz="1700" b="0" i="0" u="none" strike="noStrike" dirty="0">
                <a:solidFill>
                  <a:srgbClr val="000000"/>
                </a:solidFill>
                <a:effectLst/>
              </a:rPr>
              <a:t>, representing roughly </a:t>
            </a:r>
            <a:r>
              <a:rPr lang="en-US" sz="1700" b="1" i="0" u="none" strike="noStrike" dirty="0">
                <a:solidFill>
                  <a:srgbClr val="000000"/>
                </a:solidFill>
                <a:effectLst/>
              </a:rPr>
              <a:t>1.5% of the total flight operations</a:t>
            </a:r>
            <a:r>
              <a:rPr lang="en-US" sz="1700" b="0" i="0" u="none" strike="noStrike" dirty="0">
                <a:solidFill>
                  <a:srgbClr val="000000"/>
                </a:solidFill>
                <a:effectLst/>
              </a:rPr>
              <a:t>. Although this percentage appears relatively small, cancellations can significantly impact airline schedules, passenger experience, and airport operations.</a:t>
            </a:r>
            <a:endParaRPr lang="en-US" sz="1700" b="0" dirty="0">
              <a:effectLst/>
            </a:endParaRPr>
          </a:p>
          <a:p>
            <a:pPr rtl="0">
              <a:spcBef>
                <a:spcPts val="100"/>
              </a:spcBef>
              <a:spcAft>
                <a:spcPts val="500"/>
              </a:spcAft>
            </a:pPr>
            <a:r>
              <a:rPr lang="en-US" sz="1700" b="1" i="0" u="none" strike="noStrike" dirty="0">
                <a:solidFill>
                  <a:srgbClr val="000000"/>
                </a:solidFill>
                <a:effectLst/>
              </a:rPr>
              <a:t>Cancellation Reasons Analysis</a:t>
            </a:r>
            <a:endParaRPr lang="en-US" sz="1700" b="1" dirty="0">
              <a:effectLst/>
            </a:endParaRPr>
          </a:p>
          <a:p>
            <a:pPr rtl="0">
              <a:spcBef>
                <a:spcPts val="100"/>
              </a:spcBef>
              <a:spcAft>
                <a:spcPts val="500"/>
              </a:spcAft>
            </a:pPr>
            <a:r>
              <a:rPr lang="en-US" sz="1700" b="0" i="0" u="none" strike="noStrike" dirty="0">
                <a:solidFill>
                  <a:srgbClr val="000000"/>
                </a:solidFill>
                <a:effectLst/>
              </a:rPr>
              <a:t>The dashboard highlights the primary causes of cancellations across the aviation network. </a:t>
            </a:r>
            <a:r>
              <a:rPr lang="en-US" sz="1700" b="1" i="0" u="none" strike="noStrike" dirty="0">
                <a:solidFill>
                  <a:srgbClr val="000000"/>
                </a:solidFill>
                <a:effectLst/>
              </a:rPr>
              <a:t>Carrier-related operational issues account for the largest share of cancellations, with approximately 49,000 cancelled flights</a:t>
            </a:r>
            <a:r>
              <a:rPr lang="en-US" sz="1700" b="0" i="0" u="none" strike="noStrike" dirty="0">
                <a:solidFill>
                  <a:srgbClr val="000000"/>
                </a:solidFill>
                <a:effectLst/>
              </a:rPr>
              <a:t>, indicating that airline operational challenges such as crew availability, aircraft maintenance, or scheduling conflicts are the most significant contributors. </a:t>
            </a:r>
            <a:r>
              <a:rPr lang="en-US" sz="1700" b="1" i="0" u="none" strike="noStrike" dirty="0">
                <a:solidFill>
                  <a:srgbClr val="000000"/>
                </a:solidFill>
                <a:effectLst/>
              </a:rPr>
              <a:t>Weather-related disruptions account for around 25,000 cancellations</a:t>
            </a:r>
            <a:r>
              <a:rPr lang="en-US" sz="1700" b="0" i="0" u="none" strike="noStrike" dirty="0">
                <a:solidFill>
                  <a:srgbClr val="000000"/>
                </a:solidFill>
                <a:effectLst/>
              </a:rPr>
              <a:t>, demonstrating the impact of severe weather conditions on flight schedules. Additionally, </a:t>
            </a:r>
            <a:r>
              <a:rPr lang="en-US" sz="1700" b="1" i="0" u="none" strike="noStrike" dirty="0">
                <a:solidFill>
                  <a:srgbClr val="000000"/>
                </a:solidFill>
                <a:effectLst/>
              </a:rPr>
              <a:t>air traffic system (NAS) issues contribute approximately 16,000 cancellations</a:t>
            </a:r>
            <a:r>
              <a:rPr lang="en-US" sz="1700" b="0" i="0" u="none" strike="noStrike" dirty="0">
                <a:solidFill>
                  <a:srgbClr val="000000"/>
                </a:solidFill>
                <a:effectLst/>
              </a:rPr>
              <a:t>, reflecting delays caused by congestion or operational constraints in the national airspace system. Security-related cancellations are minimal compared to the other causes.</a:t>
            </a:r>
            <a:br>
              <a:rPr lang="en-US" sz="1700" b="0" dirty="0">
                <a:effectLst/>
              </a:rPr>
            </a:br>
            <a:endParaRPr lang="en-IN" sz="1700" dirty="0"/>
          </a:p>
        </p:txBody>
      </p:sp>
    </p:spTree>
    <p:extLst>
      <p:ext uri="{BB962C8B-B14F-4D97-AF65-F5344CB8AC3E}">
        <p14:creationId xmlns:p14="http://schemas.microsoft.com/office/powerpoint/2010/main" val="106293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B6743-7581-48F8-9EE3-3D336187EE3A}"/>
              </a:ext>
            </a:extLst>
          </p:cNvPr>
          <p:cNvSpPr>
            <a:spLocks noGrp="1"/>
          </p:cNvSpPr>
          <p:nvPr>
            <p:ph type="title"/>
          </p:nvPr>
        </p:nvSpPr>
        <p:spPr>
          <a:xfrm>
            <a:off x="1322386" y="0"/>
            <a:ext cx="10018713" cy="904875"/>
          </a:xfrm>
        </p:spPr>
        <p:txBody>
          <a:bodyPr/>
          <a:lstStyle/>
          <a:p>
            <a:r>
              <a:rPr lang="en-US" dirty="0"/>
              <a:t>Cancellation Analysis</a:t>
            </a:r>
            <a:endParaRPr lang="en-IN" dirty="0"/>
          </a:p>
        </p:txBody>
      </p:sp>
      <p:sp>
        <p:nvSpPr>
          <p:cNvPr id="5" name="TextBox 4">
            <a:extLst>
              <a:ext uri="{FF2B5EF4-FFF2-40B4-BE49-F238E27FC236}">
                <a16:creationId xmlns:a16="http://schemas.microsoft.com/office/drawing/2014/main" id="{BF6911B9-23E4-4DBD-9033-4DF37FBB3C81}"/>
              </a:ext>
            </a:extLst>
          </p:cNvPr>
          <p:cNvSpPr txBox="1"/>
          <p:nvPr/>
        </p:nvSpPr>
        <p:spPr>
          <a:xfrm>
            <a:off x="5429250" y="790575"/>
            <a:ext cx="6562724" cy="6081152"/>
          </a:xfrm>
          <a:prstGeom prst="rect">
            <a:avLst/>
          </a:prstGeom>
          <a:noFill/>
        </p:spPr>
        <p:txBody>
          <a:bodyPr wrap="square">
            <a:spAutoFit/>
          </a:bodyPr>
          <a:lstStyle/>
          <a:p>
            <a:pPr marL="0" indent="0" rtl="0">
              <a:spcBef>
                <a:spcPts val="100"/>
              </a:spcBef>
              <a:spcAft>
                <a:spcPts val="500"/>
              </a:spcAft>
              <a:buNone/>
            </a:pPr>
            <a:r>
              <a:rPr lang="en-US" sz="1500" b="1" i="0" u="none" strike="noStrike" dirty="0">
                <a:solidFill>
                  <a:srgbClr val="000000"/>
                </a:solidFill>
                <a:effectLst/>
              </a:rPr>
              <a:t>Cancellation Trends by Time</a:t>
            </a:r>
            <a:endParaRPr lang="en-US" sz="1500" b="1" dirty="0">
              <a:effectLst/>
            </a:endParaRPr>
          </a:p>
          <a:p>
            <a:pPr marL="0" indent="0" rtl="0">
              <a:spcBef>
                <a:spcPts val="100"/>
              </a:spcBef>
              <a:spcAft>
                <a:spcPts val="500"/>
              </a:spcAft>
              <a:buNone/>
            </a:pPr>
            <a:r>
              <a:rPr lang="en-US" sz="1500" b="0" i="0" u="none" strike="noStrike" dirty="0">
                <a:solidFill>
                  <a:srgbClr val="000000"/>
                </a:solidFill>
                <a:effectLst/>
              </a:rPr>
              <a:t>The dashboard also analyzes how cancellations vary across time. When observing cancellations by </a:t>
            </a:r>
            <a:r>
              <a:rPr lang="en-US" sz="1500" b="1" i="0" u="none" strike="noStrike" dirty="0">
                <a:solidFill>
                  <a:srgbClr val="000000"/>
                </a:solidFill>
                <a:effectLst/>
              </a:rPr>
              <a:t>day of the week</a:t>
            </a:r>
            <a:r>
              <a:rPr lang="en-US" sz="1500" b="0" i="0" u="none" strike="noStrike" dirty="0">
                <a:solidFill>
                  <a:srgbClr val="000000"/>
                </a:solidFill>
                <a:effectLst/>
              </a:rPr>
              <a:t>, the data indicates that some days experience higher cancellation volumes than others, which may be influenced by operational scheduling patterns or travel demand fluctuations. The </a:t>
            </a:r>
            <a:r>
              <a:rPr lang="en-US" sz="1500" b="1" i="0" u="none" strike="noStrike" dirty="0">
                <a:solidFill>
                  <a:srgbClr val="000000"/>
                </a:solidFill>
                <a:effectLst/>
              </a:rPr>
              <a:t>monthly cancellation trend</a:t>
            </a:r>
            <a:r>
              <a:rPr lang="en-US" sz="1500" b="0" i="0" u="none" strike="noStrike" dirty="0">
                <a:solidFill>
                  <a:srgbClr val="000000"/>
                </a:solidFill>
                <a:effectLst/>
              </a:rPr>
              <a:t> shows a significant peak during </a:t>
            </a:r>
            <a:r>
              <a:rPr lang="en-US" sz="1500" b="1" i="0" u="none" strike="noStrike" dirty="0">
                <a:solidFill>
                  <a:srgbClr val="000000"/>
                </a:solidFill>
                <a:effectLst/>
              </a:rPr>
              <a:t>February</a:t>
            </a:r>
            <a:r>
              <a:rPr lang="en-US" sz="1500" b="0" i="0" u="none" strike="noStrike" dirty="0">
                <a:solidFill>
                  <a:srgbClr val="000000"/>
                </a:solidFill>
                <a:effectLst/>
              </a:rPr>
              <a:t>, with cancellations exceeding </a:t>
            </a:r>
            <a:r>
              <a:rPr lang="en-US" sz="1500" b="1" i="0" u="none" strike="noStrike" dirty="0">
                <a:solidFill>
                  <a:srgbClr val="000000"/>
                </a:solidFill>
                <a:effectLst/>
              </a:rPr>
              <a:t>20,000 flights</a:t>
            </a:r>
            <a:r>
              <a:rPr lang="en-US" sz="1500" b="0" i="0" u="none" strike="noStrike" dirty="0">
                <a:solidFill>
                  <a:srgbClr val="000000"/>
                </a:solidFill>
                <a:effectLst/>
              </a:rPr>
              <a:t>, which is likely associated with severe winter weather conditions that disrupt airline operations.</a:t>
            </a:r>
            <a:endParaRPr lang="en-US" sz="1500" b="0" dirty="0">
              <a:effectLst/>
            </a:endParaRPr>
          </a:p>
          <a:p>
            <a:pPr marL="0" indent="0" rtl="0">
              <a:spcBef>
                <a:spcPts val="100"/>
              </a:spcBef>
              <a:spcAft>
                <a:spcPts val="500"/>
              </a:spcAft>
              <a:buNone/>
            </a:pPr>
            <a:r>
              <a:rPr lang="en-US" sz="1500" b="1" i="0" u="none" strike="noStrike" dirty="0">
                <a:solidFill>
                  <a:srgbClr val="000000"/>
                </a:solidFill>
                <a:effectLst/>
              </a:rPr>
              <a:t>Airline-Level Cancellation Patterns</a:t>
            </a:r>
            <a:endParaRPr lang="en-US" sz="1500" b="1" dirty="0">
              <a:effectLst/>
            </a:endParaRPr>
          </a:p>
          <a:p>
            <a:pPr marL="0" indent="0" rtl="0">
              <a:spcBef>
                <a:spcPts val="100"/>
              </a:spcBef>
              <a:spcAft>
                <a:spcPts val="500"/>
              </a:spcAft>
              <a:buNone/>
            </a:pPr>
            <a:r>
              <a:rPr lang="en-US" sz="1500" b="0" i="0" u="none" strike="noStrike" dirty="0">
                <a:solidFill>
                  <a:srgbClr val="000000"/>
                </a:solidFill>
                <a:effectLst/>
              </a:rPr>
              <a:t>From an airline perspective, certain carriers experience higher cancellation counts compared to others. Airlines such as </a:t>
            </a:r>
            <a:r>
              <a:rPr lang="en-US" sz="1500" b="1" i="0" u="none" strike="noStrike" dirty="0">
                <a:solidFill>
                  <a:srgbClr val="000000"/>
                </a:solidFill>
                <a:effectLst/>
              </a:rPr>
              <a:t>WN (Southwest Airlines), EV (ExpressJet Airlines), and MQ (Envoy Air)</a:t>
            </a:r>
            <a:r>
              <a:rPr lang="en-US" sz="1500" b="0" i="0" u="none" strike="noStrike" dirty="0">
                <a:solidFill>
                  <a:srgbClr val="000000"/>
                </a:solidFill>
                <a:effectLst/>
              </a:rPr>
              <a:t> report the highest number of cancellations. This pattern may be influenced by the size of their operations, as airlines with higher flight volumes naturally experience a greater number of disruptions.</a:t>
            </a:r>
            <a:endParaRPr lang="en-US" sz="1500" b="0" dirty="0">
              <a:effectLst/>
            </a:endParaRPr>
          </a:p>
          <a:p>
            <a:pPr marL="0" indent="0" rtl="0">
              <a:spcBef>
                <a:spcPts val="100"/>
              </a:spcBef>
              <a:spcAft>
                <a:spcPts val="500"/>
              </a:spcAft>
              <a:buNone/>
            </a:pPr>
            <a:r>
              <a:rPr lang="en-US" sz="1500" b="1" i="0" u="none" strike="noStrike" dirty="0">
                <a:solidFill>
                  <a:srgbClr val="000000"/>
                </a:solidFill>
                <a:effectLst/>
              </a:rPr>
              <a:t>Geographic Distribution of Cancellations</a:t>
            </a:r>
            <a:endParaRPr lang="en-US" sz="1500" b="1" dirty="0">
              <a:effectLst/>
            </a:endParaRPr>
          </a:p>
          <a:p>
            <a:pPr marL="0" indent="0" rtl="0">
              <a:spcBef>
                <a:spcPts val="100"/>
              </a:spcBef>
              <a:spcAft>
                <a:spcPts val="500"/>
              </a:spcAft>
              <a:buNone/>
            </a:pPr>
            <a:r>
              <a:rPr lang="en-US" sz="1500" b="0" i="0" u="none" strike="noStrike" dirty="0">
                <a:solidFill>
                  <a:srgbClr val="000000"/>
                </a:solidFill>
                <a:effectLst/>
              </a:rPr>
              <a:t>The geographic visualization highlights how cancellations are distributed across U.S. states. States such as </a:t>
            </a:r>
            <a:r>
              <a:rPr lang="en-US" sz="1500" b="1" i="0" u="none" strike="noStrike" dirty="0">
                <a:solidFill>
                  <a:srgbClr val="000000"/>
                </a:solidFill>
                <a:effectLst/>
              </a:rPr>
              <a:t>Texas, Illinois, and California</a:t>
            </a:r>
            <a:r>
              <a:rPr lang="en-US" sz="1500" b="0" i="0" u="none" strike="noStrike" dirty="0">
                <a:solidFill>
                  <a:srgbClr val="000000"/>
                </a:solidFill>
                <a:effectLst/>
              </a:rPr>
              <a:t> exhibit the highest cancellation counts. These states host several major aviation hubs, including </a:t>
            </a:r>
            <a:r>
              <a:rPr lang="en-US" sz="1500" b="1" i="0" u="none" strike="noStrike" dirty="0">
                <a:solidFill>
                  <a:srgbClr val="000000"/>
                </a:solidFill>
                <a:effectLst/>
              </a:rPr>
              <a:t>Dallas/Fort Worth International Airport, Chicago O’Hare International Airport, and Los Angeles International Airport</a:t>
            </a:r>
            <a:r>
              <a:rPr lang="en-US" sz="1500" b="0" i="0" u="none" strike="noStrike" dirty="0">
                <a:solidFill>
                  <a:srgbClr val="000000"/>
                </a:solidFill>
                <a:effectLst/>
              </a:rPr>
              <a:t>, which handle a large share of national flight traffic. As a result, higher traffic volumes in these regions increase the likelihood of cancellations during operational disruptions.</a:t>
            </a:r>
            <a:endParaRPr lang="en-US" sz="1500" b="0" dirty="0">
              <a:effectLst/>
            </a:endParaRPr>
          </a:p>
          <a:p>
            <a:pPr marL="0" indent="0">
              <a:buNone/>
            </a:pPr>
            <a:endParaRPr lang="en-IN" sz="1500" dirty="0"/>
          </a:p>
        </p:txBody>
      </p:sp>
      <p:pic>
        <p:nvPicPr>
          <p:cNvPr id="7" name="Picture 6">
            <a:extLst>
              <a:ext uri="{FF2B5EF4-FFF2-40B4-BE49-F238E27FC236}">
                <a16:creationId xmlns:a16="http://schemas.microsoft.com/office/drawing/2014/main" id="{D7D4A7F0-88EA-44A3-A1AF-D3A534382403}"/>
              </a:ext>
            </a:extLst>
          </p:cNvPr>
          <p:cNvPicPr>
            <a:picLocks noChangeAspect="1"/>
          </p:cNvPicPr>
          <p:nvPr/>
        </p:nvPicPr>
        <p:blipFill>
          <a:blip r:embed="rId2"/>
          <a:stretch>
            <a:fillRect/>
          </a:stretch>
        </p:blipFill>
        <p:spPr>
          <a:xfrm>
            <a:off x="382694" y="990600"/>
            <a:ext cx="4892464" cy="2438400"/>
          </a:xfrm>
          <a:prstGeom prst="rect">
            <a:avLst/>
          </a:prstGeom>
        </p:spPr>
      </p:pic>
      <p:pic>
        <p:nvPicPr>
          <p:cNvPr id="9" name="Picture 8">
            <a:extLst>
              <a:ext uri="{FF2B5EF4-FFF2-40B4-BE49-F238E27FC236}">
                <a16:creationId xmlns:a16="http://schemas.microsoft.com/office/drawing/2014/main" id="{63AACD83-0DEC-4DE2-A040-68E430CA5036}"/>
              </a:ext>
            </a:extLst>
          </p:cNvPr>
          <p:cNvPicPr>
            <a:picLocks noChangeAspect="1"/>
          </p:cNvPicPr>
          <p:nvPr/>
        </p:nvPicPr>
        <p:blipFill>
          <a:blip r:embed="rId3"/>
          <a:stretch>
            <a:fillRect/>
          </a:stretch>
        </p:blipFill>
        <p:spPr>
          <a:xfrm>
            <a:off x="384374" y="3621285"/>
            <a:ext cx="4890784" cy="3084315"/>
          </a:xfrm>
          <a:prstGeom prst="rect">
            <a:avLst/>
          </a:prstGeom>
        </p:spPr>
      </p:pic>
    </p:spTree>
    <p:extLst>
      <p:ext uri="{BB962C8B-B14F-4D97-AF65-F5344CB8AC3E}">
        <p14:creationId xmlns:p14="http://schemas.microsoft.com/office/powerpoint/2010/main" val="427108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3DE31-DBA1-49F4-9AD6-60BB0AA0E0A5}"/>
              </a:ext>
            </a:extLst>
          </p:cNvPr>
          <p:cNvSpPr>
            <a:spLocks noGrp="1"/>
          </p:cNvSpPr>
          <p:nvPr>
            <p:ph type="title"/>
          </p:nvPr>
        </p:nvSpPr>
        <p:spPr>
          <a:xfrm>
            <a:off x="1379536" y="1"/>
            <a:ext cx="10018713" cy="857250"/>
          </a:xfrm>
        </p:spPr>
        <p:txBody>
          <a:bodyPr/>
          <a:lstStyle/>
          <a:p>
            <a:r>
              <a:rPr lang="en-US" dirty="0"/>
              <a:t>Cancellation and Delay Analysis</a:t>
            </a:r>
            <a:endParaRPr lang="en-IN" dirty="0"/>
          </a:p>
        </p:txBody>
      </p:sp>
      <p:sp>
        <p:nvSpPr>
          <p:cNvPr id="3" name="Content Placeholder 2">
            <a:extLst>
              <a:ext uri="{FF2B5EF4-FFF2-40B4-BE49-F238E27FC236}">
                <a16:creationId xmlns:a16="http://schemas.microsoft.com/office/drawing/2014/main" id="{B485F122-9936-4F87-86BF-44B99831161D}"/>
              </a:ext>
            </a:extLst>
          </p:cNvPr>
          <p:cNvSpPr>
            <a:spLocks noGrp="1"/>
          </p:cNvSpPr>
          <p:nvPr>
            <p:ph idx="1"/>
          </p:nvPr>
        </p:nvSpPr>
        <p:spPr>
          <a:xfrm>
            <a:off x="4343400" y="857251"/>
            <a:ext cx="7762875" cy="5838824"/>
          </a:xfrm>
        </p:spPr>
        <p:txBody>
          <a:bodyPr>
            <a:normAutofit fontScale="92500" lnSpcReduction="20000"/>
          </a:bodyPr>
          <a:lstStyle/>
          <a:p>
            <a:pPr marL="0" indent="0">
              <a:lnSpc>
                <a:spcPct val="110000"/>
              </a:lnSpc>
              <a:spcBef>
                <a:spcPts val="100"/>
              </a:spcBef>
              <a:spcAft>
                <a:spcPts val="500"/>
              </a:spcAft>
              <a:buNone/>
            </a:pPr>
            <a:r>
              <a:rPr lang="en-US" sz="1700" b="1" i="0" u="none" strike="noStrike" dirty="0">
                <a:solidFill>
                  <a:srgbClr val="000000"/>
                </a:solidFill>
                <a:effectLst/>
                <a:latin typeface="Arial" panose="020B0604020202020204" pitchFamily="34" charset="0"/>
              </a:rPr>
              <a:t>Airport Disruption Overview</a:t>
            </a:r>
            <a:endParaRPr lang="en-US" sz="1700" b="1" dirty="0">
              <a:effectLst/>
            </a:endParaRPr>
          </a:p>
          <a:p>
            <a:pPr marL="0" indent="0">
              <a:lnSpc>
                <a:spcPct val="110000"/>
              </a:lnSpc>
              <a:spcBef>
                <a:spcPts val="100"/>
              </a:spcBef>
              <a:spcAft>
                <a:spcPts val="500"/>
              </a:spcAft>
              <a:buNone/>
            </a:pPr>
            <a:r>
              <a:rPr lang="en-US" sz="1700" b="0" i="0" u="none" strike="noStrike" dirty="0">
                <a:solidFill>
                  <a:srgbClr val="000000"/>
                </a:solidFill>
                <a:effectLst/>
                <a:latin typeface="Arial" panose="020B0604020202020204" pitchFamily="34" charset="0"/>
              </a:rPr>
              <a:t>This page focuses on analyzing how </a:t>
            </a:r>
            <a:r>
              <a:rPr lang="en-US" sz="1700" b="1" i="0" u="none" strike="noStrike" dirty="0">
                <a:solidFill>
                  <a:srgbClr val="000000"/>
                </a:solidFill>
                <a:effectLst/>
                <a:latin typeface="Arial" panose="020B0604020202020204" pitchFamily="34" charset="0"/>
              </a:rPr>
              <a:t>flight disruptions vary across different airports</a:t>
            </a:r>
            <a:r>
              <a:rPr lang="en-US" sz="1700" b="0" i="0" u="none" strike="noStrike" dirty="0">
                <a:solidFill>
                  <a:srgbClr val="000000"/>
                </a:solidFill>
                <a:effectLst/>
                <a:latin typeface="Arial" panose="020B0604020202020204" pitchFamily="34" charset="0"/>
              </a:rPr>
              <a:t>. The dataset shows approximately </a:t>
            </a:r>
            <a:r>
              <a:rPr lang="en-US" sz="1700" b="1" i="0" u="none" strike="noStrike" dirty="0">
                <a:solidFill>
                  <a:srgbClr val="000000"/>
                </a:solidFill>
                <a:effectLst/>
                <a:latin typeface="Arial" panose="020B0604020202020204" pitchFamily="34" charset="0"/>
              </a:rPr>
              <a:t>90,000 cancelled flights</a:t>
            </a:r>
            <a:r>
              <a:rPr lang="en-US" sz="1700" b="0" i="0" u="none" strike="noStrike" dirty="0">
                <a:solidFill>
                  <a:srgbClr val="000000"/>
                </a:solidFill>
                <a:effectLst/>
                <a:latin typeface="Arial" panose="020B0604020202020204" pitchFamily="34" charset="0"/>
              </a:rPr>
              <a:t>, </a:t>
            </a:r>
            <a:r>
              <a:rPr lang="en-US" sz="1700" b="1" i="0" u="none" strike="noStrike" dirty="0">
                <a:solidFill>
                  <a:srgbClr val="000000"/>
                </a:solidFill>
                <a:effectLst/>
                <a:latin typeface="Arial" panose="020B0604020202020204" pitchFamily="34" charset="0"/>
              </a:rPr>
              <a:t>15,000 diverted flights</a:t>
            </a:r>
            <a:r>
              <a:rPr lang="en-US" sz="1700" b="0" i="0" u="none" strike="noStrike" dirty="0">
                <a:solidFill>
                  <a:srgbClr val="000000"/>
                </a:solidFill>
                <a:effectLst/>
                <a:latin typeface="Arial" panose="020B0604020202020204" pitchFamily="34" charset="0"/>
              </a:rPr>
              <a:t>, and nearly </a:t>
            </a:r>
            <a:r>
              <a:rPr lang="en-US" sz="1700" b="1" i="0" u="none" strike="noStrike" dirty="0">
                <a:solidFill>
                  <a:srgbClr val="000000"/>
                </a:solidFill>
                <a:effectLst/>
                <a:latin typeface="Arial" panose="020B0604020202020204" pitchFamily="34" charset="0"/>
              </a:rPr>
              <a:t>81,000 minutes of security-related delays</a:t>
            </a:r>
            <a:r>
              <a:rPr lang="en-US" sz="1700" b="0" i="0" u="none" strike="noStrike" dirty="0">
                <a:solidFill>
                  <a:srgbClr val="000000"/>
                </a:solidFill>
                <a:effectLst/>
                <a:latin typeface="Arial" panose="020B0604020202020204" pitchFamily="34" charset="0"/>
              </a:rPr>
              <a:t>. These metrics highlight the operational challenges faced by major airports and the impact of disruptions on flight schedules.</a:t>
            </a:r>
          </a:p>
          <a:p>
            <a:pPr marL="0" indent="0">
              <a:lnSpc>
                <a:spcPct val="110000"/>
              </a:lnSpc>
              <a:spcBef>
                <a:spcPts val="100"/>
              </a:spcBef>
              <a:spcAft>
                <a:spcPts val="500"/>
              </a:spcAft>
              <a:buNone/>
            </a:pPr>
            <a:r>
              <a:rPr lang="en-US" sz="1700" b="1" i="0" u="none" strike="noStrike" dirty="0">
                <a:solidFill>
                  <a:srgbClr val="000000"/>
                </a:solidFill>
                <a:effectLst/>
                <a:latin typeface="Arial" panose="020B0604020202020204" pitchFamily="34" charset="0"/>
              </a:rPr>
              <a:t>Diversions by Airport</a:t>
            </a:r>
            <a:endParaRPr lang="en-US" sz="1700" b="1" dirty="0">
              <a:effectLst/>
            </a:endParaRPr>
          </a:p>
          <a:p>
            <a:pPr marL="0" indent="0">
              <a:lnSpc>
                <a:spcPct val="110000"/>
              </a:lnSpc>
              <a:spcBef>
                <a:spcPts val="100"/>
              </a:spcBef>
              <a:spcAft>
                <a:spcPts val="500"/>
              </a:spcAft>
              <a:buNone/>
            </a:pPr>
            <a:r>
              <a:rPr lang="en-US" sz="1700" b="0" i="0" u="none" strike="noStrike" dirty="0">
                <a:solidFill>
                  <a:srgbClr val="000000"/>
                </a:solidFill>
                <a:effectLst/>
                <a:latin typeface="Arial" panose="020B0604020202020204" pitchFamily="34" charset="0"/>
              </a:rPr>
              <a:t>The analysis of </a:t>
            </a:r>
            <a:r>
              <a:rPr lang="en-US" sz="1700" b="1" i="0" u="none" strike="noStrike" dirty="0">
                <a:solidFill>
                  <a:srgbClr val="000000"/>
                </a:solidFill>
                <a:effectLst/>
                <a:latin typeface="Arial" panose="020B0604020202020204" pitchFamily="34" charset="0"/>
              </a:rPr>
              <a:t>diverted flights by airport</a:t>
            </a:r>
            <a:r>
              <a:rPr lang="en-US" sz="1700" b="0" i="0" u="none" strike="noStrike" dirty="0">
                <a:solidFill>
                  <a:srgbClr val="000000"/>
                </a:solidFill>
                <a:effectLst/>
                <a:latin typeface="Arial" panose="020B0604020202020204" pitchFamily="34" charset="0"/>
              </a:rPr>
              <a:t> shows that major hub airports experience the highest number of diversions. Airports such as </a:t>
            </a:r>
            <a:r>
              <a:rPr lang="en-US" sz="1700" b="1" i="0" u="none" strike="noStrike" dirty="0">
                <a:solidFill>
                  <a:srgbClr val="000000"/>
                </a:solidFill>
                <a:effectLst/>
                <a:latin typeface="Arial" panose="020B0604020202020204" pitchFamily="34" charset="0"/>
              </a:rPr>
              <a:t>Hartsfield–Jackson Atlanta International Airport (ATL)</a:t>
            </a:r>
            <a:r>
              <a:rPr lang="en-US" sz="1700" b="0" i="0" u="none" strike="noStrike" dirty="0">
                <a:solidFill>
                  <a:srgbClr val="000000"/>
                </a:solidFill>
                <a:effectLst/>
                <a:latin typeface="Arial" panose="020B0604020202020204" pitchFamily="34" charset="0"/>
              </a:rPr>
              <a:t> and </a:t>
            </a:r>
            <a:r>
              <a:rPr lang="en-US" sz="1700" b="1" i="0" u="none" strike="noStrike" dirty="0">
                <a:solidFill>
                  <a:srgbClr val="000000"/>
                </a:solidFill>
                <a:effectLst/>
                <a:latin typeface="Arial" panose="020B0604020202020204" pitchFamily="34" charset="0"/>
              </a:rPr>
              <a:t>Dallas/Fort Worth International Airport (DFW)</a:t>
            </a:r>
            <a:r>
              <a:rPr lang="en-US" sz="1700" b="0" i="0" u="none" strike="noStrike" dirty="0">
                <a:solidFill>
                  <a:srgbClr val="000000"/>
                </a:solidFill>
                <a:effectLst/>
                <a:latin typeface="Arial" panose="020B0604020202020204" pitchFamily="34" charset="0"/>
              </a:rPr>
              <a:t> record the highest diversion counts, exceeding </a:t>
            </a:r>
            <a:r>
              <a:rPr lang="en-US" sz="1700" b="1" i="0" u="none" strike="noStrike" dirty="0">
                <a:solidFill>
                  <a:srgbClr val="000000"/>
                </a:solidFill>
                <a:effectLst/>
                <a:latin typeface="Arial" panose="020B0604020202020204" pitchFamily="34" charset="0"/>
              </a:rPr>
              <a:t>1,000 diverted flights</a:t>
            </a:r>
            <a:r>
              <a:rPr lang="en-US" sz="1700" b="0" i="0" u="none" strike="noStrike" dirty="0">
                <a:solidFill>
                  <a:srgbClr val="000000"/>
                </a:solidFill>
                <a:effectLst/>
                <a:latin typeface="Arial" panose="020B0604020202020204" pitchFamily="34" charset="0"/>
              </a:rPr>
              <a:t>. Other busy airports like </a:t>
            </a:r>
            <a:r>
              <a:rPr lang="en-US" sz="1700" b="1" i="0" u="none" strike="noStrike" dirty="0">
                <a:solidFill>
                  <a:srgbClr val="000000"/>
                </a:solidFill>
                <a:effectLst/>
                <a:latin typeface="Arial" panose="020B0604020202020204" pitchFamily="34" charset="0"/>
              </a:rPr>
              <a:t>Chicago O’Hare (ORD), Denver International Airport (DEN), and George Bush Intercontinental Airport (IAH)</a:t>
            </a:r>
            <a:r>
              <a:rPr lang="en-US" sz="1700" b="0" i="0" u="none" strike="noStrike" dirty="0">
                <a:solidFill>
                  <a:srgbClr val="000000"/>
                </a:solidFill>
                <a:effectLst/>
                <a:latin typeface="Arial" panose="020B0604020202020204" pitchFamily="34" charset="0"/>
              </a:rPr>
              <a:t> also show notable diversion volumes. This trend indicates that </a:t>
            </a:r>
            <a:r>
              <a:rPr lang="en-US" sz="1700" b="1" i="0" u="none" strike="noStrike" dirty="0">
                <a:solidFill>
                  <a:srgbClr val="000000"/>
                </a:solidFill>
                <a:effectLst/>
                <a:latin typeface="Arial" panose="020B0604020202020204" pitchFamily="34" charset="0"/>
              </a:rPr>
              <a:t>high-traffic airports are more susceptible to diversions due to congestion, weather disruptions, and operational complexity</a:t>
            </a:r>
            <a:r>
              <a:rPr lang="en-US" sz="1700" b="0" i="0" u="none" strike="noStrike" dirty="0">
                <a:solidFill>
                  <a:srgbClr val="000000"/>
                </a:solidFill>
                <a:effectLst/>
                <a:latin typeface="Arial" panose="020B0604020202020204" pitchFamily="34" charset="0"/>
              </a:rPr>
              <a:t>.</a:t>
            </a:r>
          </a:p>
          <a:p>
            <a:pPr marL="0" indent="0" rtl="0">
              <a:lnSpc>
                <a:spcPct val="110000"/>
              </a:lnSpc>
              <a:spcBef>
                <a:spcPts val="100"/>
              </a:spcBef>
              <a:spcAft>
                <a:spcPts val="500"/>
              </a:spcAft>
              <a:buNone/>
            </a:pPr>
            <a:r>
              <a:rPr lang="en-US" sz="1800" b="1" i="0" u="none" strike="noStrike" dirty="0">
                <a:solidFill>
                  <a:srgbClr val="000000"/>
                </a:solidFill>
                <a:effectLst/>
                <a:latin typeface="Arial" panose="020B0604020202020204" pitchFamily="34" charset="0"/>
              </a:rPr>
              <a:t>Distance-Based Disruption Analysis</a:t>
            </a:r>
            <a:endParaRPr lang="en-US" sz="1400" b="1" dirty="0">
              <a:effectLst/>
            </a:endParaRPr>
          </a:p>
          <a:p>
            <a:pPr marL="0" indent="0">
              <a:lnSpc>
                <a:spcPct val="110000"/>
              </a:lnSpc>
              <a:spcBef>
                <a:spcPts val="100"/>
              </a:spcBef>
              <a:spcAft>
                <a:spcPts val="500"/>
              </a:spcAft>
              <a:buNone/>
            </a:pPr>
            <a:r>
              <a:rPr lang="en-US" sz="1800" b="0" i="0" u="none" strike="noStrike" dirty="0">
                <a:solidFill>
                  <a:srgbClr val="000000"/>
                </a:solidFill>
                <a:effectLst/>
                <a:latin typeface="Arial" panose="020B0604020202020204" pitchFamily="34" charset="0"/>
              </a:rPr>
              <a:t>The grouped analysis chart compares </a:t>
            </a:r>
            <a:r>
              <a:rPr lang="en-US" sz="1800" b="1" i="0" u="none" strike="noStrike" dirty="0">
                <a:solidFill>
                  <a:srgbClr val="000000"/>
                </a:solidFill>
                <a:effectLst/>
                <a:latin typeface="Arial" panose="020B0604020202020204" pitchFamily="34" charset="0"/>
              </a:rPr>
              <a:t>cancellations and diversions across different flight distance ranges</a:t>
            </a:r>
            <a:r>
              <a:rPr lang="en-US" sz="1800" b="0" i="0" u="none" strike="noStrike" dirty="0">
                <a:solidFill>
                  <a:srgbClr val="000000"/>
                </a:solidFill>
                <a:effectLst/>
                <a:latin typeface="Arial" panose="020B0604020202020204" pitchFamily="34" charset="0"/>
              </a:rPr>
              <a:t>. The visualization suggests that </a:t>
            </a:r>
            <a:r>
              <a:rPr lang="en-US" sz="1800" b="1" i="0" u="none" strike="noStrike" dirty="0">
                <a:solidFill>
                  <a:srgbClr val="000000"/>
                </a:solidFill>
                <a:effectLst/>
                <a:latin typeface="Arial" panose="020B0604020202020204" pitchFamily="34" charset="0"/>
              </a:rPr>
              <a:t>short to medium-distance flights experience higher disruption counts</a:t>
            </a:r>
            <a:r>
              <a:rPr lang="en-US" sz="1800" b="0" i="0" u="none" strike="noStrike" dirty="0">
                <a:solidFill>
                  <a:srgbClr val="000000"/>
                </a:solidFill>
                <a:effectLst/>
                <a:latin typeface="Arial" panose="020B0604020202020204" pitchFamily="34" charset="0"/>
              </a:rPr>
              <a:t>, while long-distance flights show relatively fewer cancellations and diversions. This pattern may be influenced by the higher frequency of short-haul flights within airline schedules.</a:t>
            </a:r>
            <a:endParaRPr lang="en-US" sz="1700" b="0" dirty="0">
              <a:effectLst/>
            </a:endParaRPr>
          </a:p>
        </p:txBody>
      </p:sp>
      <p:pic>
        <p:nvPicPr>
          <p:cNvPr id="8" name="Picture 7">
            <a:extLst>
              <a:ext uri="{FF2B5EF4-FFF2-40B4-BE49-F238E27FC236}">
                <a16:creationId xmlns:a16="http://schemas.microsoft.com/office/drawing/2014/main" id="{3968A070-E642-45CE-9E42-028778B7729C}"/>
              </a:ext>
            </a:extLst>
          </p:cNvPr>
          <p:cNvPicPr>
            <a:picLocks noChangeAspect="1"/>
          </p:cNvPicPr>
          <p:nvPr/>
        </p:nvPicPr>
        <p:blipFill>
          <a:blip r:embed="rId2"/>
          <a:stretch>
            <a:fillRect/>
          </a:stretch>
        </p:blipFill>
        <p:spPr>
          <a:xfrm>
            <a:off x="85725" y="1062890"/>
            <a:ext cx="4160881" cy="2293819"/>
          </a:xfrm>
          <a:prstGeom prst="rect">
            <a:avLst/>
          </a:prstGeom>
        </p:spPr>
      </p:pic>
      <p:pic>
        <p:nvPicPr>
          <p:cNvPr id="10" name="Picture 9">
            <a:extLst>
              <a:ext uri="{FF2B5EF4-FFF2-40B4-BE49-F238E27FC236}">
                <a16:creationId xmlns:a16="http://schemas.microsoft.com/office/drawing/2014/main" id="{04F19DA0-732A-45FD-B431-FF6356E96219}"/>
              </a:ext>
            </a:extLst>
          </p:cNvPr>
          <p:cNvPicPr>
            <a:picLocks noChangeAspect="1"/>
          </p:cNvPicPr>
          <p:nvPr/>
        </p:nvPicPr>
        <p:blipFill>
          <a:blip r:embed="rId3"/>
          <a:stretch>
            <a:fillRect/>
          </a:stretch>
        </p:blipFill>
        <p:spPr>
          <a:xfrm>
            <a:off x="85725" y="3501292"/>
            <a:ext cx="4160881" cy="2781541"/>
          </a:xfrm>
          <a:prstGeom prst="rect">
            <a:avLst/>
          </a:prstGeom>
        </p:spPr>
      </p:pic>
    </p:spTree>
    <p:extLst>
      <p:ext uri="{BB962C8B-B14F-4D97-AF65-F5344CB8AC3E}">
        <p14:creationId xmlns:p14="http://schemas.microsoft.com/office/powerpoint/2010/main" val="88562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3DE31-DBA1-49F4-9AD6-60BB0AA0E0A5}"/>
              </a:ext>
            </a:extLst>
          </p:cNvPr>
          <p:cNvSpPr>
            <a:spLocks noGrp="1"/>
          </p:cNvSpPr>
          <p:nvPr>
            <p:ph type="title"/>
          </p:nvPr>
        </p:nvSpPr>
        <p:spPr>
          <a:xfrm>
            <a:off x="1379536" y="1"/>
            <a:ext cx="10018713" cy="857250"/>
          </a:xfrm>
        </p:spPr>
        <p:txBody>
          <a:bodyPr/>
          <a:lstStyle/>
          <a:p>
            <a:r>
              <a:rPr lang="en-US" dirty="0"/>
              <a:t>Cancellation and Delay Analysis</a:t>
            </a:r>
            <a:endParaRPr lang="en-IN" dirty="0"/>
          </a:p>
        </p:txBody>
      </p:sp>
      <p:sp>
        <p:nvSpPr>
          <p:cNvPr id="3" name="Content Placeholder 2">
            <a:extLst>
              <a:ext uri="{FF2B5EF4-FFF2-40B4-BE49-F238E27FC236}">
                <a16:creationId xmlns:a16="http://schemas.microsoft.com/office/drawing/2014/main" id="{B485F122-9936-4F87-86BF-44B99831161D}"/>
              </a:ext>
            </a:extLst>
          </p:cNvPr>
          <p:cNvSpPr>
            <a:spLocks noGrp="1"/>
          </p:cNvSpPr>
          <p:nvPr>
            <p:ph idx="1"/>
          </p:nvPr>
        </p:nvSpPr>
        <p:spPr>
          <a:xfrm>
            <a:off x="4467225" y="857251"/>
            <a:ext cx="7639050" cy="5838824"/>
          </a:xfrm>
        </p:spPr>
        <p:txBody>
          <a:bodyPr>
            <a:normAutofit fontScale="92500" lnSpcReduction="10000"/>
          </a:bodyPr>
          <a:lstStyle/>
          <a:p>
            <a:pPr marL="0" indent="0" rtl="0">
              <a:spcBef>
                <a:spcPts val="1800"/>
              </a:spcBef>
              <a:spcAft>
                <a:spcPts val="400"/>
              </a:spcAft>
              <a:buNone/>
            </a:pPr>
            <a:r>
              <a:rPr lang="en-US" sz="1800" b="1" i="0" u="none" strike="noStrike" dirty="0">
                <a:solidFill>
                  <a:srgbClr val="000000"/>
                </a:solidFill>
                <a:effectLst/>
                <a:latin typeface="Arial" panose="020B0604020202020204" pitchFamily="34" charset="0"/>
              </a:rPr>
              <a:t>Flight Cancellations by Airport</a:t>
            </a:r>
            <a:endParaRPr lang="en-US" sz="1400" b="1" dirty="0">
              <a:effectLst/>
            </a:endParaRPr>
          </a:p>
          <a:p>
            <a:pPr marL="0" indent="0" rtl="0">
              <a:spcBef>
                <a:spcPts val="1200"/>
              </a:spcBef>
              <a:spcAft>
                <a:spcPts val="1200"/>
              </a:spcAft>
              <a:buNone/>
            </a:pPr>
            <a:r>
              <a:rPr lang="en-US" sz="1800" b="0" i="0" u="none" strike="noStrike" dirty="0">
                <a:solidFill>
                  <a:srgbClr val="000000"/>
                </a:solidFill>
                <a:effectLst/>
                <a:latin typeface="Arial" panose="020B0604020202020204" pitchFamily="34" charset="0"/>
              </a:rPr>
              <a:t>The dashboard also highlights </a:t>
            </a:r>
            <a:r>
              <a:rPr lang="en-US" sz="1800" b="1" i="0" u="none" strike="noStrike" dirty="0">
                <a:solidFill>
                  <a:srgbClr val="000000"/>
                </a:solidFill>
                <a:effectLst/>
                <a:latin typeface="Arial" panose="020B0604020202020204" pitchFamily="34" charset="0"/>
              </a:rPr>
              <a:t>airport-level cancellation patterns</a:t>
            </a:r>
            <a:r>
              <a:rPr lang="en-US" sz="1800" b="0" i="0" u="none" strike="noStrike" dirty="0">
                <a:solidFill>
                  <a:srgbClr val="000000"/>
                </a:solidFill>
                <a:effectLst/>
                <a:latin typeface="Arial" panose="020B0604020202020204" pitchFamily="34" charset="0"/>
              </a:rPr>
              <a:t>. </a:t>
            </a:r>
            <a:r>
              <a:rPr lang="en-US" sz="1800" b="1" i="0" u="none" strike="noStrike" dirty="0">
                <a:solidFill>
                  <a:srgbClr val="000000"/>
                </a:solidFill>
                <a:effectLst/>
                <a:latin typeface="Arial" panose="020B0604020202020204" pitchFamily="34" charset="0"/>
              </a:rPr>
              <a:t>Chicago O’Hare International Airport (ORD)</a:t>
            </a:r>
            <a:r>
              <a:rPr lang="en-US" sz="1800" b="0" i="0" u="none" strike="noStrike" dirty="0">
                <a:solidFill>
                  <a:srgbClr val="000000"/>
                </a:solidFill>
                <a:effectLst/>
                <a:latin typeface="Arial" panose="020B0604020202020204" pitchFamily="34" charset="0"/>
              </a:rPr>
              <a:t> reports the highest number of cancellations, reaching close to </a:t>
            </a:r>
            <a:r>
              <a:rPr lang="en-US" sz="1800" b="1" i="0" u="none" strike="noStrike" dirty="0">
                <a:solidFill>
                  <a:srgbClr val="000000"/>
                </a:solidFill>
                <a:effectLst/>
                <a:latin typeface="Arial" panose="020B0604020202020204" pitchFamily="34" charset="0"/>
              </a:rPr>
              <a:t>10,000 cancelled flights</a:t>
            </a:r>
            <a:r>
              <a:rPr lang="en-US" sz="1800" b="0" i="0" u="none" strike="noStrike" dirty="0">
                <a:solidFill>
                  <a:srgbClr val="000000"/>
                </a:solidFill>
                <a:effectLst/>
                <a:latin typeface="Arial" panose="020B0604020202020204" pitchFamily="34" charset="0"/>
              </a:rPr>
              <a:t>. Other airports such as </a:t>
            </a:r>
            <a:r>
              <a:rPr lang="en-US" sz="1800" b="1" i="0" u="none" strike="noStrike" dirty="0">
                <a:solidFill>
                  <a:srgbClr val="000000"/>
                </a:solidFill>
                <a:effectLst/>
                <a:latin typeface="Arial" panose="020B0604020202020204" pitchFamily="34" charset="0"/>
              </a:rPr>
              <a:t>Dallas/Fort Worth International Airport (DFW), LaGuardia Airport (LGA), Newark Liberty International Airport (EWR), and Hartsfield–Jackson Atlanta International Airport (ATL)</a:t>
            </a:r>
            <a:r>
              <a:rPr lang="en-US" sz="1800" b="0" i="0" u="none" strike="noStrike" dirty="0">
                <a:solidFill>
                  <a:srgbClr val="000000"/>
                </a:solidFill>
                <a:effectLst/>
                <a:latin typeface="Arial" panose="020B0604020202020204" pitchFamily="34" charset="0"/>
              </a:rPr>
              <a:t> also show significant cancellation volumes. These airports are among the busiest aviation hubs, which increases the likelihood of disruptions during operational or weather-related challenges.</a:t>
            </a:r>
            <a:endParaRPr lang="en-US" sz="1400" b="0" dirty="0">
              <a:effectLst/>
            </a:endParaRPr>
          </a:p>
          <a:p>
            <a:pPr marL="0" indent="0" rtl="0">
              <a:spcBef>
                <a:spcPts val="1800"/>
              </a:spcBef>
              <a:spcAft>
                <a:spcPts val="400"/>
              </a:spcAft>
              <a:buNone/>
            </a:pPr>
            <a:r>
              <a:rPr lang="en-US" sz="1800" b="1" i="0" u="none" strike="noStrike" dirty="0">
                <a:solidFill>
                  <a:srgbClr val="000000"/>
                </a:solidFill>
                <a:effectLst/>
                <a:latin typeface="Arial" panose="020B0604020202020204" pitchFamily="34" charset="0"/>
              </a:rPr>
              <a:t>Security Delays by Airport</a:t>
            </a:r>
            <a:endParaRPr lang="en-US" sz="1400" b="1" dirty="0">
              <a:effectLst/>
            </a:endParaRPr>
          </a:p>
          <a:p>
            <a:pPr marL="0" indent="0" rtl="0">
              <a:spcBef>
                <a:spcPts val="1200"/>
              </a:spcBef>
              <a:spcAft>
                <a:spcPts val="1200"/>
              </a:spcAft>
              <a:buNone/>
            </a:pPr>
            <a:r>
              <a:rPr lang="en-US" sz="1800" b="0" i="0" u="none" strike="noStrike" dirty="0">
                <a:solidFill>
                  <a:srgbClr val="000000"/>
                </a:solidFill>
                <a:effectLst/>
                <a:latin typeface="Arial" panose="020B0604020202020204" pitchFamily="34" charset="0"/>
              </a:rPr>
              <a:t>Security-related delays are another factor affecting airport operations. The dashboard indicates that </a:t>
            </a:r>
            <a:r>
              <a:rPr lang="en-US" sz="1800" b="1" i="0" u="none" strike="noStrike" dirty="0">
                <a:solidFill>
                  <a:srgbClr val="000000"/>
                </a:solidFill>
                <a:effectLst/>
                <a:latin typeface="Arial" panose="020B0604020202020204" pitchFamily="34" charset="0"/>
              </a:rPr>
              <a:t>Dallas/Fort Worth International Airport and Los Angeles International Airport (LAX)</a:t>
            </a:r>
            <a:r>
              <a:rPr lang="en-US" sz="1800" b="0" i="0" u="none" strike="noStrike" dirty="0">
                <a:solidFill>
                  <a:srgbClr val="000000"/>
                </a:solidFill>
                <a:effectLst/>
                <a:latin typeface="Arial" panose="020B0604020202020204" pitchFamily="34" charset="0"/>
              </a:rPr>
              <a:t> experience the highest security delay times, reaching nearly </a:t>
            </a:r>
            <a:r>
              <a:rPr lang="en-US" sz="1800" b="1" i="0" u="none" strike="noStrike" dirty="0">
                <a:solidFill>
                  <a:srgbClr val="000000"/>
                </a:solidFill>
                <a:effectLst/>
                <a:latin typeface="Arial" panose="020B0604020202020204" pitchFamily="34" charset="0"/>
              </a:rPr>
              <a:t>4,000 minutes of total security delays</a:t>
            </a:r>
            <a:r>
              <a:rPr lang="en-US" sz="1800" b="0" i="0" u="none" strike="noStrike" dirty="0">
                <a:solidFill>
                  <a:srgbClr val="000000"/>
                </a:solidFill>
                <a:effectLst/>
                <a:latin typeface="Arial" panose="020B0604020202020204" pitchFamily="34" charset="0"/>
              </a:rPr>
              <a:t>. Other airports including </a:t>
            </a:r>
            <a:r>
              <a:rPr lang="en-US" sz="1800" b="1" i="0" u="none" strike="noStrike" dirty="0">
                <a:solidFill>
                  <a:srgbClr val="000000"/>
                </a:solidFill>
                <a:effectLst/>
                <a:latin typeface="Arial" panose="020B0604020202020204" pitchFamily="34" charset="0"/>
              </a:rPr>
              <a:t>Fort Lauderdale, Chicago O’Hare, Orlando International Airport, and Phoenix Sky Harbor</a:t>
            </a:r>
            <a:r>
              <a:rPr lang="en-US" sz="1800" b="0" i="0" u="none" strike="noStrike" dirty="0">
                <a:solidFill>
                  <a:srgbClr val="000000"/>
                </a:solidFill>
                <a:effectLst/>
                <a:latin typeface="Arial" panose="020B0604020202020204" pitchFamily="34" charset="0"/>
              </a:rPr>
              <a:t> also report notable security delay times, reflecting the operational impact of security screening processes.</a:t>
            </a:r>
            <a:endParaRPr lang="en-US" sz="1400" b="0" dirty="0">
              <a:effectLst/>
            </a:endParaRPr>
          </a:p>
          <a:p>
            <a:pPr marL="0" indent="0">
              <a:buNone/>
            </a:pPr>
            <a:br>
              <a:rPr lang="en-US" sz="1400" dirty="0"/>
            </a:br>
            <a:endParaRPr lang="en-US" sz="1700" b="0" dirty="0">
              <a:effectLst/>
            </a:endParaRPr>
          </a:p>
        </p:txBody>
      </p:sp>
      <p:pic>
        <p:nvPicPr>
          <p:cNvPr id="5" name="Picture 4">
            <a:extLst>
              <a:ext uri="{FF2B5EF4-FFF2-40B4-BE49-F238E27FC236}">
                <a16:creationId xmlns:a16="http://schemas.microsoft.com/office/drawing/2014/main" id="{0AE2E18C-CED4-485E-BE4A-833A8A75AD52}"/>
              </a:ext>
            </a:extLst>
          </p:cNvPr>
          <p:cNvPicPr>
            <a:picLocks noChangeAspect="1"/>
          </p:cNvPicPr>
          <p:nvPr/>
        </p:nvPicPr>
        <p:blipFill>
          <a:blip r:embed="rId2"/>
          <a:stretch>
            <a:fillRect/>
          </a:stretch>
        </p:blipFill>
        <p:spPr>
          <a:xfrm>
            <a:off x="152036" y="977166"/>
            <a:ext cx="4191364" cy="2255715"/>
          </a:xfrm>
          <a:prstGeom prst="rect">
            <a:avLst/>
          </a:prstGeom>
        </p:spPr>
      </p:pic>
      <p:pic>
        <p:nvPicPr>
          <p:cNvPr id="7" name="Picture 6">
            <a:extLst>
              <a:ext uri="{FF2B5EF4-FFF2-40B4-BE49-F238E27FC236}">
                <a16:creationId xmlns:a16="http://schemas.microsoft.com/office/drawing/2014/main" id="{15E0E869-6047-42CA-8DE8-79A3791E1F5C}"/>
              </a:ext>
            </a:extLst>
          </p:cNvPr>
          <p:cNvPicPr>
            <a:picLocks noChangeAspect="1"/>
          </p:cNvPicPr>
          <p:nvPr/>
        </p:nvPicPr>
        <p:blipFill>
          <a:blip r:embed="rId3"/>
          <a:stretch>
            <a:fillRect/>
          </a:stretch>
        </p:blipFill>
        <p:spPr>
          <a:xfrm>
            <a:off x="152036" y="3625119"/>
            <a:ext cx="4229467" cy="2796782"/>
          </a:xfrm>
          <a:prstGeom prst="rect">
            <a:avLst/>
          </a:prstGeom>
        </p:spPr>
      </p:pic>
    </p:spTree>
    <p:extLst>
      <p:ext uri="{BB962C8B-B14F-4D97-AF65-F5344CB8AC3E}">
        <p14:creationId xmlns:p14="http://schemas.microsoft.com/office/powerpoint/2010/main" val="224407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CA6F3-1209-49A5-8B4C-FB8DFABC73CD}"/>
              </a:ext>
            </a:extLst>
          </p:cNvPr>
          <p:cNvSpPr>
            <a:spLocks noGrp="1"/>
          </p:cNvSpPr>
          <p:nvPr>
            <p:ph type="title"/>
          </p:nvPr>
        </p:nvSpPr>
        <p:spPr>
          <a:xfrm>
            <a:off x="1484311" y="1"/>
            <a:ext cx="10018713" cy="914400"/>
          </a:xfrm>
        </p:spPr>
        <p:txBody>
          <a:bodyPr/>
          <a:lstStyle/>
          <a:p>
            <a:r>
              <a:rPr lang="en-US" dirty="0"/>
              <a:t>Co-</a:t>
            </a:r>
            <a:r>
              <a:rPr lang="en-US" dirty="0" err="1"/>
              <a:t>Realtions</a:t>
            </a:r>
            <a:endParaRPr lang="en-IN" dirty="0"/>
          </a:p>
        </p:txBody>
      </p:sp>
      <p:sp>
        <p:nvSpPr>
          <p:cNvPr id="3" name="Content Placeholder 2">
            <a:extLst>
              <a:ext uri="{FF2B5EF4-FFF2-40B4-BE49-F238E27FC236}">
                <a16:creationId xmlns:a16="http://schemas.microsoft.com/office/drawing/2014/main" id="{4408416F-05A6-468D-926B-A2323DE840BD}"/>
              </a:ext>
            </a:extLst>
          </p:cNvPr>
          <p:cNvSpPr>
            <a:spLocks noGrp="1"/>
          </p:cNvSpPr>
          <p:nvPr>
            <p:ph idx="1"/>
          </p:nvPr>
        </p:nvSpPr>
        <p:spPr>
          <a:xfrm>
            <a:off x="5429251" y="2819400"/>
            <a:ext cx="6616698" cy="2362200"/>
          </a:xfrm>
        </p:spPr>
        <p:txBody>
          <a:bodyPr>
            <a:noAutofit/>
          </a:bodyPr>
          <a:lstStyle/>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Correlation Overview</a:t>
            </a:r>
            <a:endParaRPr lang="en-US" sz="1700" b="1"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This page focuses on analyzing the </a:t>
            </a:r>
            <a:r>
              <a:rPr lang="en-US" sz="1700" b="1" i="0" u="none" strike="noStrike" dirty="0">
                <a:solidFill>
                  <a:srgbClr val="000000"/>
                </a:solidFill>
                <a:effectLst/>
                <a:latin typeface="Arial" panose="020B0604020202020204" pitchFamily="34" charset="0"/>
              </a:rPr>
              <a:t>relationship between different types of delays across airlines and airports</a:t>
            </a:r>
            <a:r>
              <a:rPr lang="en-US" sz="1700" b="0" i="0" u="none" strike="noStrike" dirty="0">
                <a:solidFill>
                  <a:srgbClr val="000000"/>
                </a:solidFill>
                <a:effectLst/>
                <a:latin typeface="Arial" panose="020B0604020202020204" pitchFamily="34" charset="0"/>
              </a:rPr>
              <a:t>. The correlation values displayed at the top show how strongly different delay variables move together. The analysis reveals strong positive relationships between several delay metrics, with correlation values ranging from </a:t>
            </a:r>
            <a:r>
              <a:rPr lang="en-US" sz="1700" b="1" i="0" u="none" strike="noStrike" dirty="0">
                <a:solidFill>
                  <a:srgbClr val="000000"/>
                </a:solidFill>
                <a:effectLst/>
                <a:latin typeface="Arial" panose="020B0604020202020204" pitchFamily="34" charset="0"/>
              </a:rPr>
              <a:t>0.79 to 0.89</a:t>
            </a:r>
            <a:r>
              <a:rPr lang="en-US" sz="1700" b="0" i="0" u="none" strike="noStrike" dirty="0">
                <a:solidFill>
                  <a:srgbClr val="000000"/>
                </a:solidFill>
                <a:effectLst/>
                <a:latin typeface="Arial" panose="020B0604020202020204" pitchFamily="34" charset="0"/>
              </a:rPr>
              <a:t>, indicating that delays in one stage of flight operations often propagate to later stages.</a:t>
            </a:r>
            <a:endParaRPr lang="en-US" sz="1700" b="0" dirty="0">
              <a:effectLst/>
            </a:endParaRPr>
          </a:p>
          <a:p>
            <a:pPr marL="0" indent="0" rtl="0">
              <a:lnSpc>
                <a:spcPct val="120000"/>
              </a:lnSpc>
              <a:spcBef>
                <a:spcPts val="100"/>
              </a:spcBef>
              <a:spcAft>
                <a:spcPts val="500"/>
              </a:spcAft>
              <a:buNone/>
            </a:pPr>
            <a:r>
              <a:rPr lang="en-US" sz="1700" b="1" i="0" u="none" strike="noStrike" dirty="0">
                <a:solidFill>
                  <a:srgbClr val="000000"/>
                </a:solidFill>
                <a:effectLst/>
                <a:latin typeface="Arial" panose="020B0604020202020204" pitchFamily="34" charset="0"/>
              </a:rPr>
              <a:t>Airline Delay and Arrival Delay Relationship</a:t>
            </a:r>
            <a:endParaRPr lang="en-US" sz="1700" b="0" dirty="0">
              <a:effectLst/>
            </a:endParaRPr>
          </a:p>
          <a:p>
            <a:pPr marL="0" indent="0" rtl="0">
              <a:lnSpc>
                <a:spcPct val="120000"/>
              </a:lnSpc>
              <a:spcBef>
                <a:spcPts val="100"/>
              </a:spcBef>
              <a:spcAft>
                <a:spcPts val="500"/>
              </a:spcAft>
              <a:buNone/>
            </a:pPr>
            <a:r>
              <a:rPr lang="en-US" sz="1700" b="0" i="0" u="none" strike="noStrike" dirty="0">
                <a:solidFill>
                  <a:srgbClr val="000000"/>
                </a:solidFill>
                <a:effectLst/>
                <a:latin typeface="Arial" panose="020B0604020202020204" pitchFamily="34" charset="0"/>
              </a:rPr>
              <a:t>The first visualization analyzes the relationship between </a:t>
            </a:r>
            <a:r>
              <a:rPr lang="en-US" sz="1700" b="1" i="0" u="none" strike="noStrike" dirty="0">
                <a:solidFill>
                  <a:srgbClr val="000000"/>
                </a:solidFill>
                <a:effectLst/>
                <a:latin typeface="Arial" panose="020B0604020202020204" pitchFamily="34" charset="0"/>
              </a:rPr>
              <a:t>average airline delay and average arrival delay across different airlines over time</a:t>
            </a:r>
            <a:r>
              <a:rPr lang="en-US" sz="1700" b="0" i="0" u="none" strike="noStrike" dirty="0">
                <a:solidFill>
                  <a:srgbClr val="000000"/>
                </a:solidFill>
                <a:effectLst/>
                <a:latin typeface="Arial" panose="020B0604020202020204" pitchFamily="34" charset="0"/>
              </a:rPr>
              <a:t>. The scatter plot shows a </a:t>
            </a:r>
            <a:r>
              <a:rPr lang="en-US" sz="1700" b="1" i="0" u="none" strike="noStrike" dirty="0">
                <a:solidFill>
                  <a:srgbClr val="000000"/>
                </a:solidFill>
                <a:effectLst/>
                <a:latin typeface="Arial" panose="020B0604020202020204" pitchFamily="34" charset="0"/>
              </a:rPr>
              <a:t>positive correlation of approximately 0.79</a:t>
            </a:r>
            <a:r>
              <a:rPr lang="en-US" sz="1700" b="0" i="0" u="none" strike="noStrike" dirty="0">
                <a:solidFill>
                  <a:srgbClr val="000000"/>
                </a:solidFill>
                <a:effectLst/>
                <a:latin typeface="Arial" panose="020B0604020202020204" pitchFamily="34" charset="0"/>
              </a:rPr>
              <a:t>, suggesting that when airline-related operational delays increase, arrival delays tend to increase as well. This indicates that airline operational efficiency plays a significant role in determining arrival performance.</a:t>
            </a:r>
            <a:endParaRPr lang="en-US" sz="1700" b="0" dirty="0">
              <a:effectLst/>
            </a:endParaRPr>
          </a:p>
          <a:p>
            <a:pPr marL="0" indent="0">
              <a:lnSpc>
                <a:spcPct val="120000"/>
              </a:lnSpc>
              <a:spcBef>
                <a:spcPts val="100"/>
              </a:spcBef>
              <a:spcAft>
                <a:spcPts val="500"/>
              </a:spcAft>
              <a:buNone/>
            </a:pPr>
            <a:endParaRPr lang="en-IN" sz="1700" dirty="0"/>
          </a:p>
        </p:txBody>
      </p:sp>
      <p:pic>
        <p:nvPicPr>
          <p:cNvPr id="5" name="Picture 4">
            <a:extLst>
              <a:ext uri="{FF2B5EF4-FFF2-40B4-BE49-F238E27FC236}">
                <a16:creationId xmlns:a16="http://schemas.microsoft.com/office/drawing/2014/main" id="{E2C3A9F8-B573-4BE6-8573-974D0CEDBE0F}"/>
              </a:ext>
            </a:extLst>
          </p:cNvPr>
          <p:cNvPicPr>
            <a:picLocks noChangeAspect="1"/>
          </p:cNvPicPr>
          <p:nvPr/>
        </p:nvPicPr>
        <p:blipFill>
          <a:blip r:embed="rId2"/>
          <a:stretch>
            <a:fillRect/>
          </a:stretch>
        </p:blipFill>
        <p:spPr>
          <a:xfrm>
            <a:off x="323850" y="1253385"/>
            <a:ext cx="4914899" cy="2408129"/>
          </a:xfrm>
          <a:prstGeom prst="rect">
            <a:avLst/>
          </a:prstGeom>
        </p:spPr>
      </p:pic>
      <p:pic>
        <p:nvPicPr>
          <p:cNvPr id="7" name="Picture 6">
            <a:extLst>
              <a:ext uri="{FF2B5EF4-FFF2-40B4-BE49-F238E27FC236}">
                <a16:creationId xmlns:a16="http://schemas.microsoft.com/office/drawing/2014/main" id="{C0C4E53D-DF30-462B-8900-C09EC94F8387}"/>
              </a:ext>
            </a:extLst>
          </p:cNvPr>
          <p:cNvPicPr>
            <a:picLocks noChangeAspect="1"/>
          </p:cNvPicPr>
          <p:nvPr/>
        </p:nvPicPr>
        <p:blipFill>
          <a:blip r:embed="rId3"/>
          <a:stretch>
            <a:fillRect/>
          </a:stretch>
        </p:blipFill>
        <p:spPr>
          <a:xfrm>
            <a:off x="323850" y="4019548"/>
            <a:ext cx="4892464" cy="2400508"/>
          </a:xfrm>
          <a:prstGeom prst="rect">
            <a:avLst/>
          </a:prstGeom>
        </p:spPr>
      </p:pic>
    </p:spTree>
    <p:extLst>
      <p:ext uri="{BB962C8B-B14F-4D97-AF65-F5344CB8AC3E}">
        <p14:creationId xmlns:p14="http://schemas.microsoft.com/office/powerpoint/2010/main" val="61315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CA6F3-1209-49A5-8B4C-FB8DFABC73CD}"/>
              </a:ext>
            </a:extLst>
          </p:cNvPr>
          <p:cNvSpPr>
            <a:spLocks noGrp="1"/>
          </p:cNvSpPr>
          <p:nvPr>
            <p:ph type="title"/>
          </p:nvPr>
        </p:nvSpPr>
        <p:spPr>
          <a:xfrm>
            <a:off x="1484311" y="1"/>
            <a:ext cx="10018713" cy="914400"/>
          </a:xfrm>
        </p:spPr>
        <p:txBody>
          <a:bodyPr/>
          <a:lstStyle/>
          <a:p>
            <a:r>
              <a:rPr lang="en-US" dirty="0"/>
              <a:t>Co-</a:t>
            </a:r>
            <a:r>
              <a:rPr lang="en-US" dirty="0" err="1"/>
              <a:t>Realtions</a:t>
            </a:r>
            <a:endParaRPr lang="en-IN" dirty="0"/>
          </a:p>
        </p:txBody>
      </p:sp>
      <p:sp>
        <p:nvSpPr>
          <p:cNvPr id="3" name="Content Placeholder 2">
            <a:extLst>
              <a:ext uri="{FF2B5EF4-FFF2-40B4-BE49-F238E27FC236}">
                <a16:creationId xmlns:a16="http://schemas.microsoft.com/office/drawing/2014/main" id="{4408416F-05A6-468D-926B-A2323DE840BD}"/>
              </a:ext>
            </a:extLst>
          </p:cNvPr>
          <p:cNvSpPr>
            <a:spLocks noGrp="1"/>
          </p:cNvSpPr>
          <p:nvPr>
            <p:ph idx="1"/>
          </p:nvPr>
        </p:nvSpPr>
        <p:spPr>
          <a:xfrm>
            <a:off x="5438776" y="914402"/>
            <a:ext cx="6616698" cy="5667374"/>
          </a:xfrm>
        </p:spPr>
        <p:txBody>
          <a:bodyPr>
            <a:noAutofit/>
          </a:bodyPr>
          <a:lstStyle/>
          <a:p>
            <a:pPr marL="0" indent="0" rtl="0">
              <a:spcBef>
                <a:spcPts val="100"/>
              </a:spcBef>
              <a:spcAft>
                <a:spcPts val="500"/>
              </a:spcAft>
              <a:buNone/>
            </a:pPr>
            <a:r>
              <a:rPr lang="en-US" sz="1600" b="1" i="0" u="none" strike="noStrike" dirty="0">
                <a:solidFill>
                  <a:srgbClr val="000000"/>
                </a:solidFill>
                <a:effectLst/>
                <a:latin typeface="Arial" panose="020B0604020202020204" pitchFamily="34" charset="0"/>
              </a:rPr>
              <a:t>Destination Airport Delay Relationship</a:t>
            </a:r>
            <a:endParaRPr lang="en-US" sz="1600" b="1" dirty="0">
              <a:effectLst/>
            </a:endParaRPr>
          </a:p>
          <a:p>
            <a:pPr marL="0" indent="0" rtl="0">
              <a:spcBef>
                <a:spcPts val="100"/>
              </a:spcBef>
              <a:spcAft>
                <a:spcPts val="500"/>
              </a:spcAft>
              <a:buNone/>
            </a:pPr>
            <a:r>
              <a:rPr lang="en-US" sz="1600" b="0" i="0" u="none" strike="noStrike" dirty="0">
                <a:solidFill>
                  <a:srgbClr val="000000"/>
                </a:solidFill>
                <a:effectLst/>
                <a:latin typeface="Arial" panose="020B0604020202020204" pitchFamily="34" charset="0"/>
              </a:rPr>
              <a:t>The second analysis examines the relationship between </a:t>
            </a:r>
            <a:r>
              <a:rPr lang="en-US" sz="1600" b="1" i="0" u="none" strike="noStrike" dirty="0">
                <a:solidFill>
                  <a:srgbClr val="000000"/>
                </a:solidFill>
                <a:effectLst/>
                <a:latin typeface="Arial" panose="020B0604020202020204" pitchFamily="34" charset="0"/>
              </a:rPr>
              <a:t>arrival delays and departure delays across destination airports</a:t>
            </a:r>
            <a:r>
              <a:rPr lang="en-US" sz="1600" b="0" i="0" u="none" strike="noStrike" dirty="0">
                <a:solidFill>
                  <a:srgbClr val="000000"/>
                </a:solidFill>
                <a:effectLst/>
                <a:latin typeface="Arial" panose="020B0604020202020204" pitchFamily="34" charset="0"/>
              </a:rPr>
              <a:t>, showing a correlation value of approximately </a:t>
            </a:r>
            <a:r>
              <a:rPr lang="en-US" sz="1600" b="1" i="0" u="none" strike="noStrike" dirty="0">
                <a:solidFill>
                  <a:srgbClr val="000000"/>
                </a:solidFill>
                <a:effectLst/>
                <a:latin typeface="Arial" panose="020B0604020202020204" pitchFamily="34" charset="0"/>
              </a:rPr>
              <a:t>0.82</a:t>
            </a:r>
            <a:r>
              <a:rPr lang="en-US" sz="1600" b="0" i="0" u="none" strike="noStrike" dirty="0">
                <a:solidFill>
                  <a:srgbClr val="000000"/>
                </a:solidFill>
                <a:effectLst/>
                <a:latin typeface="Arial" panose="020B0604020202020204" pitchFamily="34" charset="0"/>
              </a:rPr>
              <a:t>. This indicates that airports experiencing higher arrival delays are also likely to experience higher departure delays, reflecting the cascading effect of delays within busy airport operations.</a:t>
            </a:r>
            <a:endParaRPr lang="en-US" sz="1600" b="0" dirty="0">
              <a:effectLst/>
            </a:endParaRPr>
          </a:p>
          <a:p>
            <a:pPr marL="0" indent="0" rtl="0">
              <a:spcBef>
                <a:spcPts val="100"/>
              </a:spcBef>
              <a:spcAft>
                <a:spcPts val="500"/>
              </a:spcAft>
              <a:buNone/>
            </a:pPr>
            <a:r>
              <a:rPr lang="en-US" sz="1600" b="1" i="0" u="none" strike="noStrike" dirty="0">
                <a:solidFill>
                  <a:srgbClr val="000000"/>
                </a:solidFill>
                <a:effectLst/>
                <a:latin typeface="Arial" panose="020B0604020202020204" pitchFamily="34" charset="0"/>
              </a:rPr>
              <a:t>Origin Airport Delay Relationship</a:t>
            </a:r>
            <a:endParaRPr lang="en-US" sz="1600" b="1" dirty="0">
              <a:effectLst/>
            </a:endParaRPr>
          </a:p>
          <a:p>
            <a:pPr marL="0" indent="0" rtl="0">
              <a:spcBef>
                <a:spcPts val="100"/>
              </a:spcBef>
              <a:spcAft>
                <a:spcPts val="500"/>
              </a:spcAft>
              <a:buNone/>
            </a:pPr>
            <a:r>
              <a:rPr lang="en-US" sz="1600" b="0" i="0" u="none" strike="noStrike" dirty="0">
                <a:solidFill>
                  <a:srgbClr val="000000"/>
                </a:solidFill>
                <a:effectLst/>
                <a:latin typeface="Arial" panose="020B0604020202020204" pitchFamily="34" charset="0"/>
              </a:rPr>
              <a:t>Similarly, the analysis of </a:t>
            </a:r>
            <a:r>
              <a:rPr lang="en-US" sz="1600" b="1" i="0" u="none" strike="noStrike" dirty="0">
                <a:solidFill>
                  <a:srgbClr val="000000"/>
                </a:solidFill>
                <a:effectLst/>
                <a:latin typeface="Arial" panose="020B0604020202020204" pitchFamily="34" charset="0"/>
              </a:rPr>
              <a:t>origin airports</a:t>
            </a:r>
            <a:r>
              <a:rPr lang="en-US" sz="1600" b="0" i="0" u="none" strike="noStrike" dirty="0">
                <a:solidFill>
                  <a:srgbClr val="000000"/>
                </a:solidFill>
                <a:effectLst/>
                <a:latin typeface="Arial" panose="020B0604020202020204" pitchFamily="34" charset="0"/>
              </a:rPr>
              <a:t> reveals a strong positive correlation between arrival and departure delays across different airports. The scatter plot shows a correlation value close to </a:t>
            </a:r>
            <a:r>
              <a:rPr lang="en-US" sz="1600" b="1" i="0" u="none" strike="noStrike" dirty="0">
                <a:solidFill>
                  <a:srgbClr val="000000"/>
                </a:solidFill>
                <a:effectLst/>
                <a:latin typeface="Arial" panose="020B0604020202020204" pitchFamily="34" charset="0"/>
              </a:rPr>
              <a:t>0.89</a:t>
            </a:r>
            <a:r>
              <a:rPr lang="en-US" sz="1600" b="0" i="0" u="none" strike="noStrike" dirty="0">
                <a:solidFill>
                  <a:srgbClr val="000000"/>
                </a:solidFill>
                <a:effectLst/>
                <a:latin typeface="Arial" panose="020B0604020202020204" pitchFamily="34" charset="0"/>
              </a:rPr>
              <a:t>, which suggests that airports with higher arrival delays tend to also experience higher departure delays due to operational congestion and turnaround time constraints.</a:t>
            </a:r>
            <a:endParaRPr lang="en-US" sz="1600" b="0" dirty="0">
              <a:effectLst/>
            </a:endParaRPr>
          </a:p>
          <a:p>
            <a:pPr marL="0" indent="0" rtl="0">
              <a:spcBef>
                <a:spcPts val="100"/>
              </a:spcBef>
              <a:spcAft>
                <a:spcPts val="500"/>
              </a:spcAft>
              <a:buNone/>
            </a:pPr>
            <a:r>
              <a:rPr lang="en-US" sz="1600" b="1" i="0" u="none" strike="noStrike" dirty="0">
                <a:solidFill>
                  <a:srgbClr val="000000"/>
                </a:solidFill>
                <a:effectLst/>
                <a:latin typeface="Arial" panose="020B0604020202020204" pitchFamily="34" charset="0"/>
              </a:rPr>
              <a:t>Delay Comparison by Airline</a:t>
            </a:r>
            <a:endParaRPr lang="en-US" sz="1600" b="1" dirty="0">
              <a:effectLst/>
            </a:endParaRPr>
          </a:p>
          <a:p>
            <a:pPr marL="0" indent="0" rtl="0">
              <a:spcBef>
                <a:spcPts val="100"/>
              </a:spcBef>
              <a:spcAft>
                <a:spcPts val="500"/>
              </a:spcAft>
              <a:buNone/>
            </a:pPr>
            <a:r>
              <a:rPr lang="en-US" sz="1600" b="0" i="0" u="none" strike="noStrike" dirty="0">
                <a:solidFill>
                  <a:srgbClr val="000000"/>
                </a:solidFill>
                <a:effectLst/>
                <a:latin typeface="Arial" panose="020B0604020202020204" pitchFamily="34" charset="0"/>
              </a:rPr>
              <a:t>The final visualization compares </a:t>
            </a:r>
            <a:r>
              <a:rPr lang="en-US" sz="1600" b="1" i="0" u="none" strike="noStrike" dirty="0">
                <a:solidFill>
                  <a:srgbClr val="000000"/>
                </a:solidFill>
                <a:effectLst/>
                <a:latin typeface="Arial" panose="020B0604020202020204" pitchFamily="34" charset="0"/>
              </a:rPr>
              <a:t>average arrival delay and departure delay across airlines on a monthly basis</a:t>
            </a:r>
            <a:r>
              <a:rPr lang="en-US" sz="1600" b="0" i="0" u="none" strike="noStrike" dirty="0">
                <a:solidFill>
                  <a:srgbClr val="000000"/>
                </a:solidFill>
                <a:effectLst/>
                <a:latin typeface="Arial" panose="020B0604020202020204" pitchFamily="34" charset="0"/>
              </a:rPr>
              <a:t>. The plot shows that most airlines cluster within a moderate delay range, indicating relatively similar delay patterns across carriers, though some airlines experience higher operational delays than others during specific months.</a:t>
            </a:r>
            <a:endParaRPr lang="en-US" sz="1600" b="0" dirty="0">
              <a:effectLst/>
            </a:endParaRPr>
          </a:p>
        </p:txBody>
      </p:sp>
      <p:pic>
        <p:nvPicPr>
          <p:cNvPr id="6" name="Picture 5">
            <a:extLst>
              <a:ext uri="{FF2B5EF4-FFF2-40B4-BE49-F238E27FC236}">
                <a16:creationId xmlns:a16="http://schemas.microsoft.com/office/drawing/2014/main" id="{FCE1DF80-E37D-49F6-A4E7-4AE4686C0243}"/>
              </a:ext>
            </a:extLst>
          </p:cNvPr>
          <p:cNvPicPr>
            <a:picLocks noChangeAspect="1"/>
          </p:cNvPicPr>
          <p:nvPr/>
        </p:nvPicPr>
        <p:blipFill>
          <a:blip r:embed="rId2"/>
          <a:stretch>
            <a:fillRect/>
          </a:stretch>
        </p:blipFill>
        <p:spPr>
          <a:xfrm>
            <a:off x="136526" y="1171469"/>
            <a:ext cx="4877223" cy="2438611"/>
          </a:xfrm>
          <a:prstGeom prst="rect">
            <a:avLst/>
          </a:prstGeom>
        </p:spPr>
      </p:pic>
      <p:pic>
        <p:nvPicPr>
          <p:cNvPr id="9" name="Picture 8">
            <a:extLst>
              <a:ext uri="{FF2B5EF4-FFF2-40B4-BE49-F238E27FC236}">
                <a16:creationId xmlns:a16="http://schemas.microsoft.com/office/drawing/2014/main" id="{7B47D1BA-EB96-450C-A207-617E050C6353}"/>
              </a:ext>
            </a:extLst>
          </p:cNvPr>
          <p:cNvPicPr>
            <a:picLocks noChangeAspect="1"/>
          </p:cNvPicPr>
          <p:nvPr/>
        </p:nvPicPr>
        <p:blipFill>
          <a:blip r:embed="rId3"/>
          <a:stretch>
            <a:fillRect/>
          </a:stretch>
        </p:blipFill>
        <p:spPr>
          <a:xfrm>
            <a:off x="136526" y="4002300"/>
            <a:ext cx="4877223" cy="2415749"/>
          </a:xfrm>
          <a:prstGeom prst="rect">
            <a:avLst/>
          </a:prstGeom>
        </p:spPr>
      </p:pic>
    </p:spTree>
    <p:extLst>
      <p:ext uri="{BB962C8B-B14F-4D97-AF65-F5344CB8AC3E}">
        <p14:creationId xmlns:p14="http://schemas.microsoft.com/office/powerpoint/2010/main" val="1722892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73E04-7A84-4C04-9C7D-442E0F408845}"/>
              </a:ext>
            </a:extLst>
          </p:cNvPr>
          <p:cNvSpPr>
            <a:spLocks noGrp="1"/>
          </p:cNvSpPr>
          <p:nvPr>
            <p:ph type="title"/>
          </p:nvPr>
        </p:nvSpPr>
        <p:spPr>
          <a:xfrm>
            <a:off x="1484310" y="0"/>
            <a:ext cx="10018713" cy="971549"/>
          </a:xfrm>
        </p:spPr>
        <p:txBody>
          <a:bodyPr/>
          <a:lstStyle/>
          <a:p>
            <a:r>
              <a:rPr lang="en-US" dirty="0"/>
              <a:t>K</a:t>
            </a:r>
            <a:r>
              <a:rPr lang="en-IN" dirty="0" err="1"/>
              <a:t>ey</a:t>
            </a:r>
            <a:r>
              <a:rPr lang="en-IN" dirty="0"/>
              <a:t> Takeaways</a:t>
            </a:r>
          </a:p>
        </p:txBody>
      </p:sp>
      <p:sp>
        <p:nvSpPr>
          <p:cNvPr id="3" name="Content Placeholder 2">
            <a:extLst>
              <a:ext uri="{FF2B5EF4-FFF2-40B4-BE49-F238E27FC236}">
                <a16:creationId xmlns:a16="http://schemas.microsoft.com/office/drawing/2014/main" id="{C7908AED-E2E7-4AC7-B3E7-28CDEC497DB7}"/>
              </a:ext>
            </a:extLst>
          </p:cNvPr>
          <p:cNvSpPr>
            <a:spLocks noGrp="1"/>
          </p:cNvSpPr>
          <p:nvPr>
            <p:ph idx="1"/>
          </p:nvPr>
        </p:nvSpPr>
        <p:spPr>
          <a:xfrm>
            <a:off x="1314450" y="1057275"/>
            <a:ext cx="10544174" cy="5534025"/>
          </a:xfrm>
        </p:spPr>
        <p:txBody>
          <a:bodyPr>
            <a:noAutofit/>
          </a:bodyPr>
          <a:lstStyle/>
          <a:p>
            <a:pPr>
              <a:spcBef>
                <a:spcPts val="100"/>
              </a:spcBef>
              <a:spcAft>
                <a:spcPts val="500"/>
              </a:spcAft>
            </a:pPr>
            <a:r>
              <a:rPr lang="en-US" sz="1500" dirty="0"/>
              <a:t>The analysis of approximately </a:t>
            </a:r>
            <a:r>
              <a:rPr lang="en-US" sz="1500" b="1" dirty="0"/>
              <a:t>6 million flight records</a:t>
            </a:r>
            <a:r>
              <a:rPr lang="en-US" sz="1500" dirty="0"/>
              <a:t> reveals that the U.S. aviation network operates at a large scale but still faces operational disruptions. Around </a:t>
            </a:r>
            <a:r>
              <a:rPr lang="en-US" sz="1500" b="1" dirty="0"/>
              <a:t>90,000 flights were cancelled</a:t>
            </a:r>
            <a:r>
              <a:rPr lang="en-US" sz="1500" dirty="0"/>
              <a:t> and approximately </a:t>
            </a:r>
            <a:r>
              <a:rPr lang="en-US" sz="1500" b="1" dirty="0"/>
              <a:t>15,000 flights were diverted</a:t>
            </a:r>
            <a:r>
              <a:rPr lang="en-US" sz="1500" dirty="0"/>
              <a:t>, indicating the impact of operational and environmental challenges. On average, </a:t>
            </a:r>
            <a:r>
              <a:rPr lang="en-US" sz="1500" b="1" dirty="0"/>
              <a:t>departure delays (9.37 minutes)</a:t>
            </a:r>
            <a:r>
              <a:rPr lang="en-US" sz="1500" dirty="0"/>
              <a:t> are higher than </a:t>
            </a:r>
            <a:r>
              <a:rPr lang="en-US" sz="1500" b="1" dirty="0"/>
              <a:t>arrival delays (4.41 minutes)</a:t>
            </a:r>
            <a:r>
              <a:rPr lang="en-US" sz="1500" dirty="0"/>
              <a:t>, suggesting that most delays originate before takeoff, although airlines are able to recover some delay during flight operations.</a:t>
            </a:r>
          </a:p>
          <a:p>
            <a:pPr>
              <a:spcBef>
                <a:spcPts val="100"/>
              </a:spcBef>
              <a:spcAft>
                <a:spcPts val="500"/>
              </a:spcAft>
            </a:pPr>
            <a:r>
              <a:rPr lang="en-US" sz="1500" dirty="0"/>
              <a:t> The majority of cancellations are driven by </a:t>
            </a:r>
            <a:r>
              <a:rPr lang="en-US" sz="1500" b="1" dirty="0"/>
              <a:t>carrier operational issues and weather conditions</a:t>
            </a:r>
            <a:r>
              <a:rPr lang="en-US" sz="1500" dirty="0"/>
              <a:t>, while disruptions are more concentrated around </a:t>
            </a:r>
            <a:r>
              <a:rPr lang="en-US" sz="1500" b="1" dirty="0"/>
              <a:t>major hub airports such as ATL, ORD, and DFW</a:t>
            </a:r>
            <a:r>
              <a:rPr lang="en-US" sz="1500" dirty="0"/>
              <a:t>. Overall, the findings indicate that </a:t>
            </a:r>
            <a:r>
              <a:rPr lang="en-US" sz="1500" b="1" dirty="0"/>
              <a:t>airline operations, airport congestion, and external factors like weather are the key drivers of flight disruptions across the aviation network</a:t>
            </a:r>
            <a:r>
              <a:rPr lang="en-US" sz="1500" dirty="0"/>
              <a:t>.</a:t>
            </a:r>
          </a:p>
          <a:p>
            <a:pPr>
              <a:spcBef>
                <a:spcPts val="100"/>
              </a:spcBef>
              <a:spcAft>
                <a:spcPts val="500"/>
              </a:spcAft>
            </a:pPr>
            <a:r>
              <a:rPr lang="en-US" sz="1500" dirty="0"/>
              <a:t>The analysis shows that </a:t>
            </a:r>
            <a:r>
              <a:rPr lang="en-US" sz="1500" b="1" dirty="0"/>
              <a:t>departure delays average 9.37 minutes</a:t>
            </a:r>
            <a:r>
              <a:rPr lang="en-US" sz="1500" dirty="0"/>
              <a:t>, which is higher than the </a:t>
            </a:r>
            <a:r>
              <a:rPr lang="en-US" sz="1500" b="1" dirty="0"/>
              <a:t>average arrival delay of 4.41 minutes</a:t>
            </a:r>
            <a:r>
              <a:rPr lang="en-US" sz="1500" dirty="0"/>
              <a:t>, indicating that most delays occur </a:t>
            </a:r>
            <a:r>
              <a:rPr lang="en-US" sz="1500" b="1" dirty="0"/>
              <a:t>before flights depart</a:t>
            </a:r>
            <a:r>
              <a:rPr lang="en-US" sz="1500" dirty="0"/>
              <a:t>. Despite this, airlines manage to recover some of the delay during flight, as reflected by the </a:t>
            </a:r>
            <a:r>
              <a:rPr lang="en-US" sz="1500" b="1" dirty="0"/>
              <a:t>arrival-to-departure delay ratio of 0.47</a:t>
            </a:r>
            <a:r>
              <a:rPr lang="en-US" sz="1500" dirty="0"/>
              <a:t>. Additionally, about </a:t>
            </a:r>
            <a:r>
              <a:rPr lang="en-US" sz="1500" b="1" dirty="0"/>
              <a:t>64% of flights operate on time</a:t>
            </a:r>
            <a:r>
              <a:rPr lang="en-US" sz="1500" dirty="0"/>
              <a:t>, while </a:t>
            </a:r>
            <a:r>
              <a:rPr lang="en-US" sz="1500" b="1" dirty="0"/>
              <a:t>36% experience delays</a:t>
            </a:r>
            <a:r>
              <a:rPr lang="en-US" sz="1500" dirty="0"/>
              <a:t>, and the dataset records approximately </a:t>
            </a:r>
            <a:r>
              <a:rPr lang="en-US" sz="1500" b="1" dirty="0"/>
              <a:t>15,000 diverted flights</a:t>
            </a:r>
            <a:r>
              <a:rPr lang="en-US" sz="1500" dirty="0"/>
              <a:t>, with delays concentrated around </a:t>
            </a:r>
            <a:r>
              <a:rPr lang="en-US" sz="1500" b="1" dirty="0"/>
              <a:t>major U.S. aviation hubs</a:t>
            </a:r>
            <a:r>
              <a:rPr lang="en-US" sz="1500" dirty="0"/>
              <a:t>.</a:t>
            </a:r>
            <a:endParaRPr lang="en-US" sz="1500" b="0" i="0" u="none" strike="noStrike" dirty="0">
              <a:solidFill>
                <a:srgbClr val="000000"/>
              </a:solidFill>
              <a:effectLst/>
            </a:endParaRPr>
          </a:p>
          <a:p>
            <a:pPr>
              <a:spcBef>
                <a:spcPts val="100"/>
              </a:spcBef>
              <a:spcAft>
                <a:spcPts val="500"/>
              </a:spcAft>
            </a:pPr>
            <a:r>
              <a:rPr lang="en-US" sz="1500" b="0" i="0" u="none" strike="noStrike" dirty="0">
                <a:solidFill>
                  <a:srgbClr val="000000"/>
                </a:solidFill>
                <a:effectLst/>
              </a:rPr>
              <a:t>The analysis suggests that </a:t>
            </a:r>
            <a:r>
              <a:rPr lang="en-US" sz="1500" b="1" i="0" u="none" strike="noStrike" dirty="0">
                <a:solidFill>
                  <a:srgbClr val="000000"/>
                </a:solidFill>
                <a:effectLst/>
              </a:rPr>
              <a:t>airline operational issues and weather conditions are the primary drivers of flight cancellations</a:t>
            </a:r>
            <a:r>
              <a:rPr lang="en-US" sz="1500" b="0" i="0" u="none" strike="noStrike" dirty="0">
                <a:solidFill>
                  <a:srgbClr val="000000"/>
                </a:solidFill>
                <a:effectLst/>
              </a:rPr>
              <a:t>, while cancellations tend to concentrate around </a:t>
            </a:r>
            <a:r>
              <a:rPr lang="en-US" sz="1500" b="1" i="0" u="none" strike="noStrike" dirty="0">
                <a:solidFill>
                  <a:srgbClr val="000000"/>
                </a:solidFill>
                <a:effectLst/>
              </a:rPr>
              <a:t>high-traffic airlines, major aviation hubs, and winter travel months</a:t>
            </a:r>
            <a:r>
              <a:rPr lang="en-US" sz="1500" b="0" i="0" u="none" strike="noStrike" dirty="0">
                <a:solidFill>
                  <a:srgbClr val="000000"/>
                </a:solidFill>
                <a:effectLst/>
              </a:rPr>
              <a:t>.</a:t>
            </a:r>
            <a:endParaRPr lang="en-US" sz="1500" b="0" dirty="0">
              <a:effectLst/>
            </a:endParaRPr>
          </a:p>
          <a:p>
            <a:r>
              <a:rPr lang="en-US" sz="1500" dirty="0"/>
              <a:t>The analysis shows that </a:t>
            </a:r>
            <a:r>
              <a:rPr lang="en-US" sz="1500" b="1" dirty="0"/>
              <a:t>major hub airports such as ATL, ORD, and DFW experience the highest levels of operational disruptions</a:t>
            </a:r>
            <a:r>
              <a:rPr lang="en-US" sz="1500" dirty="0"/>
              <a:t>, including cancellations, diversions, and security delays. This is largely driven by </a:t>
            </a:r>
            <a:r>
              <a:rPr lang="en-US" sz="1500" b="1" dirty="0"/>
              <a:t>high flight traffic, airport congestion, and operational complexity within major aviation hubs</a:t>
            </a:r>
            <a:r>
              <a:rPr lang="en-US" sz="1500" dirty="0"/>
              <a:t>.</a:t>
            </a:r>
          </a:p>
          <a:p>
            <a:r>
              <a:rPr lang="en-US" sz="1500" dirty="0"/>
              <a:t>The analysis shows that </a:t>
            </a:r>
            <a:r>
              <a:rPr lang="en-US" sz="1500" b="1" dirty="0"/>
              <a:t>major hub airports such as ATL, ORD, and DFW experience the highest levels of operational disruptions</a:t>
            </a:r>
            <a:r>
              <a:rPr lang="en-US" sz="1500" dirty="0"/>
              <a:t>, including cancellations, diversions, and security delays. This is largely driven by </a:t>
            </a:r>
            <a:r>
              <a:rPr lang="en-US" sz="1500" b="1" dirty="0"/>
              <a:t>high flight traffic, airport congestion, and operational complexity within major aviation hubs</a:t>
            </a:r>
            <a:r>
              <a:rPr lang="en-US" sz="1500" dirty="0"/>
              <a:t>.</a:t>
            </a:r>
          </a:p>
        </p:txBody>
      </p:sp>
    </p:spTree>
    <p:extLst>
      <p:ext uri="{BB962C8B-B14F-4D97-AF65-F5344CB8AC3E}">
        <p14:creationId xmlns:p14="http://schemas.microsoft.com/office/powerpoint/2010/main" val="77838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7DB0-EB66-4F5A-8622-4AEC3A8907FD}"/>
              </a:ext>
            </a:extLst>
          </p:cNvPr>
          <p:cNvSpPr>
            <a:spLocks noGrp="1"/>
          </p:cNvSpPr>
          <p:nvPr>
            <p:ph type="title"/>
          </p:nvPr>
        </p:nvSpPr>
        <p:spPr>
          <a:xfrm>
            <a:off x="1398586" y="0"/>
            <a:ext cx="10018713" cy="904875"/>
          </a:xfrm>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DF8AD730-745E-4D3E-8477-5DDFE13BEB0B}"/>
              </a:ext>
            </a:extLst>
          </p:cNvPr>
          <p:cNvSpPr>
            <a:spLocks noGrp="1"/>
          </p:cNvSpPr>
          <p:nvPr>
            <p:ph idx="1"/>
          </p:nvPr>
        </p:nvSpPr>
        <p:spPr>
          <a:xfrm>
            <a:off x="1398586" y="1143001"/>
            <a:ext cx="10104437" cy="5200650"/>
          </a:xfrm>
        </p:spPr>
        <p:txBody>
          <a:bodyPr>
            <a:normAutofit fontScale="77500" lnSpcReduction="20000"/>
          </a:bodyPr>
          <a:lstStyle/>
          <a:p>
            <a:r>
              <a:rPr lang="en-US" dirty="0"/>
              <a:t>The analysis of approximately </a:t>
            </a:r>
            <a:r>
              <a:rPr lang="en-US" b="1" dirty="0"/>
              <a:t>6 million flight records</a:t>
            </a:r>
            <a:r>
              <a:rPr lang="en-US" dirty="0"/>
              <a:t> provides insights into operational efficiency, delays, and disruptions within the U.S. aviation network. The findings show that while the majority of flights operate as scheduled, a notable portion of operations is affected by delays, cancellations, and diversions. On average, </a:t>
            </a:r>
            <a:r>
              <a:rPr lang="en-US" b="1" dirty="0"/>
              <a:t>departure delays (9.37 minutes) are significantly higher than arrival delays (4.41 minutes)</a:t>
            </a:r>
            <a:r>
              <a:rPr lang="en-US" dirty="0"/>
              <a:t>, indicating that most disruptions originate during the </a:t>
            </a:r>
            <a:r>
              <a:rPr lang="en-US" b="1" dirty="0"/>
              <a:t>pre-departure phase</a:t>
            </a:r>
            <a:r>
              <a:rPr lang="en-US" dirty="0"/>
              <a:t>, such as aircraft preparation, crew availability, or ground operations. However, airlines are able to </a:t>
            </a:r>
            <a:r>
              <a:rPr lang="en-US" b="1" dirty="0"/>
              <a:t>partially recover these delays during flight</a:t>
            </a:r>
            <a:r>
              <a:rPr lang="en-US" dirty="0"/>
              <a:t>, reducing the impact on arrival times.</a:t>
            </a:r>
          </a:p>
          <a:p>
            <a:r>
              <a:rPr lang="en-US" dirty="0"/>
              <a:t>The analysis also highlights that </a:t>
            </a:r>
            <a:r>
              <a:rPr lang="en-US" b="1" dirty="0"/>
              <a:t>carrier-related operational issues and weather conditions are the primary drivers of cancellations</a:t>
            </a:r>
            <a:r>
              <a:rPr lang="en-US" dirty="0"/>
              <a:t>, contributing to approximately </a:t>
            </a:r>
            <a:r>
              <a:rPr lang="en-US" b="1" dirty="0"/>
              <a:t>90,000 cancelled flights</a:t>
            </a:r>
            <a:r>
              <a:rPr lang="en-US" dirty="0"/>
              <a:t>, while around </a:t>
            </a:r>
            <a:r>
              <a:rPr lang="en-US" b="1" dirty="0"/>
              <a:t>15,000 flights were diverted</a:t>
            </a:r>
            <a:r>
              <a:rPr lang="en-US" dirty="0"/>
              <a:t> due to operational or environmental factors. Disruptions are more prominent at </a:t>
            </a:r>
            <a:r>
              <a:rPr lang="en-US" b="1" dirty="0"/>
              <a:t>major aviation hubs such as Atlanta (ATL), Chicago O’Hare (ORD), and Dallas/Fort Worth (DFW)</a:t>
            </a:r>
            <a:r>
              <a:rPr lang="en-US" dirty="0"/>
              <a:t>, where high flight traffic increases the likelihood of congestion and delay propagation.</a:t>
            </a:r>
          </a:p>
          <a:p>
            <a:r>
              <a:rPr lang="en-US" dirty="0"/>
              <a:t>Correlation analysis further demonstrates that </a:t>
            </a:r>
            <a:r>
              <a:rPr lang="en-US" b="1" dirty="0"/>
              <a:t>delays are highly interconnected across airline operations and airport activities</a:t>
            </a:r>
            <a:r>
              <a:rPr lang="en-US" dirty="0"/>
              <a:t>, meaning that delays in one stage of the flight process often cascade into later stages. Overall, the findings suggest that </a:t>
            </a:r>
            <a:r>
              <a:rPr lang="en-US" b="1" dirty="0"/>
              <a:t>improving ground operations, airline scheduling efficiency, and delay management at major hub airports could significantly reduce flight disruptions and enhance overall airline operational performance</a:t>
            </a:r>
            <a:r>
              <a:rPr lang="en-US" dirty="0"/>
              <a:t>.</a:t>
            </a:r>
          </a:p>
          <a:p>
            <a:pPr marL="0" indent="0">
              <a:buNone/>
            </a:pPr>
            <a:endParaRPr lang="en-IN" dirty="0"/>
          </a:p>
        </p:txBody>
      </p:sp>
    </p:spTree>
    <p:extLst>
      <p:ext uri="{BB962C8B-B14F-4D97-AF65-F5344CB8AC3E}">
        <p14:creationId xmlns:p14="http://schemas.microsoft.com/office/powerpoint/2010/main" val="1590016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15B1CC-3B22-4D52-A795-0F4DA76AB52E}"/>
              </a:ext>
            </a:extLst>
          </p:cNvPr>
          <p:cNvSpPr>
            <a:spLocks noGrp="1"/>
          </p:cNvSpPr>
          <p:nvPr>
            <p:ph type="ctrTitle"/>
          </p:nvPr>
        </p:nvSpPr>
        <p:spPr/>
        <p:txBody>
          <a:bodyPr/>
          <a:lstStyle/>
          <a:p>
            <a:r>
              <a:rPr lang="en-US" dirty="0"/>
              <a:t>Thank You</a:t>
            </a:r>
            <a:endParaRPr lang="en-IN" dirty="0"/>
          </a:p>
        </p:txBody>
      </p:sp>
      <p:sp>
        <p:nvSpPr>
          <p:cNvPr id="5" name="Subtitle 4">
            <a:extLst>
              <a:ext uri="{FF2B5EF4-FFF2-40B4-BE49-F238E27FC236}">
                <a16:creationId xmlns:a16="http://schemas.microsoft.com/office/drawing/2014/main" id="{84E9B088-2CC3-4B87-82C2-1F77C5DFB8EC}"/>
              </a:ext>
            </a:extLst>
          </p:cNvPr>
          <p:cNvSpPr>
            <a:spLocks noGrp="1"/>
          </p:cNvSpPr>
          <p:nvPr>
            <p:ph type="subTitle" idx="1"/>
          </p:nvPr>
        </p:nvSpPr>
        <p:spPr/>
        <p:txBody>
          <a:bodyPr/>
          <a:lstStyle/>
          <a:p>
            <a:pPr marL="342900" indent="-342900" algn="r">
              <a:buFontTx/>
              <a:buChar char="-"/>
            </a:pPr>
            <a:r>
              <a:rPr lang="en-US" dirty="0"/>
              <a:t>Aditya Verma</a:t>
            </a:r>
          </a:p>
          <a:p>
            <a:pPr marL="342900" indent="-342900" algn="r">
              <a:buFontTx/>
              <a:buChar char="-"/>
            </a:pPr>
            <a:r>
              <a:rPr lang="en-US" dirty="0"/>
              <a:t>Data/Business Analyst at </a:t>
            </a:r>
            <a:r>
              <a:rPr lang="en-US" dirty="0" err="1"/>
              <a:t>Innovexis</a:t>
            </a:r>
            <a:endParaRPr lang="en-IN" dirty="0"/>
          </a:p>
        </p:txBody>
      </p:sp>
    </p:spTree>
    <p:extLst>
      <p:ext uri="{BB962C8B-B14F-4D97-AF65-F5344CB8AC3E}">
        <p14:creationId xmlns:p14="http://schemas.microsoft.com/office/powerpoint/2010/main" val="3640654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471</TotalTime>
  <Words>2758</Words>
  <Application>Microsoft Office PowerPoint</Application>
  <PresentationFormat>Widescreen</PresentationFormat>
  <Paragraphs>91</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Corbel</vt:lpstr>
      <vt:lpstr>Parallax</vt:lpstr>
      <vt:lpstr>Fly Emirates Data Analysis</vt:lpstr>
      <vt:lpstr>Introduction</vt:lpstr>
      <vt:lpstr>Agenda of the Meeting</vt:lpstr>
      <vt:lpstr>Overview</vt:lpstr>
      <vt:lpstr>Overview</vt:lpstr>
      <vt:lpstr>Delay Analysis</vt:lpstr>
      <vt:lpstr>Delay Analysis</vt:lpstr>
      <vt:lpstr>Cancellation Analysis</vt:lpstr>
      <vt:lpstr>Cancellation Analysis</vt:lpstr>
      <vt:lpstr>Cancellation and Delay Analysis</vt:lpstr>
      <vt:lpstr>Cancellation and Delay Analysis</vt:lpstr>
      <vt:lpstr>Co-Realtions</vt:lpstr>
      <vt:lpstr>Co-Realtions</vt:lpstr>
      <vt:lpstr>Key Takeaways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Verma</dc:creator>
  <cp:lastModifiedBy>Aditya Verma</cp:lastModifiedBy>
  <cp:revision>13</cp:revision>
  <dcterms:created xsi:type="dcterms:W3CDTF">2026-03-09T11:37:30Z</dcterms:created>
  <dcterms:modified xsi:type="dcterms:W3CDTF">2026-03-09T19:29:02Z</dcterms:modified>
</cp:coreProperties>
</file>