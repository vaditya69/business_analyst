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2"/>
  </p:notesMasterIdLst>
  <p:sldIdLst>
    <p:sldId id="256" r:id="rId2"/>
    <p:sldId id="257" r:id="rId3"/>
    <p:sldId id="258" r:id="rId4"/>
    <p:sldId id="262" r:id="rId5"/>
    <p:sldId id="263" r:id="rId6"/>
    <p:sldId id="264" r:id="rId7"/>
    <p:sldId id="265" r:id="rId8"/>
    <p:sldId id="266" r:id="rId9"/>
    <p:sldId id="259" r:id="rId10"/>
    <p:sldId id="26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613CB0-2888-465A-B609-FA4A1B68B40B}" type="datetimeFigureOut">
              <a:rPr lang="en-IN" smtClean="0"/>
              <a:t>25-02-2026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22EA17-B018-4CA9-B469-7872BEF740A0}" type="slidenum">
              <a:rPr lang="en-IN" smtClean="0"/>
              <a:t>‹#›</a:t>
            </a:fld>
            <a:endParaRPr lang="en-IN"/>
          </a:p>
        </p:txBody>
      </p:sp>
    </p:spTree>
    <p:extLst>
      <p:ext uri="{BB962C8B-B14F-4D97-AF65-F5344CB8AC3E}">
        <p14:creationId xmlns:p14="http://schemas.microsoft.com/office/powerpoint/2010/main" val="3389988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74C2EE-9B52-43BC-A8DC-13AD59880551}"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3456499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174C2EE-9B52-43BC-A8DC-13AD59880551}"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2711243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74C2EE-9B52-43BC-A8DC-13AD59880551}"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2144509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74C2EE-9B52-43BC-A8DC-13AD59880551}" type="datetimeFigureOut">
              <a:rPr lang="en-IN" smtClean="0"/>
              <a:t>25-02-2026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1249092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74C2EE-9B52-43BC-A8DC-13AD59880551}" type="datetimeFigureOut">
              <a:rPr lang="en-IN" smtClean="0"/>
              <a:t>25-02-2026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37575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174C2EE-9B52-43BC-A8DC-13AD59880551}" type="datetimeFigureOut">
              <a:rPr lang="en-IN" smtClean="0"/>
              <a:t>25-02-2026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1069345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174C2EE-9B52-43BC-A8DC-13AD59880551}" type="datetimeFigureOut">
              <a:rPr lang="en-IN" smtClean="0"/>
              <a:t>25-02-2026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3637487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174C2EE-9B52-43BC-A8DC-13AD59880551}" type="datetimeFigureOut">
              <a:rPr lang="en-IN" smtClean="0"/>
              <a:t>25-02-2026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56440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74C2EE-9B52-43BC-A8DC-13AD59880551}" type="datetimeFigureOut">
              <a:rPr lang="en-IN" smtClean="0"/>
              <a:t>25-02-2026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804046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74C2EE-9B52-43BC-A8DC-13AD59880551}" type="datetimeFigureOut">
              <a:rPr lang="en-IN" smtClean="0"/>
              <a:t>25-02-2026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144523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174C2EE-9B52-43BC-A8DC-13AD59880551}"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1483337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174C2EE-9B52-43BC-A8DC-13AD59880551}"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B7AF09-BA74-4CA5-A7C3-5FA1156D2FB6}"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640222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74C2EE-9B52-43BC-A8DC-13AD59880551}"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2822597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174C2EE-9B52-43BC-A8DC-13AD59880551}" type="datetimeFigureOut">
              <a:rPr lang="en-IN" smtClean="0"/>
              <a:t>25-02-2026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3998899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174C2EE-9B52-43BC-A8DC-13AD59880551}" type="datetimeFigureOut">
              <a:rPr lang="en-IN" smtClean="0"/>
              <a:t>25-02-2026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5690534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74C2EE-9B52-43BC-A8DC-13AD59880551}"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27357756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74C2EE-9B52-43BC-A8DC-13AD59880551}"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B7AF09-BA74-4CA5-A7C3-5FA1156D2FB6}" type="slidenum">
              <a:rPr lang="en-IN" smtClean="0"/>
              <a:t>‹#›</a:t>
            </a:fld>
            <a:endParaRPr lang="en-IN"/>
          </a:p>
        </p:txBody>
      </p:sp>
    </p:spTree>
    <p:extLst>
      <p:ext uri="{BB962C8B-B14F-4D97-AF65-F5344CB8AC3E}">
        <p14:creationId xmlns:p14="http://schemas.microsoft.com/office/powerpoint/2010/main" val="452695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174C2EE-9B52-43BC-A8DC-13AD59880551}" type="datetimeFigureOut">
              <a:rPr lang="en-IN" smtClean="0"/>
              <a:t>25-02-2026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0B7AF09-BA74-4CA5-A7C3-5FA1156D2FB6}" type="slidenum">
              <a:rPr lang="en-IN" smtClean="0"/>
              <a:t>‹#›</a:t>
            </a:fld>
            <a:endParaRPr lang="en-IN"/>
          </a:p>
        </p:txBody>
      </p:sp>
    </p:spTree>
    <p:extLst>
      <p:ext uri="{BB962C8B-B14F-4D97-AF65-F5344CB8AC3E}">
        <p14:creationId xmlns:p14="http://schemas.microsoft.com/office/powerpoint/2010/main" val="2822622925"/>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0.png"/><Relationship Id="rId12" Type="http://schemas.openxmlformats.org/officeDocument/2006/relationships/image" Target="../media/image17.png"/><Relationship Id="rId2" Type="http://schemas.openxmlformats.org/officeDocument/2006/relationships/notesSlide" Target="../notesSlides/notesSlide2.xml"/><Relationship Id="rId16"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2.png"/><Relationship Id="rId1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9.png"/><Relationship Id="rId3" Type="http://schemas.openxmlformats.org/officeDocument/2006/relationships/image" Target="../media/image13.png"/><Relationship Id="rId7" Type="http://schemas.openxmlformats.org/officeDocument/2006/relationships/image" Target="../media/image24.png"/><Relationship Id="rId12"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5" Type="http://schemas.openxmlformats.org/officeDocument/2006/relationships/image" Target="../media/image21.png"/><Relationship Id="rId10" Type="http://schemas.openxmlformats.org/officeDocument/2006/relationships/image" Target="../media/image15.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135B1-D2DF-4991-89CF-E95237A2338C}"/>
              </a:ext>
            </a:extLst>
          </p:cNvPr>
          <p:cNvSpPr>
            <a:spLocks noGrp="1"/>
          </p:cNvSpPr>
          <p:nvPr>
            <p:ph type="ctrTitle"/>
          </p:nvPr>
        </p:nvSpPr>
        <p:spPr/>
        <p:txBody>
          <a:bodyPr/>
          <a:lstStyle/>
          <a:p>
            <a:r>
              <a:rPr lang="en-US" dirty="0"/>
              <a:t>Ola Cabs Data Analysis</a:t>
            </a:r>
            <a:endParaRPr lang="en-IN" dirty="0"/>
          </a:p>
        </p:txBody>
      </p:sp>
      <p:sp>
        <p:nvSpPr>
          <p:cNvPr id="3" name="Subtitle 2">
            <a:extLst>
              <a:ext uri="{FF2B5EF4-FFF2-40B4-BE49-F238E27FC236}">
                <a16:creationId xmlns:a16="http://schemas.microsoft.com/office/drawing/2014/main" id="{8F071740-E30C-4B24-9C4C-24B1C74501EB}"/>
              </a:ext>
            </a:extLst>
          </p:cNvPr>
          <p:cNvSpPr>
            <a:spLocks noGrp="1"/>
          </p:cNvSpPr>
          <p:nvPr>
            <p:ph type="subTitle" idx="1"/>
          </p:nvPr>
        </p:nvSpPr>
        <p:spPr/>
        <p:txBody>
          <a:bodyPr/>
          <a:lstStyle/>
          <a:p>
            <a:pPr algn="r"/>
            <a:r>
              <a:rPr lang="en-US" dirty="0"/>
              <a:t>-Aditya Verma</a:t>
            </a:r>
          </a:p>
          <a:p>
            <a:pPr algn="r"/>
            <a:r>
              <a:rPr lang="en-US" dirty="0"/>
              <a:t>-Business/Data Analyst @Innovexis</a:t>
            </a:r>
          </a:p>
        </p:txBody>
      </p:sp>
    </p:spTree>
    <p:extLst>
      <p:ext uri="{BB962C8B-B14F-4D97-AF65-F5344CB8AC3E}">
        <p14:creationId xmlns:p14="http://schemas.microsoft.com/office/powerpoint/2010/main" val="1660385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84D1-0F3E-4602-9776-DA10C96697AA}"/>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A0A330F3-2B16-4783-AA18-D4E89CB2F4AA}"/>
              </a:ext>
            </a:extLst>
          </p:cNvPr>
          <p:cNvSpPr>
            <a:spLocks noGrp="1"/>
          </p:cNvSpPr>
          <p:nvPr>
            <p:ph idx="1"/>
          </p:nvPr>
        </p:nvSpPr>
        <p:spPr/>
        <p:txBody>
          <a:bodyPr>
            <a:normAutofit fontScale="92500" lnSpcReduction="10000"/>
          </a:bodyPr>
          <a:lstStyle/>
          <a:p>
            <a:r>
              <a:rPr lang="en-US" b="1" dirty="0"/>
              <a:t>Ola Cabs</a:t>
            </a:r>
            <a:r>
              <a:rPr lang="en-US" dirty="0"/>
              <a:t> is one of India’s largest ride-hailing platforms, operating across </a:t>
            </a:r>
            <a:r>
              <a:rPr lang="en-US" b="1" dirty="0"/>
              <a:t>250+ cities</a:t>
            </a:r>
            <a:r>
              <a:rPr lang="en-US" dirty="0"/>
              <a:t> and serving </a:t>
            </a:r>
            <a:r>
              <a:rPr lang="en-US" b="1" dirty="0"/>
              <a:t>millions of users daily</a:t>
            </a:r>
            <a:r>
              <a:rPr lang="en-US" dirty="0"/>
              <a:t> through a network of </a:t>
            </a:r>
            <a:r>
              <a:rPr lang="en-US" b="1" dirty="0"/>
              <a:t>over a million driver-partners</a:t>
            </a:r>
            <a:r>
              <a:rPr lang="en-US" dirty="0"/>
              <a:t>. The platform supports multiple mobility offerings, including bike taxis, auto-rickshaws, and cabs, enabling high-frequency, real-time transactions at scale. With such operational intensity, Ola generates </a:t>
            </a:r>
            <a:r>
              <a:rPr lang="en-US" b="1" dirty="0"/>
              <a:t>massive volumes of data across bookings, rides, cancellations, ratings, and driver activity</a:t>
            </a:r>
            <a:r>
              <a:rPr lang="en-US" dirty="0"/>
              <a:t>, making data analytics a critical component for optimizing performance and customer experience.</a:t>
            </a:r>
          </a:p>
          <a:p>
            <a:r>
              <a:rPr lang="en-US" dirty="0"/>
              <a:t>As part of this project, I conducted an </a:t>
            </a:r>
            <a:r>
              <a:rPr lang="en-US" b="1" dirty="0"/>
              <a:t>end-to-end data analysis on over 1,00,000 ride records using SQL</a:t>
            </a:r>
            <a:r>
              <a:rPr lang="en-US" dirty="0"/>
              <a:t>. The analysis focused on understanding </a:t>
            </a:r>
            <a:r>
              <a:rPr lang="en-US" b="1" dirty="0"/>
              <a:t>customer behavior</a:t>
            </a:r>
            <a:r>
              <a:rPr lang="en-US" dirty="0"/>
              <a:t>, </a:t>
            </a:r>
            <a:r>
              <a:rPr lang="en-US" b="1" dirty="0"/>
              <a:t>driver performance</a:t>
            </a:r>
            <a:r>
              <a:rPr lang="en-US" dirty="0"/>
              <a:t>, </a:t>
            </a:r>
            <a:r>
              <a:rPr lang="en-US" b="1" dirty="0"/>
              <a:t>cancellation patterns</a:t>
            </a:r>
            <a:r>
              <a:rPr lang="en-US" dirty="0"/>
              <a:t>, and </a:t>
            </a:r>
            <a:r>
              <a:rPr lang="en-US" b="1" dirty="0"/>
              <a:t>rating dynamics</a:t>
            </a:r>
            <a:r>
              <a:rPr lang="en-US" dirty="0"/>
              <a:t>, with the objective of identifying operational bottlenecks, service quality gaps, and opportunities for improvement across the ride lifecycle.</a:t>
            </a:r>
          </a:p>
        </p:txBody>
      </p:sp>
    </p:spTree>
    <p:extLst>
      <p:ext uri="{BB962C8B-B14F-4D97-AF65-F5344CB8AC3E}">
        <p14:creationId xmlns:p14="http://schemas.microsoft.com/office/powerpoint/2010/main" val="4168318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76409-F8F6-4B4C-BA63-15AC6CA1A120}"/>
              </a:ext>
            </a:extLst>
          </p:cNvPr>
          <p:cNvSpPr>
            <a:spLocks noGrp="1"/>
          </p:cNvSpPr>
          <p:nvPr>
            <p:ph type="title"/>
          </p:nvPr>
        </p:nvSpPr>
        <p:spPr/>
        <p:txBody>
          <a:bodyPr/>
          <a:lstStyle/>
          <a:p>
            <a:r>
              <a:rPr lang="en-US" dirty="0"/>
              <a:t>Agenda of the Meeting</a:t>
            </a:r>
            <a:endParaRPr lang="en-IN" dirty="0"/>
          </a:p>
        </p:txBody>
      </p:sp>
      <p:sp>
        <p:nvSpPr>
          <p:cNvPr id="3" name="Content Placeholder 2">
            <a:extLst>
              <a:ext uri="{FF2B5EF4-FFF2-40B4-BE49-F238E27FC236}">
                <a16:creationId xmlns:a16="http://schemas.microsoft.com/office/drawing/2014/main" id="{CD0DA94B-7D63-4AFC-8743-CFC200FC8B45}"/>
              </a:ext>
            </a:extLst>
          </p:cNvPr>
          <p:cNvSpPr>
            <a:spLocks noGrp="1"/>
          </p:cNvSpPr>
          <p:nvPr>
            <p:ph idx="1"/>
          </p:nvPr>
        </p:nvSpPr>
        <p:spPr/>
        <p:txBody>
          <a:bodyPr>
            <a:normAutofit fontScale="85000" lnSpcReduction="20000"/>
          </a:bodyPr>
          <a:lstStyle/>
          <a:p>
            <a:r>
              <a:rPr lang="en-US" dirty="0"/>
              <a:t>The project involved:</a:t>
            </a:r>
          </a:p>
          <a:p>
            <a:r>
              <a:rPr lang="en-US" dirty="0"/>
              <a:t>Performed comprehensive </a:t>
            </a:r>
            <a:r>
              <a:rPr lang="en-US" b="1" dirty="0"/>
              <a:t>data cleaning and preprocessing</a:t>
            </a:r>
            <a:r>
              <a:rPr lang="en-US" dirty="0"/>
              <a:t>, addressing missing, inconsistent, and noisy values to ensure data accuracy and reliability. This included standardizing SQL NULL values to the text 'null' where required for consistency during data ingestion and transformation. </a:t>
            </a:r>
          </a:p>
          <a:p>
            <a:r>
              <a:rPr lang="en-US" dirty="0"/>
              <a:t>Conducted </a:t>
            </a:r>
            <a:r>
              <a:rPr lang="en-US" b="1" dirty="0"/>
              <a:t>Exploratory Data Analysis (EDA) </a:t>
            </a:r>
            <a:r>
              <a:rPr lang="en-US" dirty="0"/>
              <a:t>using SQL to uncover key trends, patterns, and anomalies across the dataset. </a:t>
            </a:r>
          </a:p>
          <a:p>
            <a:r>
              <a:rPr lang="en-US" dirty="0"/>
              <a:t>Analyzed </a:t>
            </a:r>
            <a:r>
              <a:rPr lang="en-US" b="1" dirty="0"/>
              <a:t>customer vs driver ratings</a:t>
            </a:r>
            <a:r>
              <a:rPr lang="en-US" dirty="0"/>
              <a:t>, cancellation reasons, and operational performance metrics to identify root causes of service inefficiencies and customer dissatisfaction. </a:t>
            </a:r>
          </a:p>
          <a:p>
            <a:r>
              <a:rPr lang="en-US" dirty="0"/>
              <a:t>Translated analytical findings into </a:t>
            </a:r>
            <a:r>
              <a:rPr lang="en-US" b="1" dirty="0"/>
              <a:t>data-driven insights and actionable recommendations</a:t>
            </a:r>
            <a:r>
              <a:rPr lang="en-US" dirty="0"/>
              <a:t>, focusing on improving customer experience, optimizing driver operations, and reducing avoidable cancellations. </a:t>
            </a:r>
          </a:p>
          <a:p>
            <a:r>
              <a:rPr lang="en-US" b="1" dirty="0"/>
              <a:t>Consolidated all insights and recommendations </a:t>
            </a:r>
            <a:r>
              <a:rPr lang="en-US" dirty="0"/>
              <a:t>into a structured, stakeholder-focused presentation, highlighting key metrics, visual trends, and practical solutions to support informed business decisions.</a:t>
            </a:r>
            <a:endParaRPr lang="en-IN" dirty="0"/>
          </a:p>
        </p:txBody>
      </p:sp>
    </p:spTree>
    <p:extLst>
      <p:ext uri="{BB962C8B-B14F-4D97-AF65-F5344CB8AC3E}">
        <p14:creationId xmlns:p14="http://schemas.microsoft.com/office/powerpoint/2010/main" val="2766377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0"/>
            <a:ext cx="3072984" cy="6858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3A3A3A"/>
              </a:solidFill>
              <a:latin typeface="Arial"/>
              <a:ea typeface="Arial"/>
              <a:cs typeface="Arial"/>
              <a:sym typeface="Arial"/>
            </a:endParaRPr>
          </a:p>
        </p:txBody>
      </p:sp>
      <p:sp>
        <p:nvSpPr>
          <p:cNvPr id="85" name="Google Shape;85;p1"/>
          <p:cNvSpPr/>
          <p:nvPr/>
        </p:nvSpPr>
        <p:spPr>
          <a:xfrm>
            <a:off x="257331" y="147033"/>
            <a:ext cx="732020" cy="730233"/>
          </a:xfrm>
          <a:prstGeom prst="ellipse">
            <a:avLst/>
          </a:prstGeom>
          <a:solidFill>
            <a:srgbClr val="747474"/>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6" name="Google Shape;86;p1"/>
          <p:cNvSpPr/>
          <p:nvPr/>
        </p:nvSpPr>
        <p:spPr>
          <a:xfrm>
            <a:off x="0" y="1083487"/>
            <a:ext cx="3072984" cy="856684"/>
          </a:xfrm>
          <a:prstGeom prst="rect">
            <a:avLst/>
          </a:prstGeom>
          <a:solidFill>
            <a:srgbClr val="92D050"/>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87" name="Google Shape;87;p1" descr="Scatterplot with solid fill"/>
          <p:cNvPicPr preferRelativeResize="0"/>
          <p:nvPr/>
        </p:nvPicPr>
        <p:blipFill rotWithShape="1">
          <a:blip r:embed="rId3">
            <a:alphaModFix/>
          </a:blip>
          <a:srcRect/>
          <a:stretch/>
        </p:blipFill>
        <p:spPr>
          <a:xfrm>
            <a:off x="257331" y="1111763"/>
            <a:ext cx="732020" cy="732020"/>
          </a:xfrm>
          <a:prstGeom prst="rect">
            <a:avLst/>
          </a:prstGeom>
          <a:noFill/>
          <a:ln>
            <a:noFill/>
          </a:ln>
        </p:spPr>
      </p:pic>
      <p:pic>
        <p:nvPicPr>
          <p:cNvPr id="88" name="Google Shape;88;p1" descr="Car with solid fill"/>
          <p:cNvPicPr preferRelativeResize="0"/>
          <p:nvPr/>
        </p:nvPicPr>
        <p:blipFill rotWithShape="1">
          <a:blip r:embed="rId4">
            <a:alphaModFix/>
          </a:blip>
          <a:srcRect/>
          <a:stretch/>
        </p:blipFill>
        <p:spPr>
          <a:xfrm>
            <a:off x="257331" y="2138592"/>
            <a:ext cx="914400" cy="914400"/>
          </a:xfrm>
          <a:prstGeom prst="rect">
            <a:avLst/>
          </a:prstGeom>
          <a:noFill/>
          <a:ln>
            <a:noFill/>
          </a:ln>
        </p:spPr>
      </p:pic>
      <p:pic>
        <p:nvPicPr>
          <p:cNvPr id="89" name="Google Shape;89;p1" descr="Rupee with solid fill"/>
          <p:cNvPicPr preferRelativeResize="0"/>
          <p:nvPr/>
        </p:nvPicPr>
        <p:blipFill rotWithShape="1">
          <a:blip r:embed="rId5">
            <a:alphaModFix/>
          </a:blip>
          <a:srcRect/>
          <a:stretch/>
        </p:blipFill>
        <p:spPr>
          <a:xfrm>
            <a:off x="348522" y="3431194"/>
            <a:ext cx="567128" cy="567128"/>
          </a:xfrm>
          <a:prstGeom prst="rect">
            <a:avLst/>
          </a:prstGeom>
          <a:noFill/>
          <a:ln>
            <a:noFill/>
          </a:ln>
        </p:spPr>
      </p:pic>
      <p:pic>
        <p:nvPicPr>
          <p:cNvPr id="90" name="Google Shape;90;p1" descr="Crash with solid fill"/>
          <p:cNvPicPr preferRelativeResize="0"/>
          <p:nvPr/>
        </p:nvPicPr>
        <p:blipFill rotWithShape="1">
          <a:blip r:embed="rId6">
            <a:alphaModFix/>
          </a:blip>
          <a:srcRect/>
          <a:stretch/>
        </p:blipFill>
        <p:spPr>
          <a:xfrm>
            <a:off x="237343" y="4232819"/>
            <a:ext cx="914400" cy="914400"/>
          </a:xfrm>
          <a:prstGeom prst="rect">
            <a:avLst/>
          </a:prstGeom>
          <a:noFill/>
          <a:ln>
            <a:noFill/>
          </a:ln>
        </p:spPr>
      </p:pic>
      <p:pic>
        <p:nvPicPr>
          <p:cNvPr id="91" name="Google Shape;91;p1" descr="Rating with solid fill"/>
          <p:cNvPicPr preferRelativeResize="0"/>
          <p:nvPr/>
        </p:nvPicPr>
        <p:blipFill rotWithShape="1">
          <a:blip r:embed="rId7">
            <a:alphaModFix/>
          </a:blip>
          <a:srcRect/>
          <a:stretch/>
        </p:blipFill>
        <p:spPr>
          <a:xfrm>
            <a:off x="174886" y="5559253"/>
            <a:ext cx="914400" cy="914400"/>
          </a:xfrm>
          <a:prstGeom prst="rect">
            <a:avLst/>
          </a:prstGeom>
          <a:noFill/>
          <a:ln>
            <a:noFill/>
          </a:ln>
        </p:spPr>
      </p:pic>
      <p:sp>
        <p:nvSpPr>
          <p:cNvPr id="92" name="Google Shape;92;p1"/>
          <p:cNvSpPr txBox="1"/>
          <p:nvPr/>
        </p:nvSpPr>
        <p:spPr>
          <a:xfrm>
            <a:off x="1089286" y="1275036"/>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chemeClr val="lt1"/>
                </a:solidFill>
                <a:latin typeface="Poppins"/>
                <a:ea typeface="Poppins"/>
                <a:cs typeface="Poppins"/>
                <a:sym typeface="Poppins"/>
              </a:rPr>
              <a:t>Overall</a:t>
            </a:r>
            <a:endParaRPr sz="2000">
              <a:solidFill>
                <a:schemeClr val="lt1"/>
              </a:solidFill>
              <a:latin typeface="Poppins"/>
              <a:ea typeface="Poppins"/>
              <a:cs typeface="Poppins"/>
              <a:sym typeface="Poppins"/>
            </a:endParaRPr>
          </a:p>
        </p:txBody>
      </p:sp>
      <p:sp>
        <p:nvSpPr>
          <p:cNvPr id="93" name="Google Shape;93;p1"/>
          <p:cNvSpPr txBox="1"/>
          <p:nvPr/>
        </p:nvSpPr>
        <p:spPr>
          <a:xfrm>
            <a:off x="1151742" y="2377987"/>
            <a:ext cx="192124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Vehicle Type</a:t>
            </a:r>
            <a:endParaRPr sz="2000">
              <a:solidFill>
                <a:srgbClr val="AEAEAE"/>
              </a:solidFill>
              <a:latin typeface="Poppins"/>
              <a:ea typeface="Poppins"/>
              <a:cs typeface="Poppins"/>
              <a:sym typeface="Poppins"/>
            </a:endParaRPr>
          </a:p>
        </p:txBody>
      </p:sp>
      <p:sp>
        <p:nvSpPr>
          <p:cNvPr id="94" name="Google Shape;94;p1"/>
          <p:cNvSpPr txBox="1"/>
          <p:nvPr/>
        </p:nvSpPr>
        <p:spPr>
          <a:xfrm>
            <a:off x="1151743" y="3468924"/>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Revenue</a:t>
            </a:r>
            <a:endParaRPr sz="2000">
              <a:solidFill>
                <a:srgbClr val="AEAEAE"/>
              </a:solidFill>
              <a:latin typeface="Poppins"/>
              <a:ea typeface="Poppins"/>
              <a:cs typeface="Poppins"/>
              <a:sym typeface="Poppins"/>
            </a:endParaRPr>
          </a:p>
        </p:txBody>
      </p:sp>
      <p:sp>
        <p:nvSpPr>
          <p:cNvPr id="95" name="Google Shape;95;p1"/>
          <p:cNvSpPr txBox="1"/>
          <p:nvPr/>
        </p:nvSpPr>
        <p:spPr>
          <a:xfrm>
            <a:off x="1089286" y="4597596"/>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Cancellation</a:t>
            </a:r>
            <a:endParaRPr sz="2000">
              <a:solidFill>
                <a:srgbClr val="AEAEAE"/>
              </a:solidFill>
              <a:latin typeface="Poppins"/>
              <a:ea typeface="Poppins"/>
              <a:cs typeface="Poppins"/>
              <a:sym typeface="Poppins"/>
            </a:endParaRPr>
          </a:p>
        </p:txBody>
      </p:sp>
      <p:sp>
        <p:nvSpPr>
          <p:cNvPr id="96" name="Google Shape;96;p1"/>
          <p:cNvSpPr txBox="1"/>
          <p:nvPr/>
        </p:nvSpPr>
        <p:spPr>
          <a:xfrm>
            <a:off x="1151743" y="5746443"/>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Ratings</a:t>
            </a:r>
            <a:endParaRPr sz="2000">
              <a:solidFill>
                <a:srgbClr val="AEAEAE"/>
              </a:solidFill>
              <a:latin typeface="Poppins"/>
              <a:ea typeface="Poppins"/>
              <a:cs typeface="Poppins"/>
              <a:sym typeface="Poppins"/>
            </a:endParaRPr>
          </a:p>
        </p:txBody>
      </p:sp>
      <p:pic>
        <p:nvPicPr>
          <p:cNvPr id="97" name="Google Shape;97;p1" descr="A white text on a black background&#10;&#10;Description automatically generated"/>
          <p:cNvPicPr preferRelativeResize="0"/>
          <p:nvPr/>
        </p:nvPicPr>
        <p:blipFill rotWithShape="1">
          <a:blip r:embed="rId8">
            <a:alphaModFix/>
          </a:blip>
          <a:srcRect/>
          <a:stretch/>
        </p:blipFill>
        <p:spPr>
          <a:xfrm>
            <a:off x="1099279" y="179363"/>
            <a:ext cx="1279161" cy="683593"/>
          </a:xfrm>
          <a:prstGeom prst="rect">
            <a:avLst/>
          </a:prstGeom>
          <a:noFill/>
          <a:ln>
            <a:noFill/>
          </a:ln>
        </p:spPr>
      </p:pic>
      <p:pic>
        <p:nvPicPr>
          <p:cNvPr id="98" name="Google Shape;98;p1" descr="A yellow circle with black lines&#10;&#10;Description automatically generated"/>
          <p:cNvPicPr preferRelativeResize="0"/>
          <p:nvPr/>
        </p:nvPicPr>
        <p:blipFill rotWithShape="1">
          <a:blip r:embed="rId9">
            <a:alphaModFix/>
          </a:blip>
          <a:srcRect/>
          <a:stretch/>
        </p:blipFill>
        <p:spPr>
          <a:xfrm>
            <a:off x="-41778" y="-154924"/>
            <a:ext cx="1330237" cy="1330237"/>
          </a:xfrm>
          <a:prstGeom prst="rect">
            <a:avLst/>
          </a:prstGeom>
          <a:noFill/>
          <a:ln>
            <a:noFill/>
          </a:ln>
        </p:spPr>
      </p:pic>
      <p:sp>
        <p:nvSpPr>
          <p:cNvPr id="4" name="Rectangle 2">
            <a:extLst>
              <a:ext uri="{FF2B5EF4-FFF2-40B4-BE49-F238E27FC236}">
                <a16:creationId xmlns:a16="http://schemas.microsoft.com/office/drawing/2014/main" id="{7463A7B0-C284-4147-9583-F74B27C29D9A}"/>
              </a:ext>
            </a:extLst>
          </p:cNvPr>
          <p:cNvSpPr>
            <a:spLocks noChangeArrowheads="1"/>
          </p:cNvSpPr>
          <p:nvPr/>
        </p:nvSpPr>
        <p:spPr bwMode="auto">
          <a:xfrm rot="10800000" flipV="1">
            <a:off x="3247869" y="144937"/>
            <a:ext cx="8706787" cy="6647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64% of total bookings (~63.9K rides)</a:t>
            </a:r>
            <a:r>
              <a:rPr kumimoji="0" lang="en-US" altLang="en-US" sz="1800" b="0" i="0" u="none" strike="noStrike" cap="none" normalizeH="0" baseline="0" dirty="0">
                <a:ln>
                  <a:noFill/>
                </a:ln>
                <a:solidFill>
                  <a:schemeClr val="tx1"/>
                </a:solidFill>
                <a:effectLst/>
                <a:latin typeface="Arial" panose="020B0604020202020204" pitchFamily="34" charset="0"/>
              </a:rPr>
              <a:t> were successfully completed, while </a:t>
            </a:r>
            <a:r>
              <a:rPr kumimoji="0" lang="en-US" altLang="en-US" sz="1800" b="1" i="0" u="none" strike="noStrike" cap="none" normalizeH="0" baseline="0" dirty="0">
                <a:ln>
                  <a:noFill/>
                </a:ln>
                <a:solidFill>
                  <a:schemeClr val="tx1"/>
                </a:solidFill>
                <a:effectLst/>
                <a:latin typeface="Arial" panose="020B0604020202020204" pitchFamily="34" charset="0"/>
              </a:rPr>
              <a:t>36% resulted in cancellations or failures</a:t>
            </a:r>
            <a:r>
              <a:rPr kumimoji="0" lang="en-US" altLang="en-US" sz="1800" b="0" i="0" u="none" strike="noStrike" cap="none" normalizeH="0" baseline="0" dirty="0">
                <a:ln>
                  <a:noFill/>
                </a:ln>
                <a:solidFill>
                  <a:schemeClr val="tx1"/>
                </a:solidFill>
                <a:effectLst/>
                <a:latin typeface="Arial" panose="020B0604020202020204" pitchFamily="34" charset="0"/>
              </a:rPr>
              <a:t>, indicating a meaningful opportunity for operational improvement.</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Among failed bookings, </a:t>
            </a:r>
            <a:r>
              <a:rPr kumimoji="0" lang="en-US" altLang="en-US" sz="1800" b="1" i="0" u="none" strike="noStrike" cap="none" normalizeH="0" baseline="0" dirty="0">
                <a:ln>
                  <a:noFill/>
                </a:ln>
                <a:solidFill>
                  <a:schemeClr val="tx1"/>
                </a:solidFill>
                <a:effectLst/>
                <a:latin typeface="Arial" panose="020B0604020202020204" pitchFamily="34" charset="0"/>
              </a:rPr>
              <a:t>driver-side cancellations (~18.4K)</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driver unavailability (~10.1K)</a:t>
            </a:r>
            <a:r>
              <a:rPr kumimoji="0" lang="en-US" altLang="en-US" sz="1800" b="0" i="0" u="none" strike="noStrike" cap="none" normalizeH="0" baseline="0" dirty="0">
                <a:ln>
                  <a:noFill/>
                </a:ln>
                <a:solidFill>
                  <a:schemeClr val="tx1"/>
                </a:solidFill>
                <a:effectLst/>
                <a:latin typeface="Arial" panose="020B0604020202020204" pitchFamily="34" charset="0"/>
              </a:rPr>
              <a:t> together account for the largest share, exceeding customer-initiated cancellations (</a:t>
            </a:r>
            <a:r>
              <a:rPr kumimoji="0" lang="en-US" altLang="en-US" sz="1800" b="1" i="0" u="none" strike="noStrike" cap="none" normalizeH="0" baseline="0" dirty="0">
                <a:ln>
                  <a:noFill/>
                </a:ln>
                <a:solidFill>
                  <a:schemeClr val="tx1"/>
                </a:solidFill>
                <a:effectLst/>
                <a:latin typeface="Arial" panose="020B0604020202020204" pitchFamily="34" charset="0"/>
              </a:rPr>
              <a:t>~10.5K</a:t>
            </a:r>
            <a:r>
              <a:rPr kumimoji="0" lang="en-US" altLang="en-US" sz="1800" b="0" i="0" u="none" strike="noStrike" cap="none" normalizeH="0" baseline="0" dirty="0">
                <a:ln>
                  <a:noFill/>
                </a:ln>
                <a:solidFill>
                  <a:schemeClr val="tx1"/>
                </a:solidFill>
                <a:effectLst/>
                <a:latin typeface="Arial" panose="020B0604020202020204" pitchFamily="34" charset="0"/>
              </a:rPr>
              <a:t>), highlighting </a:t>
            </a:r>
            <a:r>
              <a:rPr kumimoji="0" lang="en-US" altLang="en-US" sz="1800" b="1" i="0" u="none" strike="noStrike" cap="none" normalizeH="0" baseline="0" dirty="0">
                <a:ln>
                  <a:noFill/>
                </a:ln>
                <a:solidFill>
                  <a:schemeClr val="tx1"/>
                </a:solidFill>
                <a:effectLst/>
                <a:latin typeface="Arial" panose="020B0604020202020204" pitchFamily="34" charset="0"/>
              </a:rPr>
              <a:t>supply-side operational constraints</a:t>
            </a:r>
            <a:r>
              <a:rPr kumimoji="0" lang="en-US" altLang="en-US" sz="1800" b="0" i="0" u="none" strike="noStrike" cap="none" normalizeH="0" baseline="0" dirty="0">
                <a:ln>
                  <a:noFill/>
                </a:ln>
                <a:solidFill>
                  <a:schemeClr val="tx1"/>
                </a:solidFill>
                <a:effectLst/>
                <a:latin typeface="Arial" panose="020B0604020202020204" pitchFamily="34" charset="0"/>
              </a:rPr>
              <a:t> as a primary issue.</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Booking demand remains </a:t>
            </a:r>
            <a:r>
              <a:rPr kumimoji="0" lang="en-US" altLang="en-US" sz="1800" b="1" i="0" u="none" strike="noStrike" cap="none" normalizeH="0" baseline="0" dirty="0">
                <a:ln>
                  <a:noFill/>
                </a:ln>
                <a:solidFill>
                  <a:schemeClr val="tx1"/>
                </a:solidFill>
                <a:effectLst/>
                <a:latin typeface="Arial" panose="020B0604020202020204" pitchFamily="34" charset="0"/>
              </a:rPr>
              <a:t>relatively stable across all hours of the day</a:t>
            </a:r>
            <a:r>
              <a:rPr kumimoji="0" lang="en-US" altLang="en-US" sz="1800" b="0" i="0" u="none" strike="noStrike" cap="none" normalizeH="0" baseline="0" dirty="0">
                <a:ln>
                  <a:noFill/>
                </a:ln>
                <a:solidFill>
                  <a:schemeClr val="tx1"/>
                </a:solidFill>
                <a:effectLst/>
                <a:latin typeface="Arial" panose="020B0604020202020204" pitchFamily="34" charset="0"/>
              </a:rPr>
              <a:t>, with no extreme peaks or troughs, suggesting consistent platform usage rather than time-specific dependency.</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Customer and driver ratings average ~4.0</a:t>
            </a:r>
            <a:r>
              <a:rPr kumimoji="0" lang="en-US" altLang="en-US" sz="1800" b="0" i="0" u="none" strike="noStrike" cap="none" normalizeH="0" baseline="0" dirty="0">
                <a:ln>
                  <a:noFill/>
                </a:ln>
                <a:solidFill>
                  <a:schemeClr val="tx1"/>
                </a:solidFill>
                <a:effectLst/>
                <a:latin typeface="Arial" panose="020B0604020202020204" pitchFamily="34" charset="0"/>
              </a:rPr>
              <a:t>, with the majority of rides falling within the </a:t>
            </a:r>
            <a:r>
              <a:rPr kumimoji="0" lang="en-US" altLang="en-US" sz="1800" b="1" i="0" u="none" strike="noStrike" cap="none" normalizeH="0" baseline="0" dirty="0">
                <a:ln>
                  <a:noFill/>
                </a:ln>
                <a:solidFill>
                  <a:schemeClr val="tx1"/>
                </a:solidFill>
                <a:effectLst/>
                <a:latin typeface="Arial" panose="020B0604020202020204" pitchFamily="34" charset="0"/>
              </a:rPr>
              <a:t>3–5 rating brackets</a:t>
            </a:r>
            <a:r>
              <a:rPr kumimoji="0" lang="en-US" altLang="en-US" sz="1800" b="0" i="0" u="none" strike="noStrike" cap="none" normalizeH="0" baseline="0" dirty="0">
                <a:ln>
                  <a:noFill/>
                </a:ln>
                <a:solidFill>
                  <a:schemeClr val="tx1"/>
                </a:solidFill>
                <a:effectLst/>
                <a:latin typeface="Arial" panose="020B0604020202020204" pitchFamily="34" charset="0"/>
              </a:rPr>
              <a:t>, indicating generally positive service perception and aligned satisfaction between customers and drivers.</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Prime Sedan and Prime Plus</a:t>
            </a:r>
            <a:r>
              <a:rPr kumimoji="0" lang="en-US" altLang="en-US" sz="1800" b="0" i="0" u="none" strike="noStrike" cap="none" normalizeH="0" baseline="0" dirty="0">
                <a:ln>
                  <a:noFill/>
                </a:ln>
                <a:solidFill>
                  <a:schemeClr val="tx1"/>
                </a:solidFill>
                <a:effectLst/>
                <a:latin typeface="Arial" panose="020B0604020202020204" pitchFamily="34" charset="0"/>
              </a:rPr>
              <a:t> vehicle categories contribute the </a:t>
            </a:r>
            <a:r>
              <a:rPr kumimoji="0" lang="en-US" altLang="en-US" sz="1800" b="1" i="0" u="none" strike="noStrike" cap="none" normalizeH="0" baseline="0" dirty="0">
                <a:ln>
                  <a:noFill/>
                </a:ln>
                <a:solidFill>
                  <a:schemeClr val="tx1"/>
                </a:solidFill>
                <a:effectLst/>
                <a:latin typeface="Arial" panose="020B0604020202020204" pitchFamily="34" charset="0"/>
              </a:rPr>
              <a:t>highest total ride distance</a:t>
            </a:r>
            <a:r>
              <a:rPr kumimoji="0" lang="en-US" altLang="en-US" sz="1800" b="0" i="0" u="none" strike="noStrike" cap="none" normalizeH="0" baseline="0" dirty="0">
                <a:ln>
                  <a:noFill/>
                </a:ln>
                <a:solidFill>
                  <a:schemeClr val="tx1"/>
                </a:solidFill>
                <a:effectLst/>
                <a:latin typeface="Arial" panose="020B0604020202020204" pitchFamily="34" charset="0"/>
              </a:rPr>
              <a:t>, while </a:t>
            </a:r>
            <a:r>
              <a:rPr kumimoji="0" lang="en-US" altLang="en-US" sz="1800" b="1" i="0" u="none" strike="noStrike" cap="none" normalizeH="0" baseline="0" dirty="0">
                <a:ln>
                  <a:noFill/>
                </a:ln>
                <a:solidFill>
                  <a:schemeClr val="tx1"/>
                </a:solidFill>
                <a:effectLst/>
                <a:latin typeface="Arial" panose="020B0604020202020204" pitchFamily="34" charset="0"/>
              </a:rPr>
              <a:t>average customer ratings remain nearly uniform across all vehicle types</a:t>
            </a:r>
            <a:r>
              <a:rPr kumimoji="0" lang="en-US" altLang="en-US" sz="1800" b="0" i="0" u="none" strike="noStrike" cap="none" normalizeH="0" baseline="0" dirty="0">
                <a:ln>
                  <a:noFill/>
                </a:ln>
                <a:solidFill>
                  <a:schemeClr val="tx1"/>
                </a:solidFill>
                <a:effectLst/>
                <a:latin typeface="Arial" panose="020B0604020202020204" pitchFamily="34" charset="0"/>
              </a:rPr>
              <a:t>, showing no significant quality gap between service categories.</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Digital payment methods (UPI and cards)</a:t>
            </a:r>
            <a:r>
              <a:rPr kumimoji="0" lang="en-US" altLang="en-US" sz="1800" b="0" i="0" u="none" strike="noStrike" cap="none" normalizeH="0" baseline="0" dirty="0">
                <a:ln>
                  <a:noFill/>
                </a:ln>
                <a:solidFill>
                  <a:schemeClr val="tx1"/>
                </a:solidFill>
                <a:effectLst/>
                <a:latin typeface="Arial" panose="020B0604020202020204" pitchFamily="34" charset="0"/>
              </a:rPr>
              <a:t> contribute </a:t>
            </a:r>
            <a:r>
              <a:rPr kumimoji="0" lang="en-US" altLang="en-US" sz="1800" b="1" i="0" u="none" strike="noStrike" cap="none" normalizeH="0" baseline="0" dirty="0">
                <a:ln>
                  <a:noFill/>
                </a:ln>
                <a:solidFill>
                  <a:schemeClr val="tx1"/>
                </a:solidFill>
                <a:effectLst/>
                <a:latin typeface="Arial" panose="020B0604020202020204" pitchFamily="34" charset="0"/>
              </a:rPr>
              <a:t>over 60% of total booking value</a:t>
            </a:r>
            <a:r>
              <a:rPr kumimoji="0" lang="en-US" altLang="en-US" sz="1800" b="0" i="0" u="none" strike="noStrike" cap="none" normalizeH="0" baseline="0" dirty="0">
                <a:ln>
                  <a:noFill/>
                </a:ln>
                <a:solidFill>
                  <a:schemeClr val="tx1"/>
                </a:solidFill>
                <a:effectLst/>
                <a:latin typeface="Arial" panose="020B0604020202020204" pitchFamily="34" charset="0"/>
              </a:rPr>
              <a:t>, while a noticeable portion of transactions is associated with </a:t>
            </a:r>
            <a:r>
              <a:rPr kumimoji="0" lang="en-US" altLang="en-US" sz="1800" b="1" i="0" u="none" strike="noStrike" cap="none" normalizeH="0" baseline="0" dirty="0">
                <a:ln>
                  <a:noFill/>
                </a:ln>
                <a:solidFill>
                  <a:schemeClr val="tx1"/>
                </a:solidFill>
                <a:effectLst/>
                <a:latin typeface="Arial" panose="020B0604020202020204" pitchFamily="34" charset="0"/>
              </a:rPr>
              <a:t>null payment records</a:t>
            </a:r>
            <a:r>
              <a:rPr kumimoji="0" lang="en-US" altLang="en-US" sz="1800" b="0" i="0" u="none" strike="noStrike" cap="none" normalizeH="0" baseline="0" dirty="0">
                <a:ln>
                  <a:noFill/>
                </a:ln>
                <a:solidFill>
                  <a:schemeClr val="tx1"/>
                </a:solidFill>
                <a:effectLst/>
                <a:latin typeface="Arial" panose="020B0604020202020204" pitchFamily="34" charset="0"/>
              </a:rPr>
              <a:t>, pointing to </a:t>
            </a:r>
            <a:r>
              <a:rPr kumimoji="0" lang="en-US" altLang="en-US" sz="1800" b="1" i="0" u="none" strike="noStrike" cap="none" normalizeH="0" baseline="0" dirty="0">
                <a:ln>
                  <a:noFill/>
                </a:ln>
                <a:solidFill>
                  <a:schemeClr val="tx1"/>
                </a:solidFill>
                <a:effectLst/>
                <a:latin typeface="Arial" panose="020B0604020202020204" pitchFamily="34" charset="0"/>
              </a:rPr>
              <a:t>data capture or reporting gaps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small group of customers contributes </a:t>
            </a:r>
            <a:r>
              <a:rPr kumimoji="0" lang="en-US" altLang="en-US" sz="1800" b="1" i="0" u="none" strike="noStrike" cap="none" normalizeH="0" baseline="0" dirty="0">
                <a:ln>
                  <a:noFill/>
                </a:ln>
                <a:solidFill>
                  <a:schemeClr val="tx1"/>
                </a:solidFill>
                <a:effectLst/>
                <a:latin typeface="Arial" panose="020B0604020202020204" pitchFamily="34" charset="0"/>
              </a:rPr>
              <a:t>disproportionately higher booking value</a:t>
            </a:r>
            <a:r>
              <a:rPr kumimoji="0" lang="en-US" altLang="en-US" sz="1800" b="0" i="0" u="none" strike="noStrike" cap="none" normalizeH="0" baseline="0" dirty="0">
                <a:ln>
                  <a:noFill/>
                </a:ln>
                <a:solidFill>
                  <a:schemeClr val="tx1"/>
                </a:solidFill>
                <a:effectLst/>
                <a:latin typeface="Arial" panose="020B0604020202020204" pitchFamily="34" charset="0"/>
              </a:rPr>
              <a:t>, with top users generating </a:t>
            </a:r>
            <a:r>
              <a:rPr kumimoji="0" lang="en-US" altLang="en-US" sz="1800" b="1" i="0" u="none" strike="noStrike" cap="none" normalizeH="0" baseline="0" dirty="0">
                <a:ln>
                  <a:noFill/>
                </a:ln>
                <a:solidFill>
                  <a:schemeClr val="tx1"/>
                </a:solidFill>
                <a:effectLst/>
                <a:latin typeface="Arial" panose="020B0604020202020204" pitchFamily="34" charset="0"/>
              </a:rPr>
              <a:t>₹6K–₹8K each</a:t>
            </a:r>
            <a:r>
              <a:rPr kumimoji="0" lang="en-US" altLang="en-US" sz="1800" b="0" i="0" u="none" strike="noStrike" cap="none" normalizeH="0" baseline="0" dirty="0">
                <a:ln>
                  <a:noFill/>
                </a:ln>
                <a:solidFill>
                  <a:schemeClr val="tx1"/>
                </a:solidFill>
                <a:effectLst/>
                <a:latin typeface="Arial" panose="020B0604020202020204" pitchFamily="34" charset="0"/>
              </a:rPr>
              <a:t>, indicating the presence of high-value customer segments.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p:nvPr/>
        </p:nvSpPr>
        <p:spPr>
          <a:xfrm>
            <a:off x="0" y="0"/>
            <a:ext cx="3072984" cy="6858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sp>
        <p:nvSpPr>
          <p:cNvPr id="104" name="Google Shape;104;p2"/>
          <p:cNvSpPr/>
          <p:nvPr/>
        </p:nvSpPr>
        <p:spPr>
          <a:xfrm>
            <a:off x="257331" y="147033"/>
            <a:ext cx="732020" cy="730233"/>
          </a:xfrm>
          <a:prstGeom prst="ellipse">
            <a:avLst/>
          </a:prstGeom>
          <a:solidFill>
            <a:srgbClr val="747474"/>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5" name="Google Shape;105;p2"/>
          <p:cNvSpPr/>
          <p:nvPr/>
        </p:nvSpPr>
        <p:spPr>
          <a:xfrm>
            <a:off x="0" y="2132399"/>
            <a:ext cx="3072984" cy="856684"/>
          </a:xfrm>
          <a:prstGeom prst="rect">
            <a:avLst/>
          </a:prstGeom>
          <a:solidFill>
            <a:srgbClr val="92D050"/>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06" name="Google Shape;106;p2" descr="Scatterplot with solid fill"/>
          <p:cNvPicPr preferRelativeResize="0"/>
          <p:nvPr/>
        </p:nvPicPr>
        <p:blipFill rotWithShape="1">
          <a:blip r:embed="rId3">
            <a:alphaModFix/>
          </a:blip>
          <a:srcRect/>
          <a:stretch/>
        </p:blipFill>
        <p:spPr>
          <a:xfrm>
            <a:off x="257331" y="1111763"/>
            <a:ext cx="732020" cy="732020"/>
          </a:xfrm>
          <a:prstGeom prst="rect">
            <a:avLst/>
          </a:prstGeom>
          <a:noFill/>
          <a:ln>
            <a:noFill/>
          </a:ln>
        </p:spPr>
      </p:pic>
      <p:pic>
        <p:nvPicPr>
          <p:cNvPr id="107" name="Google Shape;107;p2" descr="Car with solid fill"/>
          <p:cNvPicPr preferRelativeResize="0"/>
          <p:nvPr/>
        </p:nvPicPr>
        <p:blipFill rotWithShape="1">
          <a:blip r:embed="rId4">
            <a:alphaModFix/>
          </a:blip>
          <a:srcRect/>
          <a:stretch/>
        </p:blipFill>
        <p:spPr>
          <a:xfrm>
            <a:off x="257331" y="2138592"/>
            <a:ext cx="914400" cy="914400"/>
          </a:xfrm>
          <a:prstGeom prst="rect">
            <a:avLst/>
          </a:prstGeom>
          <a:noFill/>
          <a:ln>
            <a:noFill/>
          </a:ln>
        </p:spPr>
      </p:pic>
      <p:pic>
        <p:nvPicPr>
          <p:cNvPr id="108" name="Google Shape;108;p2" descr="Rupee with solid fill"/>
          <p:cNvPicPr preferRelativeResize="0"/>
          <p:nvPr/>
        </p:nvPicPr>
        <p:blipFill rotWithShape="1">
          <a:blip r:embed="rId5">
            <a:alphaModFix/>
          </a:blip>
          <a:srcRect/>
          <a:stretch/>
        </p:blipFill>
        <p:spPr>
          <a:xfrm>
            <a:off x="348522" y="3431194"/>
            <a:ext cx="567128" cy="567128"/>
          </a:xfrm>
          <a:prstGeom prst="rect">
            <a:avLst/>
          </a:prstGeom>
          <a:noFill/>
          <a:ln>
            <a:noFill/>
          </a:ln>
        </p:spPr>
      </p:pic>
      <p:pic>
        <p:nvPicPr>
          <p:cNvPr id="109" name="Google Shape;109;p2" descr="Crash with solid fill"/>
          <p:cNvPicPr preferRelativeResize="0"/>
          <p:nvPr/>
        </p:nvPicPr>
        <p:blipFill rotWithShape="1">
          <a:blip r:embed="rId6">
            <a:alphaModFix/>
          </a:blip>
          <a:srcRect/>
          <a:stretch/>
        </p:blipFill>
        <p:spPr>
          <a:xfrm>
            <a:off x="237343" y="4232819"/>
            <a:ext cx="914400" cy="914400"/>
          </a:xfrm>
          <a:prstGeom prst="rect">
            <a:avLst/>
          </a:prstGeom>
          <a:noFill/>
          <a:ln>
            <a:noFill/>
          </a:ln>
        </p:spPr>
      </p:pic>
      <p:pic>
        <p:nvPicPr>
          <p:cNvPr id="110" name="Google Shape;110;p2" descr="Rating with solid fill"/>
          <p:cNvPicPr preferRelativeResize="0"/>
          <p:nvPr/>
        </p:nvPicPr>
        <p:blipFill rotWithShape="1">
          <a:blip r:embed="rId7">
            <a:alphaModFix/>
          </a:blip>
          <a:srcRect/>
          <a:stretch/>
        </p:blipFill>
        <p:spPr>
          <a:xfrm>
            <a:off x="174886" y="5559253"/>
            <a:ext cx="914400" cy="914400"/>
          </a:xfrm>
          <a:prstGeom prst="rect">
            <a:avLst/>
          </a:prstGeom>
          <a:noFill/>
          <a:ln>
            <a:noFill/>
          </a:ln>
        </p:spPr>
      </p:pic>
      <p:sp>
        <p:nvSpPr>
          <p:cNvPr id="111" name="Google Shape;111;p2"/>
          <p:cNvSpPr txBox="1"/>
          <p:nvPr/>
        </p:nvSpPr>
        <p:spPr>
          <a:xfrm>
            <a:off x="1089286" y="1275036"/>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Overall</a:t>
            </a:r>
            <a:endParaRPr sz="2000">
              <a:solidFill>
                <a:srgbClr val="AEAEAE"/>
              </a:solidFill>
              <a:latin typeface="Poppins"/>
              <a:ea typeface="Poppins"/>
              <a:cs typeface="Poppins"/>
              <a:sym typeface="Poppins"/>
            </a:endParaRPr>
          </a:p>
        </p:txBody>
      </p:sp>
      <p:sp>
        <p:nvSpPr>
          <p:cNvPr id="112" name="Google Shape;112;p2"/>
          <p:cNvSpPr txBox="1"/>
          <p:nvPr/>
        </p:nvSpPr>
        <p:spPr>
          <a:xfrm>
            <a:off x="1151742" y="2377987"/>
            <a:ext cx="192124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Poppins"/>
                <a:ea typeface="Poppins"/>
                <a:cs typeface="Poppins"/>
                <a:sym typeface="Poppins"/>
              </a:rPr>
              <a:t>Vehicle Type</a:t>
            </a:r>
            <a:endParaRPr sz="2000">
              <a:solidFill>
                <a:schemeClr val="lt1"/>
              </a:solidFill>
              <a:latin typeface="Poppins"/>
              <a:ea typeface="Poppins"/>
              <a:cs typeface="Poppins"/>
              <a:sym typeface="Poppins"/>
            </a:endParaRPr>
          </a:p>
        </p:txBody>
      </p:sp>
      <p:sp>
        <p:nvSpPr>
          <p:cNvPr id="113" name="Google Shape;113;p2"/>
          <p:cNvSpPr txBox="1"/>
          <p:nvPr/>
        </p:nvSpPr>
        <p:spPr>
          <a:xfrm>
            <a:off x="1151743" y="3468924"/>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Revenue</a:t>
            </a:r>
            <a:endParaRPr sz="2000">
              <a:solidFill>
                <a:srgbClr val="AEAEAE"/>
              </a:solidFill>
              <a:latin typeface="Poppins"/>
              <a:ea typeface="Poppins"/>
              <a:cs typeface="Poppins"/>
              <a:sym typeface="Poppins"/>
            </a:endParaRPr>
          </a:p>
        </p:txBody>
      </p:sp>
      <p:sp>
        <p:nvSpPr>
          <p:cNvPr id="114" name="Google Shape;114;p2"/>
          <p:cNvSpPr txBox="1"/>
          <p:nvPr/>
        </p:nvSpPr>
        <p:spPr>
          <a:xfrm>
            <a:off x="1089286" y="4597596"/>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Cancellation</a:t>
            </a:r>
            <a:endParaRPr sz="2000">
              <a:solidFill>
                <a:srgbClr val="AEAEAE"/>
              </a:solidFill>
              <a:latin typeface="Poppins"/>
              <a:ea typeface="Poppins"/>
              <a:cs typeface="Poppins"/>
              <a:sym typeface="Poppins"/>
            </a:endParaRPr>
          </a:p>
        </p:txBody>
      </p:sp>
      <p:sp>
        <p:nvSpPr>
          <p:cNvPr id="115" name="Google Shape;115;p2"/>
          <p:cNvSpPr txBox="1"/>
          <p:nvPr/>
        </p:nvSpPr>
        <p:spPr>
          <a:xfrm>
            <a:off x="1151743" y="5746443"/>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Ratings</a:t>
            </a:r>
            <a:endParaRPr sz="2000">
              <a:solidFill>
                <a:srgbClr val="AEAEAE"/>
              </a:solidFill>
              <a:latin typeface="Poppins"/>
              <a:ea typeface="Poppins"/>
              <a:cs typeface="Poppins"/>
              <a:sym typeface="Poppins"/>
            </a:endParaRPr>
          </a:p>
        </p:txBody>
      </p:sp>
      <p:pic>
        <p:nvPicPr>
          <p:cNvPr id="116" name="Google Shape;116;p2" descr="A white text on a black background&#10;&#10;Description automatically generated"/>
          <p:cNvPicPr preferRelativeResize="0"/>
          <p:nvPr/>
        </p:nvPicPr>
        <p:blipFill rotWithShape="1">
          <a:blip r:embed="rId8">
            <a:alphaModFix/>
          </a:blip>
          <a:srcRect/>
          <a:stretch/>
        </p:blipFill>
        <p:spPr>
          <a:xfrm>
            <a:off x="1099279" y="179363"/>
            <a:ext cx="1279161" cy="683593"/>
          </a:xfrm>
          <a:prstGeom prst="rect">
            <a:avLst/>
          </a:prstGeom>
          <a:noFill/>
          <a:ln>
            <a:noFill/>
          </a:ln>
        </p:spPr>
      </p:pic>
      <p:pic>
        <p:nvPicPr>
          <p:cNvPr id="117" name="Google Shape;117;p2" descr="A yellow circle with black lines&#10;&#10;Description automatically generated"/>
          <p:cNvPicPr preferRelativeResize="0"/>
          <p:nvPr/>
        </p:nvPicPr>
        <p:blipFill rotWithShape="1">
          <a:blip r:embed="rId9">
            <a:alphaModFix/>
          </a:blip>
          <a:srcRect/>
          <a:stretch/>
        </p:blipFill>
        <p:spPr>
          <a:xfrm>
            <a:off x="-41778" y="-154924"/>
            <a:ext cx="1330237" cy="1330237"/>
          </a:xfrm>
          <a:prstGeom prst="rect">
            <a:avLst/>
          </a:prstGeom>
          <a:noFill/>
          <a:ln>
            <a:noFill/>
          </a:ln>
        </p:spPr>
      </p:pic>
      <p:graphicFrame>
        <p:nvGraphicFramePr>
          <p:cNvPr id="118" name="Google Shape;118;p2"/>
          <p:cNvGraphicFramePr/>
          <p:nvPr>
            <p:extLst>
              <p:ext uri="{D42A27DB-BD31-4B8C-83A1-F6EECF244321}">
                <p14:modId xmlns:p14="http://schemas.microsoft.com/office/powerpoint/2010/main" val="3083291357"/>
              </p:ext>
            </p:extLst>
          </p:nvPr>
        </p:nvGraphicFramePr>
        <p:xfrm>
          <a:off x="3421506" y="877266"/>
          <a:ext cx="7001525" cy="5719820"/>
        </p:xfrm>
        <a:graphic>
          <a:graphicData uri="http://schemas.openxmlformats.org/drawingml/2006/table">
            <a:tbl>
              <a:tblPr firstRow="1" bandRow="1">
                <a:noFill/>
              </a:tblPr>
              <a:tblGrid>
                <a:gridCol w="1380149">
                  <a:extLst>
                    <a:ext uri="{9D8B030D-6E8A-4147-A177-3AD203B41FA5}">
                      <a16:colId xmlns:a16="http://schemas.microsoft.com/office/drawing/2014/main" val="20000"/>
                    </a:ext>
                  </a:extLst>
                </a:gridCol>
                <a:gridCol w="1420449">
                  <a:extLst>
                    <a:ext uri="{9D8B030D-6E8A-4147-A177-3AD203B41FA5}">
                      <a16:colId xmlns:a16="http://schemas.microsoft.com/office/drawing/2014/main" val="2892231188"/>
                    </a:ext>
                  </a:extLst>
                </a:gridCol>
                <a:gridCol w="1400309">
                  <a:extLst>
                    <a:ext uri="{9D8B030D-6E8A-4147-A177-3AD203B41FA5}">
                      <a16:colId xmlns:a16="http://schemas.microsoft.com/office/drawing/2014/main" val="20002"/>
                    </a:ext>
                  </a:extLst>
                </a:gridCol>
                <a:gridCol w="1400309">
                  <a:extLst>
                    <a:ext uri="{9D8B030D-6E8A-4147-A177-3AD203B41FA5}">
                      <a16:colId xmlns:a16="http://schemas.microsoft.com/office/drawing/2014/main" val="20003"/>
                    </a:ext>
                  </a:extLst>
                </a:gridCol>
                <a:gridCol w="1400309">
                  <a:extLst>
                    <a:ext uri="{9D8B030D-6E8A-4147-A177-3AD203B41FA5}">
                      <a16:colId xmlns:a16="http://schemas.microsoft.com/office/drawing/2014/main" val="20004"/>
                    </a:ext>
                  </a:extLst>
                </a:gridCol>
              </a:tblGrid>
              <a:tr h="699550">
                <a:tc>
                  <a:txBody>
                    <a:bodyPr/>
                    <a:lstStyle/>
                    <a:p>
                      <a:pPr marL="0" marR="0" lvl="0" indent="0" algn="ctr" rtl="0">
                        <a:spcBef>
                          <a:spcPts val="0"/>
                        </a:spcBef>
                        <a:spcAft>
                          <a:spcPts val="0"/>
                        </a:spcAft>
                        <a:buNone/>
                      </a:pPr>
                      <a:r>
                        <a:rPr lang="en-US" sz="1600" u="none" strike="noStrike" cap="none" dirty="0">
                          <a:solidFill>
                            <a:schemeClr val="tx1"/>
                          </a:solidFill>
                          <a:latin typeface="Calibri"/>
                          <a:ea typeface="Calibri"/>
                          <a:cs typeface="Calibri"/>
                          <a:sym typeface="Calibri"/>
                        </a:rPr>
                        <a:t>Vehicle Type</a:t>
                      </a:r>
                      <a:endParaRPr sz="1600" u="none" strike="noStrike" cap="none" dirty="0">
                        <a:solidFill>
                          <a:schemeClr val="tx1"/>
                        </a:solidFill>
                        <a:latin typeface="Calibri"/>
                        <a:ea typeface="Calibri"/>
                        <a:cs typeface="Calibri"/>
                        <a:sym typeface="Calibri"/>
                      </a:endParaRPr>
                    </a:p>
                  </a:txBody>
                  <a:tcPr marL="91450" marR="91450" marT="45725" marB="45725"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u="none" strike="noStrike" cap="none" dirty="0">
                          <a:solidFill>
                            <a:schemeClr val="tx1"/>
                          </a:solidFill>
                          <a:latin typeface="+mn-lt"/>
                          <a:ea typeface="Calibri"/>
                          <a:cs typeface="Calibri"/>
                          <a:sym typeface="Calibri"/>
                        </a:rPr>
                        <a:t>Total Booking Value</a:t>
                      </a:r>
                    </a:p>
                  </a:txBody>
                  <a:tcPr marL="91450" marR="91450" marT="45725" marB="45725" anchor="ctr">
                    <a:lnL w="12700" cap="flat" cmpd="sng" algn="ctr">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lgn="ctr">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u="none" strike="noStrike" cap="none" dirty="0">
                          <a:solidFill>
                            <a:schemeClr val="tx1"/>
                          </a:solidFill>
                          <a:latin typeface="Calibri"/>
                          <a:ea typeface="Calibri"/>
                          <a:cs typeface="Calibri"/>
                          <a:sym typeface="Calibri"/>
                        </a:rPr>
                        <a:t>Success Booking Value</a:t>
                      </a:r>
                      <a:endParaRPr sz="1600" u="none" strike="noStrike" cap="none" dirty="0">
                        <a:solidFill>
                          <a:schemeClr val="tx1"/>
                        </a:solidFill>
                        <a:latin typeface="Calibri"/>
                        <a:ea typeface="Calibri"/>
                        <a:cs typeface="Calibri"/>
                        <a:sym typeface="Calibri"/>
                      </a:endParaRPr>
                    </a:p>
                  </a:txBody>
                  <a:tcPr marL="91450" marR="91450" marT="45725" marB="45725"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lgn="ctr">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u="none" strike="noStrike" cap="none">
                          <a:solidFill>
                            <a:schemeClr val="tx1"/>
                          </a:solidFill>
                          <a:latin typeface="Calibri"/>
                          <a:ea typeface="Calibri"/>
                          <a:cs typeface="Calibri"/>
                          <a:sym typeface="Calibri"/>
                        </a:rPr>
                        <a:t>Avg. Distance Travelled</a:t>
                      </a:r>
                      <a:endParaRPr sz="1600" u="none" strike="noStrike" cap="none">
                        <a:solidFill>
                          <a:schemeClr val="tx1"/>
                        </a:solidFill>
                        <a:latin typeface="Calibri"/>
                        <a:ea typeface="Calibri"/>
                        <a:cs typeface="Calibri"/>
                        <a:sym typeface="Calibri"/>
                      </a:endParaRPr>
                    </a:p>
                  </a:txBody>
                  <a:tcPr marL="91450" marR="91450" marT="45725" marB="45725"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lgn="ctr">
                      <a:solidFill>
                        <a:schemeClr val="accent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accent6"/>
                        </a:buClr>
                        <a:buSzPts val="1600"/>
                        <a:buFont typeface="Calibri"/>
                        <a:buNone/>
                      </a:pPr>
                      <a:r>
                        <a:rPr lang="en-US" sz="1600" u="none" strike="noStrike" cap="none">
                          <a:solidFill>
                            <a:schemeClr val="tx1"/>
                          </a:solidFill>
                          <a:latin typeface="Calibri"/>
                          <a:ea typeface="Calibri"/>
                          <a:cs typeface="Calibri"/>
                          <a:sym typeface="Calibri"/>
                        </a:rPr>
                        <a:t>Total Distance Travelled</a:t>
                      </a:r>
                      <a:endParaRPr sz="1600" u="none" strike="noStrike" cap="none">
                        <a:solidFill>
                          <a:schemeClr val="tx1"/>
                        </a:solidFill>
                        <a:latin typeface="Calibri"/>
                        <a:ea typeface="Calibri"/>
                        <a:cs typeface="Calibri"/>
                        <a:sym typeface="Calibri"/>
                      </a:endParaRPr>
                    </a:p>
                  </a:txBody>
                  <a:tcPr marL="91450" marR="91450" marT="45725" marB="45725"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lgn="ctr">
                      <a:solidFill>
                        <a:schemeClr val="accent6"/>
                      </a:solidFill>
                      <a:prstDash val="solid"/>
                      <a:round/>
                      <a:headEnd type="none" w="sm" len="sm"/>
                      <a:tailEnd type="none" w="sm" len="sm"/>
                    </a:lnB>
                  </a:tcPr>
                </a:tc>
                <a:extLst>
                  <a:ext uri="{0D108BD9-81ED-4DB2-BD59-A6C34878D82A}">
                    <a16:rowId xmlns:a16="http://schemas.microsoft.com/office/drawing/2014/main" val="10000"/>
                  </a:ext>
                </a:extLst>
              </a:tr>
              <a:tr h="699550">
                <a:tc>
                  <a:txBody>
                    <a:bodyPr/>
                    <a:lstStyle/>
                    <a:p>
                      <a:pPr marL="0" marR="0" lvl="0" indent="0" algn="ctr" rtl="0">
                        <a:spcBef>
                          <a:spcPts val="0"/>
                        </a:spcBef>
                        <a:spcAft>
                          <a:spcPts val="0"/>
                        </a:spcAft>
                        <a:buNone/>
                      </a:pPr>
                      <a:endParaRPr lang="en-IN"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endParaRPr lang="en-IN"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r>
                        <a:rPr lang="en-IN" sz="1300" u="none" strike="noStrike" cap="none" dirty="0">
                          <a:solidFill>
                            <a:schemeClr val="tx1"/>
                          </a:solidFill>
                          <a:latin typeface="Calibri"/>
                          <a:ea typeface="Calibri"/>
                          <a:cs typeface="Calibri"/>
                          <a:sym typeface="Calibri"/>
                        </a:rPr>
                        <a:t>Prime Sedan</a:t>
                      </a:r>
                      <a:endParaRPr lang="en-IN" dirty="0">
                        <a:solidFill>
                          <a:schemeClr val="tx1"/>
                        </a:solidFill>
                      </a:endParaRPr>
                    </a:p>
                  </a:txBody>
                  <a:tcPr marL="91450" marR="91450" marT="45725" marB="45725">
                    <a:lnL w="12700" cap="flat" cmpd="sng">
                      <a:solidFill>
                        <a:schemeClr val="accent6"/>
                      </a:solidFill>
                      <a:prstDash val="solid"/>
                      <a:round/>
                      <a:headEnd type="none" w="sm" len="sm"/>
                      <a:tailEnd type="none" w="sm" len="sm"/>
                    </a:lnL>
                    <a:lnR w="12700" cap="flat" cmpd="sng" algn="ctr">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US" dirty="0">
                          <a:solidFill>
                            <a:schemeClr val="tx1"/>
                          </a:solidFill>
                        </a:rPr>
                        <a:t>8,298,612</a:t>
                      </a:r>
                      <a:endParaRPr lang="en-IN" dirty="0">
                        <a:solidFill>
                          <a:schemeClr val="tx1"/>
                        </a:solidFill>
                      </a:endParaRPr>
                    </a:p>
                  </a:txBody>
                  <a:tcPr anchor="ctr">
                    <a:lnL w="12700" cap="flat" cmpd="sng" algn="ctr">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lgn="ctr">
                      <a:solidFill>
                        <a:schemeClr val="accent6"/>
                      </a:solidFill>
                      <a:prstDash val="solid"/>
                      <a:round/>
                      <a:headEnd type="none" w="sm" len="sm"/>
                      <a:tailEnd type="none" w="sm" len="sm"/>
                    </a:lnT>
                    <a:lnB w="12700" cap="flat" cmpd="sng" algn="ctr">
                      <a:solidFill>
                        <a:schemeClr val="accent6"/>
                      </a:solidFill>
                      <a:prstDash val="solid"/>
                      <a:round/>
                      <a:headEnd type="none" w="sm" len="sm"/>
                      <a:tailEnd type="none" w="sm" len="sm"/>
                    </a:lnB>
                  </a:tcPr>
                </a:tc>
                <a:tc>
                  <a:txBody>
                    <a:bodyPr/>
                    <a:lstStyle/>
                    <a:p>
                      <a:r>
                        <a:rPr lang="en-US" dirty="0">
                          <a:solidFill>
                            <a:schemeClr val="tx1"/>
                          </a:solidFill>
                        </a:rPr>
                        <a:t>5,224,050</a:t>
                      </a:r>
                      <a:endParaRPr lang="en-IN" dirty="0">
                        <a:solidFill>
                          <a:schemeClr val="tx1"/>
                        </a:solidFill>
                      </a:endParaRP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lgn="ctr">
                      <a:solidFill>
                        <a:schemeClr val="accent6"/>
                      </a:solidFill>
                      <a:prstDash val="solid"/>
                      <a:round/>
                      <a:headEnd type="none" w="sm" len="sm"/>
                      <a:tailEnd type="none" w="sm" len="sm"/>
                    </a:lnB>
                  </a:tcPr>
                </a:tc>
                <a:tc>
                  <a:txBody>
                    <a:bodyPr/>
                    <a:lstStyle/>
                    <a:p>
                      <a:r>
                        <a:rPr lang="en-US" dirty="0">
                          <a:solidFill>
                            <a:schemeClr val="tx1"/>
                          </a:solidFill>
                        </a:rPr>
                        <a:t>15.76</a:t>
                      </a:r>
                      <a:endParaRPr lang="en-IN" dirty="0">
                        <a:solidFill>
                          <a:schemeClr val="tx1"/>
                        </a:solidFill>
                      </a:endParaRP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lgn="ctr">
                      <a:solidFill>
                        <a:schemeClr val="accent6"/>
                      </a:solidFill>
                      <a:prstDash val="solid"/>
                      <a:round/>
                      <a:headEnd type="none" w="sm" len="sm"/>
                      <a:tailEnd type="none" w="sm" len="sm"/>
                    </a:lnB>
                  </a:tcPr>
                </a:tc>
                <a:tc>
                  <a:txBody>
                    <a:bodyPr/>
                    <a:lstStyle/>
                    <a:p>
                      <a:r>
                        <a:rPr lang="en-US" dirty="0">
                          <a:solidFill>
                            <a:schemeClr val="tx1"/>
                          </a:solidFill>
                        </a:rPr>
                        <a:t>234,535</a:t>
                      </a:r>
                      <a:endParaRPr lang="en-IN" dirty="0">
                        <a:solidFill>
                          <a:schemeClr val="tx1"/>
                        </a:solidFill>
                      </a:endParaRP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lgn="ctr">
                      <a:solidFill>
                        <a:schemeClr val="accent6"/>
                      </a:solidFill>
                      <a:prstDash val="solid"/>
                      <a:round/>
                      <a:headEnd type="none" w="sm" len="sm"/>
                      <a:tailEnd type="none" w="sm" len="sm"/>
                    </a:lnB>
                  </a:tcPr>
                </a:tc>
                <a:extLst>
                  <a:ext uri="{0D108BD9-81ED-4DB2-BD59-A6C34878D82A}">
                    <a16:rowId xmlns:a16="http://schemas.microsoft.com/office/drawing/2014/main" val="10001"/>
                  </a:ext>
                </a:extLst>
              </a:tr>
              <a:tr h="699550">
                <a:tc>
                  <a:txBody>
                    <a:bodyPr/>
                    <a:lstStyle/>
                    <a:p>
                      <a:pPr marL="0" marR="0" lvl="0" indent="0" algn="ctr" rtl="0">
                        <a:spcBef>
                          <a:spcPts val="0"/>
                        </a:spcBef>
                        <a:spcAft>
                          <a:spcPts val="0"/>
                        </a:spcAft>
                        <a:buNone/>
                      </a:pPr>
                      <a:endParaRPr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endParaRPr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r>
                        <a:rPr lang="en-US" sz="1300" u="none" strike="noStrike" cap="none" dirty="0">
                          <a:solidFill>
                            <a:schemeClr val="tx1"/>
                          </a:solidFill>
                          <a:latin typeface="Calibri"/>
                          <a:ea typeface="Calibri"/>
                          <a:cs typeface="Calibri"/>
                          <a:sym typeface="Calibri"/>
                        </a:rPr>
                        <a:t>Prime SUV</a:t>
                      </a:r>
                      <a:endParaRPr dirty="0">
                        <a:solidFill>
                          <a:schemeClr val="tx1"/>
                        </a:solidFill>
                      </a:endParaRPr>
                    </a:p>
                  </a:txBody>
                  <a:tcPr marL="91450" marR="91450" marT="45725" marB="45725">
                    <a:lnL w="12700" cap="flat" cmpd="sng">
                      <a:solidFill>
                        <a:schemeClr val="accent6"/>
                      </a:solidFill>
                      <a:prstDash val="solid"/>
                      <a:round/>
                      <a:headEnd type="none" w="sm" len="sm"/>
                      <a:tailEnd type="none" w="sm" len="sm"/>
                    </a:lnL>
                    <a:lnR w="12700" cap="flat" cmpd="sng" algn="ctr">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dirty="0">
                          <a:solidFill>
                            <a:schemeClr val="tx1"/>
                          </a:solidFill>
                        </a:rPr>
                        <a:t>7,933,330</a:t>
                      </a:r>
                    </a:p>
                  </a:txBody>
                  <a:tcPr anchor="ctr">
                    <a:lnL w="12700" cap="flat" cmpd="sng" algn="ctr">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lgn="ctr">
                      <a:solidFill>
                        <a:schemeClr val="accent6"/>
                      </a:solidFill>
                      <a:prstDash val="solid"/>
                      <a:round/>
                      <a:headEnd type="none" w="sm" len="sm"/>
                      <a:tailEnd type="none" w="sm" len="sm"/>
                    </a:lnT>
                    <a:lnB w="12700" cap="flat" cmpd="sng" algn="ctr">
                      <a:solidFill>
                        <a:schemeClr val="accent6"/>
                      </a:solidFill>
                      <a:prstDash val="solid"/>
                      <a:round/>
                      <a:headEnd type="none" w="sm" len="sm"/>
                      <a:tailEnd type="none" w="sm" len="sm"/>
                    </a:lnB>
                  </a:tcPr>
                </a:tc>
                <a:tc>
                  <a:txBody>
                    <a:bodyPr/>
                    <a:lstStyle/>
                    <a:p>
                      <a:r>
                        <a:rPr lang="en-IN" dirty="0">
                          <a:solidFill>
                            <a:schemeClr val="tx1"/>
                          </a:solidFill>
                        </a:rPr>
                        <a:t>4,876,815</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dirty="0">
                          <a:solidFill>
                            <a:schemeClr val="tx1"/>
                          </a:solidFill>
                        </a:rPr>
                        <a:t>15.27</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dirty="0">
                          <a:solidFill>
                            <a:schemeClr val="tx1"/>
                          </a:solidFill>
                        </a:rPr>
                        <a:t>223,848</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2"/>
                  </a:ext>
                </a:extLst>
              </a:tr>
              <a:tr h="699550">
                <a:tc>
                  <a:txBody>
                    <a:bodyPr/>
                    <a:lstStyle/>
                    <a:p>
                      <a:pPr marL="0" marR="0" lvl="0" indent="0" algn="ctr" rtl="0">
                        <a:spcBef>
                          <a:spcPts val="0"/>
                        </a:spcBef>
                        <a:spcAft>
                          <a:spcPts val="0"/>
                        </a:spcAft>
                        <a:buNone/>
                      </a:pPr>
                      <a:endParaRPr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endParaRPr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r>
                        <a:rPr lang="en-US" sz="1300" i="0" u="none" strike="noStrike" cap="none" dirty="0">
                          <a:solidFill>
                            <a:schemeClr val="tx1"/>
                          </a:solidFill>
                          <a:latin typeface="Calibri"/>
                          <a:ea typeface="Calibri"/>
                          <a:cs typeface="Calibri"/>
                          <a:sym typeface="Calibri"/>
                        </a:rPr>
                        <a:t>Prime Plus</a:t>
                      </a:r>
                      <a:endParaRPr sz="1300" u="none" strike="noStrike" cap="none" dirty="0">
                        <a:solidFill>
                          <a:schemeClr val="tx1"/>
                        </a:solidFill>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lgn="ctr">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a:solidFill>
                            <a:schemeClr val="tx1"/>
                          </a:solidFill>
                        </a:rPr>
                        <a:t>8,050,889</a:t>
                      </a:r>
                    </a:p>
                  </a:txBody>
                  <a:tcPr anchor="ctr">
                    <a:lnL w="12700" cap="flat" cmpd="sng" algn="ctr">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lgn="ctr">
                      <a:solidFill>
                        <a:schemeClr val="accent6"/>
                      </a:solidFill>
                      <a:prstDash val="solid"/>
                      <a:round/>
                      <a:headEnd type="none" w="sm" len="sm"/>
                      <a:tailEnd type="none" w="sm" len="sm"/>
                    </a:lnT>
                    <a:lnB w="12700" cap="flat" cmpd="sng" algn="ctr">
                      <a:solidFill>
                        <a:schemeClr val="accent6"/>
                      </a:solidFill>
                      <a:prstDash val="solid"/>
                      <a:round/>
                      <a:headEnd type="none" w="sm" len="sm"/>
                      <a:tailEnd type="none" w="sm" len="sm"/>
                    </a:lnB>
                  </a:tcPr>
                </a:tc>
                <a:tc>
                  <a:txBody>
                    <a:bodyPr/>
                    <a:lstStyle/>
                    <a:p>
                      <a:r>
                        <a:rPr lang="en-IN" dirty="0">
                          <a:solidFill>
                            <a:schemeClr val="tx1"/>
                          </a:solidFill>
                        </a:rPr>
                        <a:t>5,015,165</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dirty="0">
                          <a:solidFill>
                            <a:schemeClr val="tx1"/>
                          </a:solidFill>
                        </a:rPr>
                        <a:t>15.45</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a:solidFill>
                            <a:schemeClr val="tx1"/>
                          </a:solidFill>
                        </a:rPr>
                        <a:t>227,186</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3"/>
                  </a:ext>
                </a:extLst>
              </a:tr>
              <a:tr h="699550">
                <a:tc>
                  <a:txBody>
                    <a:bodyPr/>
                    <a:lstStyle/>
                    <a:p>
                      <a:pPr marL="0" marR="0" lvl="0" indent="0" algn="ctr" rtl="0">
                        <a:spcBef>
                          <a:spcPts val="0"/>
                        </a:spcBef>
                        <a:spcAft>
                          <a:spcPts val="0"/>
                        </a:spcAft>
                        <a:buNone/>
                      </a:pPr>
                      <a:endParaRPr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endParaRPr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r>
                        <a:rPr lang="en-US" sz="1300" i="0" u="none" strike="noStrike" cap="none" dirty="0">
                          <a:solidFill>
                            <a:schemeClr val="tx1"/>
                          </a:solidFill>
                          <a:latin typeface="Calibri"/>
                          <a:ea typeface="Calibri"/>
                          <a:cs typeface="Calibri"/>
                          <a:sym typeface="Calibri"/>
                        </a:rPr>
                        <a:t>Mini</a:t>
                      </a:r>
                      <a:endParaRPr sz="1300" u="none" strike="noStrike" cap="none" dirty="0">
                        <a:solidFill>
                          <a:schemeClr val="tx1"/>
                        </a:solidFill>
                        <a:latin typeface="Calibri"/>
                        <a:ea typeface="Calibri"/>
                        <a:cs typeface="Calibri"/>
                        <a:sym typeface="Calibri"/>
                      </a:endParaRPr>
                    </a:p>
                  </a:txBody>
                  <a:tcPr marL="91450" marR="91450" marT="45725" marB="45725">
                    <a:lnL w="12700" cap="flat" cmpd="sng">
                      <a:solidFill>
                        <a:schemeClr val="accent6"/>
                      </a:solidFill>
                      <a:prstDash val="solid"/>
                      <a:round/>
                      <a:headEnd type="none" w="sm" len="sm"/>
                      <a:tailEnd type="none" w="sm" len="sm"/>
                    </a:lnL>
                    <a:lnR w="12700" cap="flat" cmpd="sng" algn="ctr">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a:solidFill>
                            <a:schemeClr val="tx1"/>
                          </a:solidFill>
                        </a:rPr>
                        <a:t>7,990,996</a:t>
                      </a:r>
                    </a:p>
                  </a:txBody>
                  <a:tcPr anchor="ctr">
                    <a:lnL w="12700" cap="flat" cmpd="sng" algn="ctr">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lgn="ctr">
                      <a:solidFill>
                        <a:schemeClr val="accent6"/>
                      </a:solidFill>
                      <a:prstDash val="solid"/>
                      <a:round/>
                      <a:headEnd type="none" w="sm" len="sm"/>
                      <a:tailEnd type="none" w="sm" len="sm"/>
                    </a:lnT>
                    <a:lnB w="12700" cap="flat" cmpd="sng" algn="ctr">
                      <a:solidFill>
                        <a:schemeClr val="accent6"/>
                      </a:solidFill>
                      <a:prstDash val="solid"/>
                      <a:round/>
                      <a:headEnd type="none" w="sm" len="sm"/>
                      <a:tailEnd type="none" w="sm" len="sm"/>
                    </a:lnB>
                  </a:tcPr>
                </a:tc>
                <a:tc>
                  <a:txBody>
                    <a:bodyPr/>
                    <a:lstStyle/>
                    <a:p>
                      <a:r>
                        <a:rPr lang="en-IN" dirty="0">
                          <a:solidFill>
                            <a:schemeClr val="tx1"/>
                          </a:solidFill>
                        </a:rPr>
                        <a:t>4,885,961</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a:solidFill>
                            <a:schemeClr val="tx1"/>
                          </a:solidFill>
                        </a:rPr>
                        <a:t>15.51</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dirty="0">
                          <a:solidFill>
                            <a:schemeClr val="tx1"/>
                          </a:solidFill>
                        </a:rPr>
                        <a:t>225,703</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4"/>
                  </a:ext>
                </a:extLst>
              </a:tr>
              <a:tr h="699550">
                <a:tc>
                  <a:txBody>
                    <a:bodyPr/>
                    <a:lstStyle/>
                    <a:p>
                      <a:pPr marL="0" marR="0" lvl="0" indent="0" algn="ctr" rtl="0">
                        <a:spcBef>
                          <a:spcPts val="0"/>
                        </a:spcBef>
                        <a:spcAft>
                          <a:spcPts val="0"/>
                        </a:spcAft>
                        <a:buNone/>
                      </a:pPr>
                      <a:endParaRPr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endParaRPr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r>
                        <a:rPr lang="en-US" sz="1300" u="none" strike="noStrike" cap="none" dirty="0">
                          <a:solidFill>
                            <a:schemeClr val="tx1"/>
                          </a:solidFill>
                          <a:latin typeface="Calibri"/>
                          <a:ea typeface="Calibri"/>
                          <a:cs typeface="Calibri"/>
                          <a:sym typeface="Calibri"/>
                        </a:rPr>
                        <a:t>Auto</a:t>
                      </a:r>
                      <a:endParaRPr dirty="0">
                        <a:solidFill>
                          <a:schemeClr val="tx1"/>
                        </a:solidFill>
                      </a:endParaRPr>
                    </a:p>
                  </a:txBody>
                  <a:tcPr marL="91450" marR="91450" marT="45725" marB="45725">
                    <a:lnL w="12700" cap="flat" cmpd="sng">
                      <a:solidFill>
                        <a:schemeClr val="accent6"/>
                      </a:solidFill>
                      <a:prstDash val="solid"/>
                      <a:round/>
                      <a:headEnd type="none" w="sm" len="sm"/>
                      <a:tailEnd type="none" w="sm" len="sm"/>
                    </a:lnL>
                    <a:lnR w="12700" cap="flat" cmpd="sng" algn="ctr">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a:solidFill>
                            <a:schemeClr val="tx1"/>
                          </a:solidFill>
                        </a:rPr>
                        <a:t>8,092,210</a:t>
                      </a:r>
                    </a:p>
                  </a:txBody>
                  <a:tcPr anchor="ctr">
                    <a:lnL w="12700" cap="flat" cmpd="sng" algn="ctr">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lgn="ctr">
                      <a:solidFill>
                        <a:schemeClr val="accent6"/>
                      </a:solidFill>
                      <a:prstDash val="solid"/>
                      <a:round/>
                      <a:headEnd type="none" w="sm" len="sm"/>
                      <a:tailEnd type="none" w="sm" len="sm"/>
                    </a:lnT>
                    <a:lnB w="12700" cap="flat" cmpd="sng" algn="ctr">
                      <a:solidFill>
                        <a:schemeClr val="accent6"/>
                      </a:solidFill>
                      <a:prstDash val="solid"/>
                      <a:round/>
                      <a:headEnd type="none" w="sm" len="sm"/>
                      <a:tailEnd type="none" w="sm" len="sm"/>
                    </a:lnB>
                  </a:tcPr>
                </a:tc>
                <a:tc>
                  <a:txBody>
                    <a:bodyPr/>
                    <a:lstStyle/>
                    <a:p>
                      <a:r>
                        <a:rPr lang="en-IN">
                          <a:solidFill>
                            <a:schemeClr val="tx1"/>
                          </a:solidFill>
                        </a:rPr>
                        <a:t>5,051,846</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dirty="0">
                          <a:solidFill>
                            <a:schemeClr val="tx1"/>
                          </a:solidFill>
                        </a:rPr>
                        <a:t>6.24</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dirty="0">
                          <a:solidFill>
                            <a:schemeClr val="tx1"/>
                          </a:solidFill>
                        </a:rPr>
                        <a:t>92,043</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5"/>
                  </a:ext>
                </a:extLst>
              </a:tr>
              <a:tr h="699550">
                <a:tc>
                  <a:txBody>
                    <a:bodyPr/>
                    <a:lstStyle/>
                    <a:p>
                      <a:pPr marL="0" marR="0" lvl="0" indent="0" algn="ctr" rtl="0">
                        <a:spcBef>
                          <a:spcPts val="0"/>
                        </a:spcBef>
                        <a:spcAft>
                          <a:spcPts val="0"/>
                        </a:spcAft>
                        <a:buNone/>
                      </a:pPr>
                      <a:endParaRPr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endParaRPr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r>
                        <a:rPr lang="en-US" sz="1300" u="none" strike="noStrike" cap="none" dirty="0">
                          <a:solidFill>
                            <a:schemeClr val="tx1"/>
                          </a:solidFill>
                          <a:latin typeface="Calibri"/>
                          <a:ea typeface="Calibri"/>
                          <a:cs typeface="Calibri"/>
                          <a:sym typeface="Calibri"/>
                        </a:rPr>
                        <a:t>Bike</a:t>
                      </a:r>
                      <a:endParaRPr dirty="0">
                        <a:solidFill>
                          <a:schemeClr val="tx1"/>
                        </a:solidFill>
                      </a:endParaRPr>
                    </a:p>
                  </a:txBody>
                  <a:tcPr marL="91450" marR="91450" marT="45725" marB="45725">
                    <a:lnL w="12700" cap="flat" cmpd="sng">
                      <a:solidFill>
                        <a:schemeClr val="accent6"/>
                      </a:solidFill>
                      <a:prstDash val="solid"/>
                      <a:round/>
                      <a:headEnd type="none" w="sm" len="sm"/>
                      <a:tailEnd type="none" w="sm" len="sm"/>
                    </a:lnL>
                    <a:lnR w="12700" cap="flat" cmpd="sng" algn="ctr">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a:solidFill>
                            <a:schemeClr val="tx1"/>
                          </a:solidFill>
                        </a:rPr>
                        <a:t>7,987,054</a:t>
                      </a:r>
                    </a:p>
                  </a:txBody>
                  <a:tcPr anchor="ctr">
                    <a:lnL w="12700" cap="flat" cmpd="sng" algn="ctr">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lgn="ctr">
                      <a:solidFill>
                        <a:schemeClr val="accent6"/>
                      </a:solidFill>
                      <a:prstDash val="solid"/>
                      <a:round/>
                      <a:headEnd type="none" w="sm" len="sm"/>
                      <a:tailEnd type="none" w="sm" len="sm"/>
                    </a:lnT>
                    <a:lnB w="12700" cap="flat" cmpd="sng" algn="ctr">
                      <a:solidFill>
                        <a:schemeClr val="accent6"/>
                      </a:solidFill>
                      <a:prstDash val="solid"/>
                      <a:round/>
                      <a:headEnd type="none" w="sm" len="sm"/>
                      <a:tailEnd type="none" w="sm" len="sm"/>
                    </a:lnB>
                  </a:tcPr>
                </a:tc>
                <a:tc>
                  <a:txBody>
                    <a:bodyPr/>
                    <a:lstStyle/>
                    <a:p>
                      <a:r>
                        <a:rPr lang="en-IN">
                          <a:solidFill>
                            <a:schemeClr val="tx1"/>
                          </a:solidFill>
                        </a:rPr>
                        <a:t>4,971,968</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dirty="0">
                          <a:solidFill>
                            <a:schemeClr val="tx1"/>
                          </a:solidFill>
                        </a:rPr>
                        <a:t>15.53</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dirty="0">
                          <a:solidFill>
                            <a:schemeClr val="tx1"/>
                          </a:solidFill>
                        </a:rPr>
                        <a:t>227,746</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6"/>
                  </a:ext>
                </a:extLst>
              </a:tr>
              <a:tr h="699550">
                <a:tc>
                  <a:txBody>
                    <a:bodyPr/>
                    <a:lstStyle/>
                    <a:p>
                      <a:pPr marL="0" marR="0" lvl="0" indent="0" algn="ctr" rtl="0">
                        <a:spcBef>
                          <a:spcPts val="0"/>
                        </a:spcBef>
                        <a:spcAft>
                          <a:spcPts val="0"/>
                        </a:spcAft>
                        <a:buNone/>
                      </a:pPr>
                      <a:endParaRPr lang="en-IN"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endParaRPr lang="en-IN" sz="1300" u="none" strike="noStrike" cap="none" dirty="0">
                        <a:solidFill>
                          <a:schemeClr val="tx1"/>
                        </a:solidFill>
                        <a:latin typeface="Calibri"/>
                        <a:ea typeface="Calibri"/>
                        <a:cs typeface="Calibri"/>
                        <a:sym typeface="Calibri"/>
                      </a:endParaRPr>
                    </a:p>
                    <a:p>
                      <a:pPr marL="0" marR="0" lvl="0" indent="0" algn="ctr" rtl="0">
                        <a:spcBef>
                          <a:spcPts val="0"/>
                        </a:spcBef>
                        <a:spcAft>
                          <a:spcPts val="0"/>
                        </a:spcAft>
                        <a:buNone/>
                      </a:pPr>
                      <a:r>
                        <a:rPr lang="en-US" sz="1300" u="none" strike="noStrike" cap="none" dirty="0">
                          <a:solidFill>
                            <a:schemeClr val="tx1"/>
                          </a:solidFill>
                          <a:latin typeface="Calibri"/>
                          <a:ea typeface="Calibri"/>
                          <a:cs typeface="Calibri"/>
                          <a:sym typeface="Calibri"/>
                        </a:rPr>
                        <a:t>E-Bike</a:t>
                      </a:r>
                      <a:endParaRPr dirty="0">
                        <a:solidFill>
                          <a:schemeClr val="tx1"/>
                        </a:solidFill>
                      </a:endParaRPr>
                    </a:p>
                  </a:txBody>
                  <a:tcPr marL="91450" marR="91450" marT="45725" marB="45725">
                    <a:lnL w="12700" cap="flat" cmpd="sng">
                      <a:solidFill>
                        <a:schemeClr val="accent6"/>
                      </a:solidFill>
                      <a:prstDash val="solid"/>
                      <a:round/>
                      <a:headEnd type="none" w="sm" len="sm"/>
                      <a:tailEnd type="none" w="sm" len="sm"/>
                    </a:lnL>
                    <a:lnR w="12700" cap="flat" cmpd="sng" algn="ctr">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dirty="0">
                          <a:solidFill>
                            <a:schemeClr val="tx1"/>
                          </a:solidFill>
                        </a:rPr>
                        <a:t>8,181,523</a:t>
                      </a:r>
                    </a:p>
                  </a:txBody>
                  <a:tcPr anchor="ctr">
                    <a:lnL w="12700" cap="flat" cmpd="sng" algn="ctr">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lgn="ctr">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a:solidFill>
                            <a:schemeClr val="tx1"/>
                          </a:solidFill>
                        </a:rPr>
                        <a:t>5,054,662</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lgn="ctr">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a:solidFill>
                            <a:schemeClr val="tx1"/>
                          </a:solidFill>
                        </a:rPr>
                        <a:t>15.58</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lgn="ctr">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r>
                        <a:rPr lang="en-IN" dirty="0">
                          <a:solidFill>
                            <a:schemeClr val="tx1"/>
                          </a:solidFill>
                        </a:rPr>
                        <a:t>230,842</a:t>
                      </a:r>
                    </a:p>
                  </a:txBody>
                  <a:tcPr anchor="ctr">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lgn="ctr">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119" name="Google Shape;119;p2" descr="A black background with a black square&#10;&#10;Description automatically generated with medium confidence"/>
          <p:cNvPicPr preferRelativeResize="0"/>
          <p:nvPr/>
        </p:nvPicPr>
        <p:blipFill rotWithShape="1">
          <a:blip r:embed="rId10">
            <a:alphaModFix/>
          </a:blip>
          <a:srcRect/>
          <a:stretch/>
        </p:blipFill>
        <p:spPr>
          <a:xfrm>
            <a:off x="3646791" y="1515924"/>
            <a:ext cx="956874" cy="956874"/>
          </a:xfrm>
          <a:prstGeom prst="rect">
            <a:avLst/>
          </a:prstGeom>
          <a:noFill/>
          <a:ln>
            <a:noFill/>
          </a:ln>
        </p:spPr>
      </p:pic>
      <p:pic>
        <p:nvPicPr>
          <p:cNvPr id="120" name="Google Shape;120;p2" descr="A black background with a black square&#10;&#10;Description automatically generated with medium confidence"/>
          <p:cNvPicPr preferRelativeResize="0"/>
          <p:nvPr/>
        </p:nvPicPr>
        <p:blipFill rotWithShape="1">
          <a:blip r:embed="rId11">
            <a:alphaModFix/>
          </a:blip>
          <a:srcRect/>
          <a:stretch/>
        </p:blipFill>
        <p:spPr>
          <a:xfrm>
            <a:off x="3697497" y="2255995"/>
            <a:ext cx="855461" cy="855461"/>
          </a:xfrm>
          <a:prstGeom prst="rect">
            <a:avLst/>
          </a:prstGeom>
          <a:noFill/>
          <a:ln>
            <a:noFill/>
          </a:ln>
        </p:spPr>
      </p:pic>
      <p:pic>
        <p:nvPicPr>
          <p:cNvPr id="121" name="Google Shape;121;p2" descr="A car on a black background&#10;&#10;Description automatically generated"/>
          <p:cNvPicPr preferRelativeResize="0"/>
          <p:nvPr/>
        </p:nvPicPr>
        <p:blipFill rotWithShape="1">
          <a:blip r:embed="rId12">
            <a:alphaModFix/>
          </a:blip>
          <a:srcRect/>
          <a:stretch/>
        </p:blipFill>
        <p:spPr>
          <a:xfrm>
            <a:off x="3583755" y="2799133"/>
            <a:ext cx="1191719" cy="1191719"/>
          </a:xfrm>
          <a:prstGeom prst="rect">
            <a:avLst/>
          </a:prstGeom>
          <a:noFill/>
          <a:ln>
            <a:noFill/>
          </a:ln>
        </p:spPr>
      </p:pic>
      <p:pic>
        <p:nvPicPr>
          <p:cNvPr id="122" name="Google Shape;122;p2" descr="A black background with a black square&#10;&#10;Description automatically generated with medium confidence"/>
          <p:cNvPicPr preferRelativeResize="0"/>
          <p:nvPr/>
        </p:nvPicPr>
        <p:blipFill rotWithShape="1">
          <a:blip r:embed="rId13">
            <a:alphaModFix/>
          </a:blip>
          <a:srcRect/>
          <a:stretch/>
        </p:blipFill>
        <p:spPr>
          <a:xfrm>
            <a:off x="3751883" y="3714758"/>
            <a:ext cx="855461" cy="855461"/>
          </a:xfrm>
          <a:prstGeom prst="rect">
            <a:avLst/>
          </a:prstGeom>
          <a:noFill/>
          <a:ln>
            <a:noFill/>
          </a:ln>
        </p:spPr>
      </p:pic>
      <p:pic>
        <p:nvPicPr>
          <p:cNvPr id="123" name="Google Shape;123;p2" descr="A black background with a black square&#10;&#10;Description automatically generated with medium confidence"/>
          <p:cNvPicPr preferRelativeResize="0"/>
          <p:nvPr/>
        </p:nvPicPr>
        <p:blipFill rotWithShape="1">
          <a:blip r:embed="rId14">
            <a:alphaModFix/>
          </a:blip>
          <a:srcRect/>
          <a:stretch/>
        </p:blipFill>
        <p:spPr>
          <a:xfrm>
            <a:off x="3924927" y="4518457"/>
            <a:ext cx="457234" cy="471118"/>
          </a:xfrm>
          <a:prstGeom prst="rect">
            <a:avLst/>
          </a:prstGeom>
          <a:noFill/>
          <a:ln>
            <a:noFill/>
          </a:ln>
        </p:spPr>
      </p:pic>
      <p:pic>
        <p:nvPicPr>
          <p:cNvPr id="124" name="Google Shape;124;p2" descr="A black background with a black square&#10;&#10;Description automatically generated with medium confidence"/>
          <p:cNvPicPr preferRelativeResize="0"/>
          <p:nvPr/>
        </p:nvPicPr>
        <p:blipFill rotWithShape="1">
          <a:blip r:embed="rId15">
            <a:alphaModFix/>
          </a:blip>
          <a:srcRect/>
          <a:stretch/>
        </p:blipFill>
        <p:spPr>
          <a:xfrm>
            <a:off x="3763999" y="5115288"/>
            <a:ext cx="722459" cy="722459"/>
          </a:xfrm>
          <a:prstGeom prst="rect">
            <a:avLst/>
          </a:prstGeom>
          <a:noFill/>
          <a:ln>
            <a:noFill/>
          </a:ln>
        </p:spPr>
      </p:pic>
      <p:pic>
        <p:nvPicPr>
          <p:cNvPr id="125" name="Google Shape;125;p2" descr="A black background with a black square&#10;&#10;Description automatically generated with medium confidence"/>
          <p:cNvPicPr preferRelativeResize="0"/>
          <p:nvPr/>
        </p:nvPicPr>
        <p:blipFill rotWithShape="1">
          <a:blip r:embed="rId16">
            <a:alphaModFix/>
          </a:blip>
          <a:srcRect/>
          <a:stretch/>
        </p:blipFill>
        <p:spPr>
          <a:xfrm>
            <a:off x="3896611" y="5917936"/>
            <a:ext cx="457234" cy="45723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
          <p:cNvSpPr/>
          <p:nvPr/>
        </p:nvSpPr>
        <p:spPr>
          <a:xfrm>
            <a:off x="0" y="0"/>
            <a:ext cx="3072984" cy="6858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sp>
        <p:nvSpPr>
          <p:cNvPr id="131" name="Google Shape;131;p3"/>
          <p:cNvSpPr/>
          <p:nvPr/>
        </p:nvSpPr>
        <p:spPr>
          <a:xfrm>
            <a:off x="257331" y="147033"/>
            <a:ext cx="732020" cy="730233"/>
          </a:xfrm>
          <a:prstGeom prst="ellipse">
            <a:avLst/>
          </a:prstGeom>
          <a:solidFill>
            <a:srgbClr val="747474"/>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2" name="Google Shape;132;p3"/>
          <p:cNvSpPr/>
          <p:nvPr/>
        </p:nvSpPr>
        <p:spPr>
          <a:xfrm>
            <a:off x="0" y="3286975"/>
            <a:ext cx="3072984" cy="856684"/>
          </a:xfrm>
          <a:prstGeom prst="rect">
            <a:avLst/>
          </a:prstGeom>
          <a:solidFill>
            <a:srgbClr val="92D050"/>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33" name="Google Shape;133;p3" descr="Scatterplot with solid fill"/>
          <p:cNvPicPr preferRelativeResize="0"/>
          <p:nvPr/>
        </p:nvPicPr>
        <p:blipFill rotWithShape="1">
          <a:blip r:embed="rId3">
            <a:alphaModFix/>
          </a:blip>
          <a:srcRect/>
          <a:stretch/>
        </p:blipFill>
        <p:spPr>
          <a:xfrm>
            <a:off x="257331" y="1111763"/>
            <a:ext cx="732020" cy="732020"/>
          </a:xfrm>
          <a:prstGeom prst="rect">
            <a:avLst/>
          </a:prstGeom>
          <a:noFill/>
          <a:ln>
            <a:noFill/>
          </a:ln>
        </p:spPr>
      </p:pic>
      <p:pic>
        <p:nvPicPr>
          <p:cNvPr id="134" name="Google Shape;134;p3" descr="Car with solid fill"/>
          <p:cNvPicPr preferRelativeResize="0"/>
          <p:nvPr/>
        </p:nvPicPr>
        <p:blipFill rotWithShape="1">
          <a:blip r:embed="rId4">
            <a:alphaModFix/>
          </a:blip>
          <a:srcRect/>
          <a:stretch/>
        </p:blipFill>
        <p:spPr>
          <a:xfrm>
            <a:off x="257331" y="2138592"/>
            <a:ext cx="914400" cy="914400"/>
          </a:xfrm>
          <a:prstGeom prst="rect">
            <a:avLst/>
          </a:prstGeom>
          <a:noFill/>
          <a:ln>
            <a:noFill/>
          </a:ln>
        </p:spPr>
      </p:pic>
      <p:pic>
        <p:nvPicPr>
          <p:cNvPr id="135" name="Google Shape;135;p3" descr="Rupee with solid fill"/>
          <p:cNvPicPr preferRelativeResize="0"/>
          <p:nvPr/>
        </p:nvPicPr>
        <p:blipFill rotWithShape="1">
          <a:blip r:embed="rId5">
            <a:alphaModFix/>
          </a:blip>
          <a:srcRect/>
          <a:stretch/>
        </p:blipFill>
        <p:spPr>
          <a:xfrm>
            <a:off x="348522" y="3431194"/>
            <a:ext cx="567128" cy="567128"/>
          </a:xfrm>
          <a:prstGeom prst="rect">
            <a:avLst/>
          </a:prstGeom>
          <a:noFill/>
          <a:ln>
            <a:noFill/>
          </a:ln>
        </p:spPr>
      </p:pic>
      <p:pic>
        <p:nvPicPr>
          <p:cNvPr id="136" name="Google Shape;136;p3" descr="Crash with solid fill"/>
          <p:cNvPicPr preferRelativeResize="0"/>
          <p:nvPr/>
        </p:nvPicPr>
        <p:blipFill rotWithShape="1">
          <a:blip r:embed="rId6">
            <a:alphaModFix/>
          </a:blip>
          <a:srcRect/>
          <a:stretch/>
        </p:blipFill>
        <p:spPr>
          <a:xfrm>
            <a:off x="237343" y="4232819"/>
            <a:ext cx="914400" cy="914400"/>
          </a:xfrm>
          <a:prstGeom prst="rect">
            <a:avLst/>
          </a:prstGeom>
          <a:noFill/>
          <a:ln>
            <a:noFill/>
          </a:ln>
        </p:spPr>
      </p:pic>
      <p:pic>
        <p:nvPicPr>
          <p:cNvPr id="137" name="Google Shape;137;p3" descr="Rating with solid fill"/>
          <p:cNvPicPr preferRelativeResize="0"/>
          <p:nvPr/>
        </p:nvPicPr>
        <p:blipFill rotWithShape="1">
          <a:blip r:embed="rId7">
            <a:alphaModFix/>
          </a:blip>
          <a:srcRect/>
          <a:stretch/>
        </p:blipFill>
        <p:spPr>
          <a:xfrm>
            <a:off x="174886" y="5559253"/>
            <a:ext cx="914400" cy="914400"/>
          </a:xfrm>
          <a:prstGeom prst="rect">
            <a:avLst/>
          </a:prstGeom>
          <a:noFill/>
          <a:ln>
            <a:noFill/>
          </a:ln>
        </p:spPr>
      </p:pic>
      <p:sp>
        <p:nvSpPr>
          <p:cNvPr id="138" name="Google Shape;138;p3"/>
          <p:cNvSpPr txBox="1"/>
          <p:nvPr/>
        </p:nvSpPr>
        <p:spPr>
          <a:xfrm>
            <a:off x="1089286" y="1275036"/>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Overall</a:t>
            </a:r>
            <a:endParaRPr sz="2000">
              <a:solidFill>
                <a:srgbClr val="AEAEAE"/>
              </a:solidFill>
              <a:latin typeface="Poppins"/>
              <a:ea typeface="Poppins"/>
              <a:cs typeface="Poppins"/>
              <a:sym typeface="Poppins"/>
            </a:endParaRPr>
          </a:p>
        </p:txBody>
      </p:sp>
      <p:sp>
        <p:nvSpPr>
          <p:cNvPr id="139" name="Google Shape;139;p3"/>
          <p:cNvSpPr txBox="1"/>
          <p:nvPr/>
        </p:nvSpPr>
        <p:spPr>
          <a:xfrm>
            <a:off x="1151742" y="2377987"/>
            <a:ext cx="192124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Vehicle Type</a:t>
            </a:r>
            <a:endParaRPr sz="2000">
              <a:solidFill>
                <a:srgbClr val="AEAEAE"/>
              </a:solidFill>
              <a:latin typeface="Poppins"/>
              <a:ea typeface="Poppins"/>
              <a:cs typeface="Poppins"/>
              <a:sym typeface="Poppins"/>
            </a:endParaRPr>
          </a:p>
        </p:txBody>
      </p:sp>
      <p:sp>
        <p:nvSpPr>
          <p:cNvPr id="140" name="Google Shape;140;p3"/>
          <p:cNvSpPr txBox="1"/>
          <p:nvPr/>
        </p:nvSpPr>
        <p:spPr>
          <a:xfrm>
            <a:off x="1151743" y="3468924"/>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Poppins"/>
                <a:ea typeface="Poppins"/>
                <a:cs typeface="Poppins"/>
                <a:sym typeface="Poppins"/>
              </a:rPr>
              <a:t>Revenue</a:t>
            </a:r>
            <a:endParaRPr sz="2000">
              <a:solidFill>
                <a:schemeClr val="lt1"/>
              </a:solidFill>
              <a:latin typeface="Poppins"/>
              <a:ea typeface="Poppins"/>
              <a:cs typeface="Poppins"/>
              <a:sym typeface="Poppins"/>
            </a:endParaRPr>
          </a:p>
        </p:txBody>
      </p:sp>
      <p:sp>
        <p:nvSpPr>
          <p:cNvPr id="141" name="Google Shape;141;p3"/>
          <p:cNvSpPr txBox="1"/>
          <p:nvPr/>
        </p:nvSpPr>
        <p:spPr>
          <a:xfrm>
            <a:off x="1089286" y="4597596"/>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Cancellation</a:t>
            </a:r>
            <a:endParaRPr sz="2000">
              <a:solidFill>
                <a:srgbClr val="AEAEAE"/>
              </a:solidFill>
              <a:latin typeface="Poppins"/>
              <a:ea typeface="Poppins"/>
              <a:cs typeface="Poppins"/>
              <a:sym typeface="Poppins"/>
            </a:endParaRPr>
          </a:p>
        </p:txBody>
      </p:sp>
      <p:sp>
        <p:nvSpPr>
          <p:cNvPr id="142" name="Google Shape;142;p3"/>
          <p:cNvSpPr txBox="1"/>
          <p:nvPr/>
        </p:nvSpPr>
        <p:spPr>
          <a:xfrm>
            <a:off x="1151743" y="5746443"/>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Ratings</a:t>
            </a:r>
            <a:endParaRPr sz="2000">
              <a:solidFill>
                <a:srgbClr val="AEAEAE"/>
              </a:solidFill>
              <a:latin typeface="Poppins"/>
              <a:ea typeface="Poppins"/>
              <a:cs typeface="Poppins"/>
              <a:sym typeface="Poppins"/>
            </a:endParaRPr>
          </a:p>
        </p:txBody>
      </p:sp>
      <p:pic>
        <p:nvPicPr>
          <p:cNvPr id="143" name="Google Shape;143;p3" descr="A white text on a black background&#10;&#10;Description automatically generated"/>
          <p:cNvPicPr preferRelativeResize="0"/>
          <p:nvPr/>
        </p:nvPicPr>
        <p:blipFill rotWithShape="1">
          <a:blip r:embed="rId8">
            <a:alphaModFix/>
          </a:blip>
          <a:srcRect/>
          <a:stretch/>
        </p:blipFill>
        <p:spPr>
          <a:xfrm>
            <a:off x="1099279" y="179363"/>
            <a:ext cx="1279161" cy="683593"/>
          </a:xfrm>
          <a:prstGeom prst="rect">
            <a:avLst/>
          </a:prstGeom>
          <a:noFill/>
          <a:ln>
            <a:noFill/>
          </a:ln>
        </p:spPr>
      </p:pic>
      <p:pic>
        <p:nvPicPr>
          <p:cNvPr id="144" name="Google Shape;144;p3" descr="A yellow circle with black lines&#10;&#10;Description automatically generated"/>
          <p:cNvPicPr preferRelativeResize="0"/>
          <p:nvPr/>
        </p:nvPicPr>
        <p:blipFill rotWithShape="1">
          <a:blip r:embed="rId9">
            <a:alphaModFix/>
          </a:blip>
          <a:srcRect/>
          <a:stretch/>
        </p:blipFill>
        <p:spPr>
          <a:xfrm>
            <a:off x="-41778" y="-154924"/>
            <a:ext cx="1330237" cy="1330237"/>
          </a:xfrm>
          <a:prstGeom prst="rect">
            <a:avLst/>
          </a:prstGeom>
          <a:noFill/>
          <a:ln>
            <a:noFill/>
          </a:ln>
        </p:spPr>
      </p:pic>
      <p:sp>
        <p:nvSpPr>
          <p:cNvPr id="19" name="TextBox 18">
            <a:extLst>
              <a:ext uri="{FF2B5EF4-FFF2-40B4-BE49-F238E27FC236}">
                <a16:creationId xmlns:a16="http://schemas.microsoft.com/office/drawing/2014/main" id="{836C0227-7825-4F95-AB79-F89A293AD2CD}"/>
              </a:ext>
            </a:extLst>
          </p:cNvPr>
          <p:cNvSpPr txBox="1"/>
          <p:nvPr/>
        </p:nvSpPr>
        <p:spPr>
          <a:xfrm>
            <a:off x="3330316" y="332320"/>
            <a:ext cx="8686798" cy="6463308"/>
          </a:xfrm>
          <a:prstGeom prst="rect">
            <a:avLst/>
          </a:prstGeom>
          <a:noFill/>
        </p:spPr>
        <p:txBody>
          <a:bodyPr wrap="square">
            <a:spAutoFit/>
          </a:bodyPr>
          <a:lstStyle/>
          <a:p>
            <a:pPr marL="342900" indent="-342900">
              <a:buFont typeface="+mj-lt"/>
              <a:buAutoNum type="arabicPeriod"/>
            </a:pPr>
            <a:r>
              <a:rPr lang="en-US" b="1" dirty="0"/>
              <a:t>The Revenue Realization Gap</a:t>
            </a:r>
            <a:r>
              <a:rPr lang="en-US" dirty="0"/>
              <a:t> Out of a total potential revenue of </a:t>
            </a:r>
            <a:r>
              <a:rPr lang="en-US" b="1" dirty="0"/>
              <a:t>₹61.15M</a:t>
            </a:r>
            <a:r>
              <a:rPr lang="en-US" dirty="0"/>
              <a:t>, only </a:t>
            </a:r>
            <a:r>
              <a:rPr lang="en-US" b="1" dirty="0"/>
              <a:t>₹39.08M (64%)</a:t>
            </a:r>
            <a:r>
              <a:rPr lang="en-US" dirty="0"/>
              <a:t> is realized through successful rides. This leaves </a:t>
            </a:r>
            <a:r>
              <a:rPr lang="en-US" b="1" dirty="0"/>
              <a:t>₹22.07M (36%)</a:t>
            </a:r>
            <a:r>
              <a:rPr lang="en-US" dirty="0"/>
              <a:t> "leaked" due to cancellations and operational failures—essentially, for every ₹100 of demand, ₹36 is lost.</a:t>
            </a:r>
          </a:p>
          <a:p>
            <a:pPr marL="342900" indent="-342900">
              <a:buFont typeface="+mj-lt"/>
              <a:buAutoNum type="arabicPeriod"/>
            </a:pPr>
            <a:r>
              <a:rPr lang="en-US" b="1" dirty="0"/>
              <a:t>Prime Categories: The Revenue Engine</a:t>
            </a:r>
            <a:r>
              <a:rPr lang="en-US" dirty="0"/>
              <a:t> The Prime segments (Sedan, SUV, and Plus) are the strongest drivers of the business. They generate </a:t>
            </a:r>
            <a:r>
              <a:rPr lang="en-US" b="1" dirty="0"/>
              <a:t>₹15.11M</a:t>
            </a:r>
            <a:r>
              <a:rPr lang="en-US" dirty="0"/>
              <a:t>, contributing nearly </a:t>
            </a:r>
            <a:r>
              <a:rPr lang="en-US" b="1" dirty="0"/>
              <a:t>39%</a:t>
            </a:r>
            <a:r>
              <a:rPr lang="en-US" dirty="0"/>
              <a:t> of all realized revenue, representing the most stable and high-value portion of the portfolio.</a:t>
            </a:r>
          </a:p>
          <a:p>
            <a:pPr marL="342900" indent="-342900">
              <a:buFont typeface="+mj-lt"/>
              <a:buAutoNum type="arabicPeriod"/>
            </a:pPr>
            <a:r>
              <a:rPr lang="en-US" b="1" dirty="0"/>
              <a:t>The Root Cause: Driver-Side Leakage</a:t>
            </a:r>
            <a:r>
              <a:rPr lang="en-US" dirty="0"/>
              <a:t> Revenue loss is heavily skewed toward supply-side issues rather than customer behavior. </a:t>
            </a:r>
            <a:r>
              <a:rPr lang="en-US" b="1" dirty="0"/>
              <a:t>"Canceled by Driver"</a:t>
            </a:r>
            <a:r>
              <a:rPr lang="en-US" dirty="0"/>
              <a:t> is the single largest drain at </a:t>
            </a:r>
            <a:r>
              <a:rPr lang="en-US" b="1" dirty="0"/>
              <a:t>₹10.17M (46% of total loss)</a:t>
            </a:r>
            <a:r>
              <a:rPr lang="en-US" dirty="0"/>
              <a:t>, followed by "Driver Not Found" at ₹6.13M (28%). Customer-initiated cancellations account for only 26% of the deficit.</a:t>
            </a:r>
          </a:p>
          <a:p>
            <a:pPr marL="342900" indent="-342900">
              <a:buFont typeface="+mj-lt"/>
              <a:buAutoNum type="arabicPeriod"/>
            </a:pPr>
            <a:r>
              <a:rPr lang="en-US" b="1" dirty="0"/>
              <a:t>Supply Inefficiencies in Mass Segments</a:t>
            </a:r>
            <a:r>
              <a:rPr lang="en-US" dirty="0"/>
              <a:t> While demand is robust, non-prime segments such as </a:t>
            </a:r>
            <a:r>
              <a:rPr lang="en-US" b="1" dirty="0"/>
              <a:t>Mini, Auto, and Bike</a:t>
            </a:r>
            <a:r>
              <a:rPr lang="en-US" dirty="0"/>
              <a:t> are struggling with severe fulfillment issues. These categories consistently lose between </a:t>
            </a:r>
            <a:r>
              <a:rPr lang="en-US" b="1" dirty="0"/>
              <a:t>38% and 39%</a:t>
            </a:r>
            <a:r>
              <a:rPr lang="en-US" dirty="0"/>
              <a:t> of their potential revenue, indicating that the supply is not positioned where the demand is.</a:t>
            </a:r>
          </a:p>
          <a:p>
            <a:pPr marL="342900" indent="-342900">
              <a:buFont typeface="+mj-lt"/>
              <a:buAutoNum type="arabicPeriod"/>
            </a:pPr>
            <a:r>
              <a:rPr lang="en-US" b="1" dirty="0"/>
              <a:t>Strategic Opportunity: Unlocking ₹10M+</a:t>
            </a:r>
            <a:r>
              <a:rPr lang="en-US" dirty="0"/>
              <a:t> There is a clear path to reclaiming over </a:t>
            </a:r>
            <a:r>
              <a:rPr lang="en-US" b="1" dirty="0"/>
              <a:t>45% of current losses</a:t>
            </a:r>
            <a:r>
              <a:rPr lang="en-US" dirty="0"/>
              <a:t> without spending on new customer acquisition. By prioritizing driver retention through better incentive structures and optimizing supply positioning for high-volume segments, the business can unlock </a:t>
            </a:r>
            <a:r>
              <a:rPr lang="en-US" b="1" dirty="0"/>
              <a:t>₹10M+ in "found" revenue</a:t>
            </a:r>
            <a:r>
              <a:rPr lang="en-US" dirty="0"/>
              <a:t> through pure reliability.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
          <p:cNvSpPr/>
          <p:nvPr/>
        </p:nvSpPr>
        <p:spPr>
          <a:xfrm>
            <a:off x="0" y="0"/>
            <a:ext cx="3072984" cy="6858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sp>
        <p:nvSpPr>
          <p:cNvPr id="150" name="Google Shape;150;p4"/>
          <p:cNvSpPr/>
          <p:nvPr/>
        </p:nvSpPr>
        <p:spPr>
          <a:xfrm>
            <a:off x="257331" y="147033"/>
            <a:ext cx="732020" cy="730233"/>
          </a:xfrm>
          <a:prstGeom prst="ellipse">
            <a:avLst/>
          </a:prstGeom>
          <a:solidFill>
            <a:srgbClr val="747474"/>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1" name="Google Shape;151;p4"/>
          <p:cNvSpPr/>
          <p:nvPr/>
        </p:nvSpPr>
        <p:spPr>
          <a:xfrm>
            <a:off x="0" y="4369309"/>
            <a:ext cx="3072984" cy="856684"/>
          </a:xfrm>
          <a:prstGeom prst="rect">
            <a:avLst/>
          </a:prstGeom>
          <a:solidFill>
            <a:srgbClr val="92D050"/>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52" name="Google Shape;152;p4" descr="Scatterplot with solid fill"/>
          <p:cNvPicPr preferRelativeResize="0"/>
          <p:nvPr/>
        </p:nvPicPr>
        <p:blipFill rotWithShape="1">
          <a:blip r:embed="rId3">
            <a:alphaModFix/>
          </a:blip>
          <a:srcRect/>
          <a:stretch/>
        </p:blipFill>
        <p:spPr>
          <a:xfrm>
            <a:off x="257331" y="1111763"/>
            <a:ext cx="732020" cy="732020"/>
          </a:xfrm>
          <a:prstGeom prst="rect">
            <a:avLst/>
          </a:prstGeom>
          <a:noFill/>
          <a:ln>
            <a:noFill/>
          </a:ln>
        </p:spPr>
      </p:pic>
      <p:pic>
        <p:nvPicPr>
          <p:cNvPr id="153" name="Google Shape;153;p4" descr="Car with solid fill"/>
          <p:cNvPicPr preferRelativeResize="0"/>
          <p:nvPr/>
        </p:nvPicPr>
        <p:blipFill rotWithShape="1">
          <a:blip r:embed="rId4">
            <a:alphaModFix/>
          </a:blip>
          <a:srcRect/>
          <a:stretch/>
        </p:blipFill>
        <p:spPr>
          <a:xfrm>
            <a:off x="257331" y="2138592"/>
            <a:ext cx="914400" cy="914400"/>
          </a:xfrm>
          <a:prstGeom prst="rect">
            <a:avLst/>
          </a:prstGeom>
          <a:noFill/>
          <a:ln>
            <a:noFill/>
          </a:ln>
        </p:spPr>
      </p:pic>
      <p:pic>
        <p:nvPicPr>
          <p:cNvPr id="154" name="Google Shape;154;p4" descr="Rupee with solid fill"/>
          <p:cNvPicPr preferRelativeResize="0"/>
          <p:nvPr/>
        </p:nvPicPr>
        <p:blipFill rotWithShape="1">
          <a:blip r:embed="rId5">
            <a:alphaModFix/>
          </a:blip>
          <a:srcRect/>
          <a:stretch/>
        </p:blipFill>
        <p:spPr>
          <a:xfrm>
            <a:off x="348522" y="3431194"/>
            <a:ext cx="567128" cy="567128"/>
          </a:xfrm>
          <a:prstGeom prst="rect">
            <a:avLst/>
          </a:prstGeom>
          <a:noFill/>
          <a:ln>
            <a:noFill/>
          </a:ln>
        </p:spPr>
      </p:pic>
      <p:pic>
        <p:nvPicPr>
          <p:cNvPr id="155" name="Google Shape;155;p4" descr="Crash with solid fill"/>
          <p:cNvPicPr preferRelativeResize="0"/>
          <p:nvPr/>
        </p:nvPicPr>
        <p:blipFill rotWithShape="1">
          <a:blip r:embed="rId6">
            <a:alphaModFix/>
          </a:blip>
          <a:srcRect/>
          <a:stretch/>
        </p:blipFill>
        <p:spPr>
          <a:xfrm>
            <a:off x="237343" y="4232819"/>
            <a:ext cx="914400" cy="914400"/>
          </a:xfrm>
          <a:prstGeom prst="rect">
            <a:avLst/>
          </a:prstGeom>
          <a:noFill/>
          <a:ln>
            <a:noFill/>
          </a:ln>
        </p:spPr>
      </p:pic>
      <p:pic>
        <p:nvPicPr>
          <p:cNvPr id="156" name="Google Shape;156;p4" descr="Rating with solid fill"/>
          <p:cNvPicPr preferRelativeResize="0"/>
          <p:nvPr/>
        </p:nvPicPr>
        <p:blipFill rotWithShape="1">
          <a:blip r:embed="rId7">
            <a:alphaModFix/>
          </a:blip>
          <a:srcRect/>
          <a:stretch/>
        </p:blipFill>
        <p:spPr>
          <a:xfrm>
            <a:off x="174886" y="5559253"/>
            <a:ext cx="914400" cy="914400"/>
          </a:xfrm>
          <a:prstGeom prst="rect">
            <a:avLst/>
          </a:prstGeom>
          <a:noFill/>
          <a:ln>
            <a:noFill/>
          </a:ln>
        </p:spPr>
      </p:pic>
      <p:sp>
        <p:nvSpPr>
          <p:cNvPr id="157" name="Google Shape;157;p4"/>
          <p:cNvSpPr txBox="1"/>
          <p:nvPr/>
        </p:nvSpPr>
        <p:spPr>
          <a:xfrm>
            <a:off x="1089286" y="1275036"/>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Overall</a:t>
            </a:r>
            <a:endParaRPr sz="2000">
              <a:solidFill>
                <a:srgbClr val="AEAEAE"/>
              </a:solidFill>
              <a:latin typeface="Poppins"/>
              <a:ea typeface="Poppins"/>
              <a:cs typeface="Poppins"/>
              <a:sym typeface="Poppins"/>
            </a:endParaRPr>
          </a:p>
        </p:txBody>
      </p:sp>
      <p:sp>
        <p:nvSpPr>
          <p:cNvPr id="158" name="Google Shape;158;p4"/>
          <p:cNvSpPr txBox="1"/>
          <p:nvPr/>
        </p:nvSpPr>
        <p:spPr>
          <a:xfrm>
            <a:off x="1151742" y="2377987"/>
            <a:ext cx="192124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Vehicle Type</a:t>
            </a:r>
            <a:endParaRPr sz="2000">
              <a:solidFill>
                <a:srgbClr val="AEAEAE"/>
              </a:solidFill>
              <a:latin typeface="Poppins"/>
              <a:ea typeface="Poppins"/>
              <a:cs typeface="Poppins"/>
              <a:sym typeface="Poppins"/>
            </a:endParaRPr>
          </a:p>
        </p:txBody>
      </p:sp>
      <p:sp>
        <p:nvSpPr>
          <p:cNvPr id="159" name="Google Shape;159;p4"/>
          <p:cNvSpPr txBox="1"/>
          <p:nvPr/>
        </p:nvSpPr>
        <p:spPr>
          <a:xfrm>
            <a:off x="1151743" y="3468924"/>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Revenue</a:t>
            </a:r>
            <a:endParaRPr sz="2000">
              <a:solidFill>
                <a:srgbClr val="AEAEAE"/>
              </a:solidFill>
              <a:latin typeface="Poppins"/>
              <a:ea typeface="Poppins"/>
              <a:cs typeface="Poppins"/>
              <a:sym typeface="Poppins"/>
            </a:endParaRPr>
          </a:p>
        </p:txBody>
      </p:sp>
      <p:sp>
        <p:nvSpPr>
          <p:cNvPr id="160" name="Google Shape;160;p4"/>
          <p:cNvSpPr txBox="1"/>
          <p:nvPr/>
        </p:nvSpPr>
        <p:spPr>
          <a:xfrm>
            <a:off x="1089286" y="4597596"/>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Poppins"/>
                <a:ea typeface="Poppins"/>
                <a:cs typeface="Poppins"/>
                <a:sym typeface="Poppins"/>
              </a:rPr>
              <a:t>Cancellation</a:t>
            </a:r>
            <a:endParaRPr sz="2000">
              <a:solidFill>
                <a:schemeClr val="lt1"/>
              </a:solidFill>
              <a:latin typeface="Poppins"/>
              <a:ea typeface="Poppins"/>
              <a:cs typeface="Poppins"/>
              <a:sym typeface="Poppins"/>
            </a:endParaRPr>
          </a:p>
        </p:txBody>
      </p:sp>
      <p:sp>
        <p:nvSpPr>
          <p:cNvPr id="161" name="Google Shape;161;p4"/>
          <p:cNvSpPr txBox="1"/>
          <p:nvPr/>
        </p:nvSpPr>
        <p:spPr>
          <a:xfrm>
            <a:off x="1151743" y="5746443"/>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Ratings</a:t>
            </a:r>
            <a:endParaRPr sz="2000">
              <a:solidFill>
                <a:srgbClr val="AEAEAE"/>
              </a:solidFill>
              <a:latin typeface="Poppins"/>
              <a:ea typeface="Poppins"/>
              <a:cs typeface="Poppins"/>
              <a:sym typeface="Poppins"/>
            </a:endParaRPr>
          </a:p>
        </p:txBody>
      </p:sp>
      <p:pic>
        <p:nvPicPr>
          <p:cNvPr id="162" name="Google Shape;162;p4" descr="A white text on a black background&#10;&#10;Description automatically generated"/>
          <p:cNvPicPr preferRelativeResize="0"/>
          <p:nvPr/>
        </p:nvPicPr>
        <p:blipFill rotWithShape="1">
          <a:blip r:embed="rId8">
            <a:alphaModFix/>
          </a:blip>
          <a:srcRect/>
          <a:stretch/>
        </p:blipFill>
        <p:spPr>
          <a:xfrm>
            <a:off x="1099279" y="179363"/>
            <a:ext cx="1279161" cy="683593"/>
          </a:xfrm>
          <a:prstGeom prst="rect">
            <a:avLst/>
          </a:prstGeom>
          <a:noFill/>
          <a:ln>
            <a:noFill/>
          </a:ln>
        </p:spPr>
      </p:pic>
      <p:pic>
        <p:nvPicPr>
          <p:cNvPr id="163" name="Google Shape;163;p4" descr="A yellow circle with black lines&#10;&#10;Description automatically generated"/>
          <p:cNvPicPr preferRelativeResize="0"/>
          <p:nvPr/>
        </p:nvPicPr>
        <p:blipFill rotWithShape="1">
          <a:blip r:embed="rId9">
            <a:alphaModFix/>
          </a:blip>
          <a:srcRect/>
          <a:stretch/>
        </p:blipFill>
        <p:spPr>
          <a:xfrm>
            <a:off x="-41778" y="-154924"/>
            <a:ext cx="1330237" cy="1330237"/>
          </a:xfrm>
          <a:prstGeom prst="rect">
            <a:avLst/>
          </a:prstGeom>
          <a:noFill/>
          <a:ln>
            <a:noFill/>
          </a:ln>
        </p:spPr>
      </p:pic>
      <p:sp>
        <p:nvSpPr>
          <p:cNvPr id="23" name="TextBox 22">
            <a:extLst>
              <a:ext uri="{FF2B5EF4-FFF2-40B4-BE49-F238E27FC236}">
                <a16:creationId xmlns:a16="http://schemas.microsoft.com/office/drawing/2014/main" id="{B5693640-A59F-4887-9FE9-440409540203}"/>
              </a:ext>
            </a:extLst>
          </p:cNvPr>
          <p:cNvSpPr txBox="1"/>
          <p:nvPr/>
        </p:nvSpPr>
        <p:spPr>
          <a:xfrm>
            <a:off x="3309077" y="341711"/>
            <a:ext cx="8361688" cy="4524315"/>
          </a:xfrm>
          <a:prstGeom prst="rect">
            <a:avLst/>
          </a:prstGeom>
          <a:noFill/>
        </p:spPr>
        <p:txBody>
          <a:bodyPr wrap="square">
            <a:spAutoFit/>
          </a:bodyPr>
          <a:lstStyle/>
          <a:p>
            <a:pPr marL="285750" indent="-285750">
              <a:buFont typeface="Arial" panose="020B0604020202020204" pitchFamily="34" charset="0"/>
              <a:buChar char="•"/>
            </a:pPr>
            <a:r>
              <a:rPr lang="en-IN" dirty="0"/>
              <a:t>Total cancellation-related revenue loss: ₹22.07M Represents 36% of total potential revenue Confirms cancellations are a material business problem, not edge noise.</a:t>
            </a:r>
          </a:p>
          <a:p>
            <a:pPr marL="285750" indent="-285750">
              <a:buFont typeface="Arial" panose="020B0604020202020204" pitchFamily="34" charset="0"/>
              <a:buChar char="•"/>
            </a:pPr>
            <a:r>
              <a:rPr lang="en-IN" dirty="0"/>
              <a:t>Cancelled by Driver: ₹10.17M (46%) Largest contributor to cancellation loss Indicates poor driver commitment, incentive misalignment, or selective ride rejection Directly linked to lost supply, not customer behaviour.</a:t>
            </a:r>
          </a:p>
          <a:p>
            <a:pPr marL="285750" indent="-285750">
              <a:buFont typeface="Arial" panose="020B0604020202020204" pitchFamily="34" charset="0"/>
              <a:buChar char="•"/>
            </a:pPr>
            <a:r>
              <a:rPr lang="en-IN" dirty="0"/>
              <a:t>Driver Not Found: ₹6.13M (28%) Shows demand exists but supply is unavailable at booking time Suggests issues with driver density, peak-hour coverage, or allocation logic. </a:t>
            </a:r>
          </a:p>
          <a:p>
            <a:pPr marL="285750" indent="-285750">
              <a:buFont typeface="Arial" panose="020B0604020202020204" pitchFamily="34" charset="0"/>
              <a:buChar char="•"/>
            </a:pPr>
            <a:r>
              <a:rPr lang="en-IN" dirty="0"/>
              <a:t>Cancelled by Customer: ₹5.77M (26%) Lowest contributor among cancellation reasons Relatively stable across vehicle types Less impactful compared to driver-side failures.</a:t>
            </a:r>
          </a:p>
          <a:p>
            <a:pPr marL="285750" indent="-285750">
              <a:buFont typeface="Arial" panose="020B0604020202020204" pitchFamily="34" charset="0"/>
              <a:buChar char="•"/>
            </a:pPr>
            <a:r>
              <a:rPr lang="en-IN" dirty="0"/>
              <a:t>Mini, Auto, and Bike each lose ~38–39% of potential revenue High-frequency, low-margin segments Highly dependent on volatile driver supply Most vulnerable to driver-side cancellations.</a:t>
            </a:r>
          </a:p>
          <a:p>
            <a:pPr marL="285750" indent="-285750">
              <a:buFont typeface="Arial" panose="020B0604020202020204" pitchFamily="34" charset="0"/>
              <a:buChar char="•"/>
            </a:pPr>
            <a:r>
              <a:rPr lang="en-IN" dirty="0"/>
              <a:t>Prime categories show lower proportional loss Better driver engagement Higher fares reduce cancellation incentives More stable execution compared to non-prime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graphicFrame>
        <p:nvGraphicFramePr>
          <p:cNvPr id="168" name="Google Shape;168;p5"/>
          <p:cNvGraphicFramePr/>
          <p:nvPr>
            <p:extLst>
              <p:ext uri="{D42A27DB-BD31-4B8C-83A1-F6EECF244321}">
                <p14:modId xmlns:p14="http://schemas.microsoft.com/office/powerpoint/2010/main" val="2391347398"/>
              </p:ext>
            </p:extLst>
          </p:nvPr>
        </p:nvGraphicFramePr>
        <p:xfrm>
          <a:off x="3330315" y="2081437"/>
          <a:ext cx="8128050" cy="1393320"/>
        </p:xfrm>
        <a:graphic>
          <a:graphicData uri="http://schemas.openxmlformats.org/drawingml/2006/table">
            <a:tbl>
              <a:tblPr firstRow="1" bandRow="1">
                <a:noFill/>
              </a:tblPr>
              <a:tblGrid>
                <a:gridCol w="1161150">
                  <a:extLst>
                    <a:ext uri="{9D8B030D-6E8A-4147-A177-3AD203B41FA5}">
                      <a16:colId xmlns:a16="http://schemas.microsoft.com/office/drawing/2014/main" val="20000"/>
                    </a:ext>
                  </a:extLst>
                </a:gridCol>
                <a:gridCol w="1161150">
                  <a:extLst>
                    <a:ext uri="{9D8B030D-6E8A-4147-A177-3AD203B41FA5}">
                      <a16:colId xmlns:a16="http://schemas.microsoft.com/office/drawing/2014/main" val="20001"/>
                    </a:ext>
                  </a:extLst>
                </a:gridCol>
                <a:gridCol w="1161150">
                  <a:extLst>
                    <a:ext uri="{9D8B030D-6E8A-4147-A177-3AD203B41FA5}">
                      <a16:colId xmlns:a16="http://schemas.microsoft.com/office/drawing/2014/main" val="20002"/>
                    </a:ext>
                  </a:extLst>
                </a:gridCol>
                <a:gridCol w="1161150">
                  <a:extLst>
                    <a:ext uri="{9D8B030D-6E8A-4147-A177-3AD203B41FA5}">
                      <a16:colId xmlns:a16="http://schemas.microsoft.com/office/drawing/2014/main" val="20003"/>
                    </a:ext>
                  </a:extLst>
                </a:gridCol>
                <a:gridCol w="1161150">
                  <a:extLst>
                    <a:ext uri="{9D8B030D-6E8A-4147-A177-3AD203B41FA5}">
                      <a16:colId xmlns:a16="http://schemas.microsoft.com/office/drawing/2014/main" val="20004"/>
                    </a:ext>
                  </a:extLst>
                </a:gridCol>
                <a:gridCol w="1161150">
                  <a:extLst>
                    <a:ext uri="{9D8B030D-6E8A-4147-A177-3AD203B41FA5}">
                      <a16:colId xmlns:a16="http://schemas.microsoft.com/office/drawing/2014/main" val="20005"/>
                    </a:ext>
                  </a:extLst>
                </a:gridCol>
                <a:gridCol w="1161150">
                  <a:extLst>
                    <a:ext uri="{9D8B030D-6E8A-4147-A177-3AD203B41FA5}">
                      <a16:colId xmlns:a16="http://schemas.microsoft.com/office/drawing/2014/main" val="20006"/>
                    </a:ext>
                  </a:extLst>
                </a:gridCol>
              </a:tblGrid>
              <a:tr h="813150">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Prime Sedan</a:t>
                      </a:r>
                      <a:endParaRPr sz="1200" u="none" strike="noStrike" cap="none">
                        <a:solidFill>
                          <a:srgbClr val="0C0C0C"/>
                        </a:solidFill>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Prime SUV</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Prime Plus</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Mini</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Auto</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Bike</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E-Bike</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0"/>
                  </a:ext>
                </a:extLst>
              </a:tr>
              <a:tr h="570350">
                <a:tc>
                  <a:txBody>
                    <a:bodyPr/>
                    <a:lstStyle/>
                    <a:p>
                      <a:pPr marL="0" marR="0" lvl="0" indent="0" algn="l" rtl="0">
                        <a:spcBef>
                          <a:spcPts val="0"/>
                        </a:spcBef>
                        <a:spcAft>
                          <a:spcPts val="0"/>
                        </a:spcAft>
                        <a:buNone/>
                      </a:pPr>
                      <a:r>
                        <a:rPr lang="en-IN" sz="1800" dirty="0"/>
                        <a:t>4.00</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4.00</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4.01</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4.00</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4.00</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3.99</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3.99</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69" name="Google Shape;169;p5"/>
          <p:cNvSpPr/>
          <p:nvPr/>
        </p:nvSpPr>
        <p:spPr>
          <a:xfrm>
            <a:off x="0" y="0"/>
            <a:ext cx="3072984" cy="6858000"/>
          </a:xfrm>
          <a:prstGeom prst="rect">
            <a:avLst/>
          </a:prstGeom>
          <a:solidFill>
            <a:srgbClr val="262626"/>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A3A3A"/>
              </a:solidFill>
              <a:latin typeface="Arial"/>
              <a:ea typeface="Arial"/>
              <a:cs typeface="Arial"/>
              <a:sym typeface="Arial"/>
            </a:endParaRPr>
          </a:p>
        </p:txBody>
      </p:sp>
      <p:sp>
        <p:nvSpPr>
          <p:cNvPr id="170" name="Google Shape;170;p5"/>
          <p:cNvSpPr/>
          <p:nvPr/>
        </p:nvSpPr>
        <p:spPr>
          <a:xfrm>
            <a:off x="257331" y="147033"/>
            <a:ext cx="732020" cy="730233"/>
          </a:xfrm>
          <a:prstGeom prst="ellipse">
            <a:avLst/>
          </a:prstGeom>
          <a:solidFill>
            <a:srgbClr val="747474"/>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5"/>
          <p:cNvSpPr/>
          <p:nvPr/>
        </p:nvSpPr>
        <p:spPr>
          <a:xfrm>
            <a:off x="0" y="5530674"/>
            <a:ext cx="3072984" cy="856684"/>
          </a:xfrm>
          <a:prstGeom prst="rect">
            <a:avLst/>
          </a:prstGeom>
          <a:solidFill>
            <a:srgbClr val="92D050"/>
          </a:solid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72" name="Google Shape;172;p5" descr="Scatterplot with solid fill"/>
          <p:cNvPicPr preferRelativeResize="0"/>
          <p:nvPr/>
        </p:nvPicPr>
        <p:blipFill rotWithShape="1">
          <a:blip r:embed="rId3">
            <a:alphaModFix/>
          </a:blip>
          <a:srcRect/>
          <a:stretch/>
        </p:blipFill>
        <p:spPr>
          <a:xfrm>
            <a:off x="257331" y="1111763"/>
            <a:ext cx="732020" cy="732020"/>
          </a:xfrm>
          <a:prstGeom prst="rect">
            <a:avLst/>
          </a:prstGeom>
          <a:noFill/>
          <a:ln>
            <a:noFill/>
          </a:ln>
        </p:spPr>
      </p:pic>
      <p:pic>
        <p:nvPicPr>
          <p:cNvPr id="173" name="Google Shape;173;p5" descr="Car with solid fill"/>
          <p:cNvPicPr preferRelativeResize="0"/>
          <p:nvPr/>
        </p:nvPicPr>
        <p:blipFill rotWithShape="1">
          <a:blip r:embed="rId4">
            <a:alphaModFix/>
          </a:blip>
          <a:srcRect/>
          <a:stretch/>
        </p:blipFill>
        <p:spPr>
          <a:xfrm>
            <a:off x="257331" y="2138592"/>
            <a:ext cx="914400" cy="914400"/>
          </a:xfrm>
          <a:prstGeom prst="rect">
            <a:avLst/>
          </a:prstGeom>
          <a:noFill/>
          <a:ln>
            <a:noFill/>
          </a:ln>
        </p:spPr>
      </p:pic>
      <p:pic>
        <p:nvPicPr>
          <p:cNvPr id="174" name="Google Shape;174;p5" descr="Rupee with solid fill"/>
          <p:cNvPicPr preferRelativeResize="0"/>
          <p:nvPr/>
        </p:nvPicPr>
        <p:blipFill rotWithShape="1">
          <a:blip r:embed="rId5">
            <a:alphaModFix/>
          </a:blip>
          <a:srcRect/>
          <a:stretch/>
        </p:blipFill>
        <p:spPr>
          <a:xfrm>
            <a:off x="348522" y="3431194"/>
            <a:ext cx="567128" cy="567128"/>
          </a:xfrm>
          <a:prstGeom prst="rect">
            <a:avLst/>
          </a:prstGeom>
          <a:noFill/>
          <a:ln>
            <a:noFill/>
          </a:ln>
        </p:spPr>
      </p:pic>
      <p:pic>
        <p:nvPicPr>
          <p:cNvPr id="175" name="Google Shape;175;p5" descr="Crash with solid fill"/>
          <p:cNvPicPr preferRelativeResize="0"/>
          <p:nvPr/>
        </p:nvPicPr>
        <p:blipFill rotWithShape="1">
          <a:blip r:embed="rId6">
            <a:alphaModFix/>
          </a:blip>
          <a:srcRect/>
          <a:stretch/>
        </p:blipFill>
        <p:spPr>
          <a:xfrm>
            <a:off x="237343" y="4232819"/>
            <a:ext cx="914400" cy="914400"/>
          </a:xfrm>
          <a:prstGeom prst="rect">
            <a:avLst/>
          </a:prstGeom>
          <a:noFill/>
          <a:ln>
            <a:noFill/>
          </a:ln>
        </p:spPr>
      </p:pic>
      <p:pic>
        <p:nvPicPr>
          <p:cNvPr id="176" name="Google Shape;176;p5" descr="Rating with solid fill"/>
          <p:cNvPicPr preferRelativeResize="0"/>
          <p:nvPr/>
        </p:nvPicPr>
        <p:blipFill rotWithShape="1">
          <a:blip r:embed="rId7">
            <a:alphaModFix/>
          </a:blip>
          <a:srcRect/>
          <a:stretch/>
        </p:blipFill>
        <p:spPr>
          <a:xfrm>
            <a:off x="174886" y="5559253"/>
            <a:ext cx="914400" cy="914400"/>
          </a:xfrm>
          <a:prstGeom prst="rect">
            <a:avLst/>
          </a:prstGeom>
          <a:noFill/>
          <a:ln>
            <a:noFill/>
          </a:ln>
        </p:spPr>
      </p:pic>
      <p:sp>
        <p:nvSpPr>
          <p:cNvPr id="177" name="Google Shape;177;p5"/>
          <p:cNvSpPr txBox="1"/>
          <p:nvPr/>
        </p:nvSpPr>
        <p:spPr>
          <a:xfrm>
            <a:off x="1089286" y="1275036"/>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Overall</a:t>
            </a:r>
            <a:endParaRPr sz="2000">
              <a:solidFill>
                <a:srgbClr val="AEAEAE"/>
              </a:solidFill>
              <a:latin typeface="Poppins"/>
              <a:ea typeface="Poppins"/>
              <a:cs typeface="Poppins"/>
              <a:sym typeface="Poppins"/>
            </a:endParaRPr>
          </a:p>
        </p:txBody>
      </p:sp>
      <p:sp>
        <p:nvSpPr>
          <p:cNvPr id="178" name="Google Shape;178;p5"/>
          <p:cNvSpPr txBox="1"/>
          <p:nvPr/>
        </p:nvSpPr>
        <p:spPr>
          <a:xfrm>
            <a:off x="1151742" y="2377987"/>
            <a:ext cx="192124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Vehicle Type</a:t>
            </a:r>
            <a:endParaRPr sz="2000">
              <a:solidFill>
                <a:srgbClr val="AEAEAE"/>
              </a:solidFill>
              <a:latin typeface="Poppins"/>
              <a:ea typeface="Poppins"/>
              <a:cs typeface="Poppins"/>
              <a:sym typeface="Poppins"/>
            </a:endParaRPr>
          </a:p>
        </p:txBody>
      </p:sp>
      <p:sp>
        <p:nvSpPr>
          <p:cNvPr id="179" name="Google Shape;179;p5"/>
          <p:cNvSpPr txBox="1"/>
          <p:nvPr/>
        </p:nvSpPr>
        <p:spPr>
          <a:xfrm>
            <a:off x="1151743" y="3468924"/>
            <a:ext cx="129914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Revenue</a:t>
            </a:r>
            <a:endParaRPr sz="2000">
              <a:solidFill>
                <a:srgbClr val="AEAEAE"/>
              </a:solidFill>
              <a:latin typeface="Poppins"/>
              <a:ea typeface="Poppins"/>
              <a:cs typeface="Poppins"/>
              <a:sym typeface="Poppins"/>
            </a:endParaRPr>
          </a:p>
        </p:txBody>
      </p:sp>
      <p:sp>
        <p:nvSpPr>
          <p:cNvPr id="180" name="Google Shape;180;p5"/>
          <p:cNvSpPr txBox="1"/>
          <p:nvPr/>
        </p:nvSpPr>
        <p:spPr>
          <a:xfrm>
            <a:off x="1089286" y="4597596"/>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AEAEAE"/>
                </a:solidFill>
                <a:latin typeface="Poppins"/>
                <a:ea typeface="Poppins"/>
                <a:cs typeface="Poppins"/>
                <a:sym typeface="Poppins"/>
              </a:rPr>
              <a:t>Cancellation</a:t>
            </a:r>
            <a:endParaRPr sz="2000">
              <a:solidFill>
                <a:srgbClr val="AEAEAE"/>
              </a:solidFill>
              <a:latin typeface="Poppins"/>
              <a:ea typeface="Poppins"/>
              <a:cs typeface="Poppins"/>
              <a:sym typeface="Poppins"/>
            </a:endParaRPr>
          </a:p>
        </p:txBody>
      </p:sp>
      <p:sp>
        <p:nvSpPr>
          <p:cNvPr id="181" name="Google Shape;181;p5"/>
          <p:cNvSpPr txBox="1"/>
          <p:nvPr/>
        </p:nvSpPr>
        <p:spPr>
          <a:xfrm>
            <a:off x="1151743" y="5746443"/>
            <a:ext cx="181880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Poppins"/>
                <a:ea typeface="Poppins"/>
                <a:cs typeface="Poppins"/>
                <a:sym typeface="Poppins"/>
              </a:rPr>
              <a:t>Ratings</a:t>
            </a:r>
            <a:endParaRPr sz="2000">
              <a:solidFill>
                <a:schemeClr val="lt1"/>
              </a:solidFill>
              <a:latin typeface="Poppins"/>
              <a:ea typeface="Poppins"/>
              <a:cs typeface="Poppins"/>
              <a:sym typeface="Poppins"/>
            </a:endParaRPr>
          </a:p>
        </p:txBody>
      </p:sp>
      <p:pic>
        <p:nvPicPr>
          <p:cNvPr id="182" name="Google Shape;182;p5" descr="A white text on a black background&#10;&#10;Description automatically generated"/>
          <p:cNvPicPr preferRelativeResize="0"/>
          <p:nvPr/>
        </p:nvPicPr>
        <p:blipFill rotWithShape="1">
          <a:blip r:embed="rId8">
            <a:alphaModFix/>
          </a:blip>
          <a:srcRect/>
          <a:stretch/>
        </p:blipFill>
        <p:spPr>
          <a:xfrm>
            <a:off x="1099279" y="179363"/>
            <a:ext cx="1279161" cy="683593"/>
          </a:xfrm>
          <a:prstGeom prst="rect">
            <a:avLst/>
          </a:prstGeom>
          <a:noFill/>
          <a:ln>
            <a:noFill/>
          </a:ln>
        </p:spPr>
      </p:pic>
      <p:pic>
        <p:nvPicPr>
          <p:cNvPr id="183" name="Google Shape;183;p5" descr="A yellow circle with black lines&#10;&#10;Description automatically generated"/>
          <p:cNvPicPr preferRelativeResize="0"/>
          <p:nvPr/>
        </p:nvPicPr>
        <p:blipFill rotWithShape="1">
          <a:blip r:embed="rId9">
            <a:alphaModFix/>
          </a:blip>
          <a:srcRect/>
          <a:stretch/>
        </p:blipFill>
        <p:spPr>
          <a:xfrm>
            <a:off x="-41778" y="-154924"/>
            <a:ext cx="1330237" cy="1330237"/>
          </a:xfrm>
          <a:prstGeom prst="rect">
            <a:avLst/>
          </a:prstGeom>
          <a:noFill/>
          <a:ln>
            <a:noFill/>
          </a:ln>
        </p:spPr>
      </p:pic>
      <p:pic>
        <p:nvPicPr>
          <p:cNvPr id="184" name="Google Shape;184;p5" descr="A black background with a black square&#10;&#10;Description automatically generated with medium confidence"/>
          <p:cNvPicPr preferRelativeResize="0"/>
          <p:nvPr/>
        </p:nvPicPr>
        <p:blipFill rotWithShape="1">
          <a:blip r:embed="rId10">
            <a:alphaModFix/>
          </a:blip>
          <a:srcRect/>
          <a:stretch/>
        </p:blipFill>
        <p:spPr>
          <a:xfrm>
            <a:off x="3488958" y="1969123"/>
            <a:ext cx="956874" cy="956874"/>
          </a:xfrm>
          <a:prstGeom prst="rect">
            <a:avLst/>
          </a:prstGeom>
          <a:noFill/>
          <a:ln>
            <a:noFill/>
          </a:ln>
        </p:spPr>
      </p:pic>
      <p:pic>
        <p:nvPicPr>
          <p:cNvPr id="185" name="Google Shape;185;p5" descr="A black background with a black square&#10;&#10;Description automatically generated with medium confidence"/>
          <p:cNvPicPr preferRelativeResize="0"/>
          <p:nvPr/>
        </p:nvPicPr>
        <p:blipFill rotWithShape="1">
          <a:blip r:embed="rId11">
            <a:alphaModFix/>
          </a:blip>
          <a:srcRect/>
          <a:stretch/>
        </p:blipFill>
        <p:spPr>
          <a:xfrm>
            <a:off x="4675056" y="2019829"/>
            <a:ext cx="855461" cy="855461"/>
          </a:xfrm>
          <a:prstGeom prst="rect">
            <a:avLst/>
          </a:prstGeom>
          <a:noFill/>
          <a:ln>
            <a:noFill/>
          </a:ln>
        </p:spPr>
      </p:pic>
      <p:pic>
        <p:nvPicPr>
          <p:cNvPr id="186" name="Google Shape;186;p5" descr="A black background with a black square&#10;&#10;Description automatically generated with medium confidence"/>
          <p:cNvPicPr preferRelativeResize="0"/>
          <p:nvPr/>
        </p:nvPicPr>
        <p:blipFill rotWithShape="1">
          <a:blip r:embed="rId12">
            <a:alphaModFix/>
          </a:blip>
          <a:srcRect/>
          <a:stretch/>
        </p:blipFill>
        <p:spPr>
          <a:xfrm>
            <a:off x="7015683" y="2070536"/>
            <a:ext cx="855461" cy="855461"/>
          </a:xfrm>
          <a:prstGeom prst="rect">
            <a:avLst/>
          </a:prstGeom>
          <a:noFill/>
          <a:ln>
            <a:noFill/>
          </a:ln>
        </p:spPr>
      </p:pic>
      <p:pic>
        <p:nvPicPr>
          <p:cNvPr id="187" name="Google Shape;187;p5" descr="A black background with a black square&#10;&#10;Description automatically generated with medium confidence"/>
          <p:cNvPicPr preferRelativeResize="0"/>
          <p:nvPr/>
        </p:nvPicPr>
        <p:blipFill rotWithShape="1">
          <a:blip r:embed="rId13">
            <a:alphaModFix/>
          </a:blip>
          <a:srcRect/>
          <a:stretch/>
        </p:blipFill>
        <p:spPr>
          <a:xfrm>
            <a:off x="8328992" y="2218942"/>
            <a:ext cx="457234" cy="457234"/>
          </a:xfrm>
          <a:prstGeom prst="rect">
            <a:avLst/>
          </a:prstGeom>
          <a:noFill/>
          <a:ln>
            <a:noFill/>
          </a:ln>
        </p:spPr>
      </p:pic>
      <p:pic>
        <p:nvPicPr>
          <p:cNvPr id="188" name="Google Shape;188;p5" descr="A black background with a black square&#10;&#10;Description automatically generated with medium confidence"/>
          <p:cNvPicPr preferRelativeResize="0"/>
          <p:nvPr/>
        </p:nvPicPr>
        <p:blipFill rotWithShape="1">
          <a:blip r:embed="rId14">
            <a:alphaModFix/>
          </a:blip>
          <a:srcRect/>
          <a:stretch/>
        </p:blipFill>
        <p:spPr>
          <a:xfrm>
            <a:off x="9367872" y="2055638"/>
            <a:ext cx="722459" cy="722459"/>
          </a:xfrm>
          <a:prstGeom prst="rect">
            <a:avLst/>
          </a:prstGeom>
          <a:noFill/>
          <a:ln>
            <a:noFill/>
          </a:ln>
        </p:spPr>
      </p:pic>
      <p:pic>
        <p:nvPicPr>
          <p:cNvPr id="189" name="Google Shape;189;p5" descr="A black background with a black square&#10;&#10;Description automatically generated with medium confidence"/>
          <p:cNvPicPr preferRelativeResize="0"/>
          <p:nvPr/>
        </p:nvPicPr>
        <p:blipFill rotWithShape="1">
          <a:blip r:embed="rId15">
            <a:alphaModFix/>
          </a:blip>
          <a:srcRect/>
          <a:stretch/>
        </p:blipFill>
        <p:spPr>
          <a:xfrm>
            <a:off x="10618820" y="2170934"/>
            <a:ext cx="457234" cy="457234"/>
          </a:xfrm>
          <a:prstGeom prst="rect">
            <a:avLst/>
          </a:prstGeom>
          <a:noFill/>
          <a:ln>
            <a:noFill/>
          </a:ln>
        </p:spPr>
      </p:pic>
      <p:pic>
        <p:nvPicPr>
          <p:cNvPr id="190" name="Google Shape;190;p5" descr="A black background with a black square&#10;&#10;Description automatically generated with medium confidence"/>
          <p:cNvPicPr preferRelativeResize="0"/>
          <p:nvPr/>
        </p:nvPicPr>
        <p:blipFill rotWithShape="1">
          <a:blip r:embed="rId11">
            <a:alphaModFix/>
          </a:blip>
          <a:srcRect/>
          <a:stretch/>
        </p:blipFill>
        <p:spPr>
          <a:xfrm>
            <a:off x="5859556" y="2019829"/>
            <a:ext cx="855461" cy="855461"/>
          </a:xfrm>
          <a:prstGeom prst="rect">
            <a:avLst/>
          </a:prstGeom>
          <a:noFill/>
          <a:ln>
            <a:noFill/>
          </a:ln>
        </p:spPr>
      </p:pic>
      <p:sp>
        <p:nvSpPr>
          <p:cNvPr id="34" name="TextBox 33">
            <a:extLst>
              <a:ext uri="{FF2B5EF4-FFF2-40B4-BE49-F238E27FC236}">
                <a16:creationId xmlns:a16="http://schemas.microsoft.com/office/drawing/2014/main" id="{A5997AB7-D6D5-4B9B-8D53-4B5A83433C24}"/>
              </a:ext>
            </a:extLst>
          </p:cNvPr>
          <p:cNvSpPr txBox="1"/>
          <p:nvPr/>
        </p:nvSpPr>
        <p:spPr>
          <a:xfrm>
            <a:off x="3309077" y="3857849"/>
            <a:ext cx="8454298" cy="2970044"/>
          </a:xfrm>
          <a:prstGeom prst="rect">
            <a:avLst/>
          </a:prstGeom>
          <a:noFill/>
        </p:spPr>
        <p:txBody>
          <a:bodyPr wrap="square">
            <a:spAutoFit/>
          </a:bodyPr>
          <a:lstStyle/>
          <a:p>
            <a:r>
              <a:rPr lang="en-US" sz="1700" dirty="0"/>
              <a:t>The analysis shows that both </a:t>
            </a:r>
            <a:r>
              <a:rPr lang="en-US" sz="1700" b="1" dirty="0"/>
              <a:t>customer and driver ratings are uniformly high</a:t>
            </a:r>
            <a:r>
              <a:rPr lang="en-US" sz="1700" dirty="0"/>
              <a:t>, with average scores clustered around </a:t>
            </a:r>
            <a:r>
              <a:rPr lang="en-US" sz="1700" b="1" dirty="0"/>
              <a:t>3.9–4.0 across all vehicle types</a:t>
            </a:r>
            <a:r>
              <a:rPr lang="en-US" sz="1700" dirty="0"/>
              <a:t>, indicating a strong </a:t>
            </a:r>
            <a:r>
              <a:rPr lang="en-US" sz="1700" b="1" dirty="0"/>
              <a:t>ceiling effect</a:t>
            </a:r>
            <a:r>
              <a:rPr lang="en-US" sz="1700" dirty="0"/>
              <a:t> and very low variability in ratings. As a result, the </a:t>
            </a:r>
            <a:r>
              <a:rPr lang="en-US" sz="1700" b="1" dirty="0"/>
              <a:t>correlation between customer ratings and driver ratings is effectively zero (–0.0028)</a:t>
            </a:r>
            <a:r>
              <a:rPr lang="en-US" sz="1700" dirty="0"/>
              <a:t>, confirming that the two metrics are statistically independent and do not move together. Additionally, </a:t>
            </a:r>
            <a:r>
              <a:rPr lang="en-US" sz="1700" b="1" dirty="0"/>
              <a:t>no meaningful relationship exists between payment method and either customer or driver ratings</a:t>
            </a:r>
            <a:r>
              <a:rPr lang="en-US" sz="1700" dirty="0"/>
              <a:t>, demonstrating that ratings are driven by ride experience rather than transaction mechanics. Overall, ratings in this dataset function as </a:t>
            </a:r>
            <a:r>
              <a:rPr lang="en-US" sz="1700" b="1" dirty="0"/>
              <a:t>cosmetic or hygiene metrics</a:t>
            </a:r>
            <a:r>
              <a:rPr lang="en-US" sz="1700" dirty="0"/>
              <a:t> rather than diagnostic indicators, offering limited explanatory power for cancellations, operational performance, or revenue outcomes.</a:t>
            </a:r>
            <a:endParaRPr lang="en-IN" sz="1700" dirty="0"/>
          </a:p>
        </p:txBody>
      </p:sp>
      <p:graphicFrame>
        <p:nvGraphicFramePr>
          <p:cNvPr id="35" name="Google Shape;168;p5">
            <a:extLst>
              <a:ext uri="{FF2B5EF4-FFF2-40B4-BE49-F238E27FC236}">
                <a16:creationId xmlns:a16="http://schemas.microsoft.com/office/drawing/2014/main" id="{F28A4714-7B00-42AA-8F86-B4DD81495015}"/>
              </a:ext>
            </a:extLst>
          </p:cNvPr>
          <p:cNvGraphicFramePr/>
          <p:nvPr>
            <p:extLst>
              <p:ext uri="{D42A27DB-BD31-4B8C-83A1-F6EECF244321}">
                <p14:modId xmlns:p14="http://schemas.microsoft.com/office/powerpoint/2010/main" val="3172025531"/>
              </p:ext>
            </p:extLst>
          </p:nvPr>
        </p:nvGraphicFramePr>
        <p:xfrm>
          <a:off x="3309078" y="131199"/>
          <a:ext cx="8128050" cy="1393320"/>
        </p:xfrm>
        <a:graphic>
          <a:graphicData uri="http://schemas.openxmlformats.org/drawingml/2006/table">
            <a:tbl>
              <a:tblPr firstRow="1" bandRow="1">
                <a:noFill/>
              </a:tblPr>
              <a:tblGrid>
                <a:gridCol w="1161150">
                  <a:extLst>
                    <a:ext uri="{9D8B030D-6E8A-4147-A177-3AD203B41FA5}">
                      <a16:colId xmlns:a16="http://schemas.microsoft.com/office/drawing/2014/main" val="20000"/>
                    </a:ext>
                  </a:extLst>
                </a:gridCol>
                <a:gridCol w="1161150">
                  <a:extLst>
                    <a:ext uri="{9D8B030D-6E8A-4147-A177-3AD203B41FA5}">
                      <a16:colId xmlns:a16="http://schemas.microsoft.com/office/drawing/2014/main" val="20001"/>
                    </a:ext>
                  </a:extLst>
                </a:gridCol>
                <a:gridCol w="1161150">
                  <a:extLst>
                    <a:ext uri="{9D8B030D-6E8A-4147-A177-3AD203B41FA5}">
                      <a16:colId xmlns:a16="http://schemas.microsoft.com/office/drawing/2014/main" val="20002"/>
                    </a:ext>
                  </a:extLst>
                </a:gridCol>
                <a:gridCol w="1161150">
                  <a:extLst>
                    <a:ext uri="{9D8B030D-6E8A-4147-A177-3AD203B41FA5}">
                      <a16:colId xmlns:a16="http://schemas.microsoft.com/office/drawing/2014/main" val="20003"/>
                    </a:ext>
                  </a:extLst>
                </a:gridCol>
                <a:gridCol w="1161150">
                  <a:extLst>
                    <a:ext uri="{9D8B030D-6E8A-4147-A177-3AD203B41FA5}">
                      <a16:colId xmlns:a16="http://schemas.microsoft.com/office/drawing/2014/main" val="20004"/>
                    </a:ext>
                  </a:extLst>
                </a:gridCol>
                <a:gridCol w="1161150">
                  <a:extLst>
                    <a:ext uri="{9D8B030D-6E8A-4147-A177-3AD203B41FA5}">
                      <a16:colId xmlns:a16="http://schemas.microsoft.com/office/drawing/2014/main" val="20005"/>
                    </a:ext>
                  </a:extLst>
                </a:gridCol>
                <a:gridCol w="1161150">
                  <a:extLst>
                    <a:ext uri="{9D8B030D-6E8A-4147-A177-3AD203B41FA5}">
                      <a16:colId xmlns:a16="http://schemas.microsoft.com/office/drawing/2014/main" val="20006"/>
                    </a:ext>
                  </a:extLst>
                </a:gridCol>
              </a:tblGrid>
              <a:tr h="813150">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Prime Sedan</a:t>
                      </a:r>
                      <a:endParaRPr sz="1200" u="none" strike="noStrike" cap="none">
                        <a:solidFill>
                          <a:srgbClr val="0C0C0C"/>
                        </a:solidFill>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Prime SUV</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Prime Plus</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Mini</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Auto</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Bike</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endParaRPr sz="1200" u="none" strike="noStrike" cap="none">
                        <a:solidFill>
                          <a:srgbClr val="0C0C0C"/>
                        </a:solidFill>
                      </a:endParaRPr>
                    </a:p>
                    <a:p>
                      <a:pPr marL="0" marR="0" lvl="0" indent="0" algn="ctr" rtl="0">
                        <a:spcBef>
                          <a:spcPts val="0"/>
                        </a:spcBef>
                        <a:spcAft>
                          <a:spcPts val="0"/>
                        </a:spcAft>
                        <a:buNone/>
                      </a:pPr>
                      <a:r>
                        <a:rPr lang="en-US" sz="1200" u="none" strike="noStrike" cap="none">
                          <a:solidFill>
                            <a:srgbClr val="0C0C0C"/>
                          </a:solidFill>
                        </a:rPr>
                        <a:t>E-Bike</a:t>
                      </a:r>
                      <a:endParaRPr/>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0"/>
                  </a:ext>
                </a:extLst>
              </a:tr>
              <a:tr h="570350">
                <a:tc>
                  <a:txBody>
                    <a:bodyPr/>
                    <a:lstStyle/>
                    <a:p>
                      <a:pPr marL="0" marR="0" lvl="0" indent="0" algn="l" rtl="0">
                        <a:spcBef>
                          <a:spcPts val="0"/>
                        </a:spcBef>
                        <a:spcAft>
                          <a:spcPts val="0"/>
                        </a:spcAft>
                        <a:buNone/>
                      </a:pPr>
                      <a:r>
                        <a:rPr lang="en-IN" sz="1800" dirty="0"/>
                        <a:t>3.99</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4.01</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4.00</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3.99</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4.00</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4.01</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3.99</a:t>
                      </a:r>
                      <a:endParaRPr sz="1800" dirty="0"/>
                    </a:p>
                  </a:txBody>
                  <a:tcPr marL="91450" marR="91450" marT="45725" marB="45725">
                    <a:lnL w="12700" cap="flat" cmpd="sng">
                      <a:solidFill>
                        <a:schemeClr val="accent6"/>
                      </a:solidFill>
                      <a:prstDash val="solid"/>
                      <a:round/>
                      <a:headEnd type="none" w="sm" len="sm"/>
                      <a:tailEnd type="none" w="sm" len="sm"/>
                    </a:lnL>
                    <a:lnR w="12700" cap="flat" cmpd="sng">
                      <a:solidFill>
                        <a:schemeClr val="accent6"/>
                      </a:solidFill>
                      <a:prstDash val="solid"/>
                      <a:round/>
                      <a:headEnd type="none" w="sm" len="sm"/>
                      <a:tailEnd type="none" w="sm" len="sm"/>
                    </a:lnR>
                    <a:lnT w="12700" cap="flat" cmpd="sng">
                      <a:solidFill>
                        <a:schemeClr val="accent6"/>
                      </a:solidFill>
                      <a:prstDash val="solid"/>
                      <a:round/>
                      <a:headEnd type="none" w="sm" len="sm"/>
                      <a:tailEnd type="none" w="sm" len="sm"/>
                    </a:lnT>
                    <a:lnB w="12700" cap="flat" cmpd="sng">
                      <a:solidFill>
                        <a:schemeClr val="accent6"/>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36" name="Google Shape;184;p5" descr="A black background with a black square&#10;&#10;Description automatically generated with medium confidence">
            <a:extLst>
              <a:ext uri="{FF2B5EF4-FFF2-40B4-BE49-F238E27FC236}">
                <a16:creationId xmlns:a16="http://schemas.microsoft.com/office/drawing/2014/main" id="{ED6128AD-2828-44B8-9555-13ED332AB013}"/>
              </a:ext>
            </a:extLst>
          </p:cNvPr>
          <p:cNvPicPr preferRelativeResize="0"/>
          <p:nvPr/>
        </p:nvPicPr>
        <p:blipFill rotWithShape="1">
          <a:blip r:embed="rId10">
            <a:alphaModFix/>
          </a:blip>
          <a:srcRect/>
          <a:stretch/>
        </p:blipFill>
        <p:spPr>
          <a:xfrm>
            <a:off x="3420097" y="18243"/>
            <a:ext cx="956874" cy="956874"/>
          </a:xfrm>
          <a:prstGeom prst="rect">
            <a:avLst/>
          </a:prstGeom>
          <a:noFill/>
          <a:ln>
            <a:noFill/>
          </a:ln>
        </p:spPr>
      </p:pic>
      <p:pic>
        <p:nvPicPr>
          <p:cNvPr id="37" name="Google Shape;185;p5" descr="A black background with a black square&#10;&#10;Description automatically generated with medium confidence">
            <a:extLst>
              <a:ext uri="{FF2B5EF4-FFF2-40B4-BE49-F238E27FC236}">
                <a16:creationId xmlns:a16="http://schemas.microsoft.com/office/drawing/2014/main" id="{9A314EE8-B943-4636-827D-11FEEDB40A97}"/>
              </a:ext>
            </a:extLst>
          </p:cNvPr>
          <p:cNvPicPr preferRelativeResize="0"/>
          <p:nvPr/>
        </p:nvPicPr>
        <p:blipFill rotWithShape="1">
          <a:blip r:embed="rId11">
            <a:alphaModFix/>
          </a:blip>
          <a:srcRect/>
          <a:stretch/>
        </p:blipFill>
        <p:spPr>
          <a:xfrm>
            <a:off x="4625327" y="93428"/>
            <a:ext cx="855461" cy="855461"/>
          </a:xfrm>
          <a:prstGeom prst="rect">
            <a:avLst/>
          </a:prstGeom>
          <a:noFill/>
          <a:ln>
            <a:noFill/>
          </a:ln>
        </p:spPr>
      </p:pic>
      <p:pic>
        <p:nvPicPr>
          <p:cNvPr id="38" name="Google Shape;190;p5" descr="A black background with a black square&#10;&#10;Description automatically generated with medium confidence">
            <a:extLst>
              <a:ext uri="{FF2B5EF4-FFF2-40B4-BE49-F238E27FC236}">
                <a16:creationId xmlns:a16="http://schemas.microsoft.com/office/drawing/2014/main" id="{6E30507C-064F-4EC9-B8F1-41183EFAF8FE}"/>
              </a:ext>
            </a:extLst>
          </p:cNvPr>
          <p:cNvPicPr preferRelativeResize="0"/>
          <p:nvPr/>
        </p:nvPicPr>
        <p:blipFill rotWithShape="1">
          <a:blip r:embed="rId11">
            <a:alphaModFix/>
          </a:blip>
          <a:srcRect/>
          <a:stretch/>
        </p:blipFill>
        <p:spPr>
          <a:xfrm>
            <a:off x="5809676" y="93427"/>
            <a:ext cx="855461" cy="855461"/>
          </a:xfrm>
          <a:prstGeom prst="rect">
            <a:avLst/>
          </a:prstGeom>
          <a:noFill/>
          <a:ln>
            <a:noFill/>
          </a:ln>
        </p:spPr>
      </p:pic>
      <p:pic>
        <p:nvPicPr>
          <p:cNvPr id="39" name="Google Shape;186;p5" descr="A black background with a black square&#10;&#10;Description automatically generated with medium confidence">
            <a:extLst>
              <a:ext uri="{FF2B5EF4-FFF2-40B4-BE49-F238E27FC236}">
                <a16:creationId xmlns:a16="http://schemas.microsoft.com/office/drawing/2014/main" id="{22E54628-3D95-4CA3-9FE3-FDF497546B24}"/>
              </a:ext>
            </a:extLst>
          </p:cNvPr>
          <p:cNvPicPr preferRelativeResize="0"/>
          <p:nvPr/>
        </p:nvPicPr>
        <p:blipFill rotWithShape="1">
          <a:blip r:embed="rId12">
            <a:alphaModFix/>
          </a:blip>
          <a:srcRect/>
          <a:stretch/>
        </p:blipFill>
        <p:spPr>
          <a:xfrm>
            <a:off x="6913493" y="169850"/>
            <a:ext cx="855461" cy="855461"/>
          </a:xfrm>
          <a:prstGeom prst="rect">
            <a:avLst/>
          </a:prstGeom>
          <a:noFill/>
          <a:ln>
            <a:noFill/>
          </a:ln>
        </p:spPr>
      </p:pic>
      <p:pic>
        <p:nvPicPr>
          <p:cNvPr id="40" name="Google Shape;187;p5" descr="A black background with a black square&#10;&#10;Description automatically generated with medium confidence">
            <a:extLst>
              <a:ext uri="{FF2B5EF4-FFF2-40B4-BE49-F238E27FC236}">
                <a16:creationId xmlns:a16="http://schemas.microsoft.com/office/drawing/2014/main" id="{6B333F3E-4A3C-4139-8861-1D75A6A362E4}"/>
              </a:ext>
            </a:extLst>
          </p:cNvPr>
          <p:cNvPicPr preferRelativeResize="0"/>
          <p:nvPr/>
        </p:nvPicPr>
        <p:blipFill rotWithShape="1">
          <a:blip r:embed="rId13">
            <a:alphaModFix/>
          </a:blip>
          <a:srcRect/>
          <a:stretch/>
        </p:blipFill>
        <p:spPr>
          <a:xfrm>
            <a:off x="8308472" y="281113"/>
            <a:ext cx="457234" cy="457234"/>
          </a:xfrm>
          <a:prstGeom prst="rect">
            <a:avLst/>
          </a:prstGeom>
          <a:noFill/>
          <a:ln>
            <a:noFill/>
          </a:ln>
        </p:spPr>
      </p:pic>
      <p:pic>
        <p:nvPicPr>
          <p:cNvPr id="41" name="Google Shape;188;p5" descr="A black background with a black square&#10;&#10;Description automatically generated with medium confidence">
            <a:extLst>
              <a:ext uri="{FF2B5EF4-FFF2-40B4-BE49-F238E27FC236}">
                <a16:creationId xmlns:a16="http://schemas.microsoft.com/office/drawing/2014/main" id="{8A7E7294-6E42-4E6B-90F8-65F433E2AE04}"/>
              </a:ext>
            </a:extLst>
          </p:cNvPr>
          <p:cNvPicPr preferRelativeResize="0"/>
          <p:nvPr/>
        </p:nvPicPr>
        <p:blipFill rotWithShape="1">
          <a:blip r:embed="rId14">
            <a:alphaModFix/>
          </a:blip>
          <a:srcRect/>
          <a:stretch/>
        </p:blipFill>
        <p:spPr>
          <a:xfrm>
            <a:off x="9305224" y="83007"/>
            <a:ext cx="722459" cy="722459"/>
          </a:xfrm>
          <a:prstGeom prst="rect">
            <a:avLst/>
          </a:prstGeom>
          <a:noFill/>
          <a:ln>
            <a:noFill/>
          </a:ln>
        </p:spPr>
      </p:pic>
      <p:pic>
        <p:nvPicPr>
          <p:cNvPr id="42" name="Google Shape;189;p5" descr="A black background with a black square&#10;&#10;Description automatically generated with medium confidence">
            <a:extLst>
              <a:ext uri="{FF2B5EF4-FFF2-40B4-BE49-F238E27FC236}">
                <a16:creationId xmlns:a16="http://schemas.microsoft.com/office/drawing/2014/main" id="{4FAEB673-FCEC-4A18-ADD7-8948188D0FB8}"/>
              </a:ext>
            </a:extLst>
          </p:cNvPr>
          <p:cNvPicPr preferRelativeResize="0"/>
          <p:nvPr/>
        </p:nvPicPr>
        <p:blipFill rotWithShape="1">
          <a:blip r:embed="rId15">
            <a:alphaModFix/>
          </a:blip>
          <a:srcRect/>
          <a:stretch/>
        </p:blipFill>
        <p:spPr>
          <a:xfrm>
            <a:off x="10567201" y="292540"/>
            <a:ext cx="457234" cy="457234"/>
          </a:xfrm>
          <a:prstGeom prst="rect">
            <a:avLst/>
          </a:prstGeom>
          <a:noFill/>
          <a:ln>
            <a:noFill/>
          </a:ln>
        </p:spPr>
      </p:pic>
      <p:sp>
        <p:nvSpPr>
          <p:cNvPr id="46" name="TextBox 45">
            <a:extLst>
              <a:ext uri="{FF2B5EF4-FFF2-40B4-BE49-F238E27FC236}">
                <a16:creationId xmlns:a16="http://schemas.microsoft.com/office/drawing/2014/main" id="{2716D88F-E55C-4454-A6DF-9E9A18407813}"/>
              </a:ext>
            </a:extLst>
          </p:cNvPr>
          <p:cNvSpPr txBox="1"/>
          <p:nvPr/>
        </p:nvSpPr>
        <p:spPr>
          <a:xfrm>
            <a:off x="5250947" y="3464280"/>
            <a:ext cx="6115050" cy="369332"/>
          </a:xfrm>
          <a:prstGeom prst="rect">
            <a:avLst/>
          </a:prstGeom>
          <a:noFill/>
        </p:spPr>
        <p:txBody>
          <a:bodyPr wrap="square">
            <a:spAutoFit/>
          </a:bodyPr>
          <a:lstStyle/>
          <a:p>
            <a:r>
              <a:rPr lang="en-IN" u="sng" dirty="0"/>
              <a:t>Average Customer Rating per Vehicle Type</a:t>
            </a:r>
          </a:p>
        </p:txBody>
      </p:sp>
      <p:sp>
        <p:nvSpPr>
          <p:cNvPr id="47" name="TextBox 46">
            <a:extLst>
              <a:ext uri="{FF2B5EF4-FFF2-40B4-BE49-F238E27FC236}">
                <a16:creationId xmlns:a16="http://schemas.microsoft.com/office/drawing/2014/main" id="{21D0FB96-F59F-4B6E-B439-DB3185A42C12}"/>
              </a:ext>
            </a:extLst>
          </p:cNvPr>
          <p:cNvSpPr txBox="1"/>
          <p:nvPr/>
        </p:nvSpPr>
        <p:spPr>
          <a:xfrm>
            <a:off x="5250947" y="1531399"/>
            <a:ext cx="6115050" cy="369332"/>
          </a:xfrm>
          <a:prstGeom prst="rect">
            <a:avLst/>
          </a:prstGeom>
          <a:noFill/>
        </p:spPr>
        <p:txBody>
          <a:bodyPr wrap="square">
            <a:spAutoFit/>
          </a:bodyPr>
          <a:lstStyle/>
          <a:p>
            <a:r>
              <a:rPr lang="en-IN" u="sng" dirty="0"/>
              <a:t>Average Drivers Rating per Vehicle Type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46B6D-8880-4EA0-A02E-6A8BBEDCBAEC}"/>
              </a:ext>
            </a:extLst>
          </p:cNvPr>
          <p:cNvSpPr>
            <a:spLocks noGrp="1"/>
          </p:cNvSpPr>
          <p:nvPr>
            <p:ph type="title"/>
          </p:nvPr>
        </p:nvSpPr>
        <p:spPr>
          <a:xfrm>
            <a:off x="752475" y="142569"/>
            <a:ext cx="10515600" cy="738188"/>
          </a:xfrm>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37DE7846-B8FE-4250-90F6-CD82194098BB}"/>
              </a:ext>
            </a:extLst>
          </p:cNvPr>
          <p:cNvSpPr>
            <a:spLocks noGrp="1"/>
          </p:cNvSpPr>
          <p:nvPr>
            <p:ph idx="1"/>
          </p:nvPr>
        </p:nvSpPr>
        <p:spPr>
          <a:xfrm>
            <a:off x="752475" y="984096"/>
            <a:ext cx="10515600" cy="5197629"/>
          </a:xfrm>
        </p:spPr>
        <p:txBody>
          <a:bodyPr>
            <a:normAutofit fontScale="70000" lnSpcReduction="20000"/>
          </a:bodyPr>
          <a:lstStyle/>
          <a:p>
            <a:r>
              <a:rPr lang="en-US" dirty="0"/>
              <a:t>Revenue:</a:t>
            </a:r>
          </a:p>
          <a:p>
            <a:pPr lvl="1"/>
            <a:r>
              <a:rPr lang="en-US" dirty="0"/>
              <a:t>We have a clear path to unlocking </a:t>
            </a:r>
            <a:r>
              <a:rPr lang="en-US" b="1" dirty="0"/>
              <a:t>₹10M+ in "found" revenue</a:t>
            </a:r>
            <a:r>
              <a:rPr lang="en-US" dirty="0"/>
              <a:t> without spending a single rupee on additional customer acquisition.</a:t>
            </a:r>
          </a:p>
          <a:p>
            <a:pPr lvl="1"/>
            <a:r>
              <a:rPr lang="en-US" b="1" dirty="0"/>
              <a:t>Priority 1: Driver Retention &amp; Reliability:</a:t>
            </a:r>
            <a:r>
              <a:rPr lang="en-US" dirty="0"/>
              <a:t> Target the ₹10.17M lost to driver-side cancellations through improved incentive structures and performance-based rewards.</a:t>
            </a:r>
          </a:p>
          <a:p>
            <a:pPr lvl="1"/>
            <a:r>
              <a:rPr lang="en-US" b="1" dirty="0"/>
              <a:t>Priority 2: Supply Optimization:</a:t>
            </a:r>
            <a:r>
              <a:rPr lang="en-US" dirty="0"/>
              <a:t> Reduce the ₹6.13M "Driver Not Found" loss by optimizing driver positioning and forecasting for high-volume Mini and Auto segments.</a:t>
            </a:r>
          </a:p>
          <a:p>
            <a:pPr lvl="1"/>
            <a:r>
              <a:rPr lang="en-US" b="1" dirty="0"/>
              <a:t>The Goal:</a:t>
            </a:r>
            <a:r>
              <a:rPr lang="en-US" dirty="0"/>
              <a:t> By solving for </a:t>
            </a:r>
            <a:r>
              <a:rPr lang="en-US" b="1" dirty="0"/>
              <a:t>reliability</a:t>
            </a:r>
            <a:r>
              <a:rPr lang="en-US" dirty="0"/>
              <a:t> rather than </a:t>
            </a:r>
            <a:r>
              <a:rPr lang="en-US" b="1" dirty="0"/>
              <a:t>demand</a:t>
            </a:r>
            <a:r>
              <a:rPr lang="en-US" dirty="0"/>
              <a:t>, we can reclaim over 45% of our current losses and significantly improve the bottom-line margin.</a:t>
            </a:r>
          </a:p>
          <a:p>
            <a:r>
              <a:rPr lang="en-US" dirty="0"/>
              <a:t>Key Cancellation Patterns:</a:t>
            </a:r>
          </a:p>
          <a:p>
            <a:pPr lvl="1"/>
            <a:r>
              <a:rPr lang="en-US" b="1" dirty="0"/>
              <a:t>74% of cancellation loss is supply-driven</a:t>
            </a:r>
            <a:endParaRPr lang="en-US" dirty="0"/>
          </a:p>
          <a:p>
            <a:pPr marL="1200150" lvl="2" indent="-285750"/>
            <a:r>
              <a:rPr lang="en-US" dirty="0"/>
              <a:t>Confirms cancellations are operational, not demand-led</a:t>
            </a:r>
          </a:p>
          <a:p>
            <a:pPr lvl="1"/>
            <a:r>
              <a:rPr lang="en-US" b="1" dirty="0"/>
              <a:t>Customer cancellations are secondary</a:t>
            </a:r>
            <a:endParaRPr lang="en-US" dirty="0"/>
          </a:p>
          <a:p>
            <a:pPr marL="1200150" lvl="2" indent="-285750"/>
            <a:r>
              <a:rPr lang="en-US" dirty="0"/>
              <a:t>Reducing them alone will not materially improve revenue</a:t>
            </a:r>
          </a:p>
          <a:p>
            <a:pPr lvl="1"/>
            <a:r>
              <a:rPr lang="en-US" b="1" dirty="0"/>
              <a:t>Driver reliability is the single biggest control lever</a:t>
            </a:r>
            <a:endParaRPr lang="en-US" dirty="0"/>
          </a:p>
          <a:p>
            <a:pPr marL="1200150" lvl="2" indent="-285750"/>
            <a:r>
              <a:rPr lang="en-US" dirty="0"/>
              <a:t>Fixing driver behavior impacts both “Canceled by Driver” and “Driver Not Found”.</a:t>
            </a:r>
          </a:p>
          <a:p>
            <a:r>
              <a:rPr lang="en-US" dirty="0"/>
              <a:t>Ratings:</a:t>
            </a:r>
          </a:p>
          <a:p>
            <a:pPr lvl="1"/>
            <a:r>
              <a:rPr lang="en-US" dirty="0"/>
              <a:t>Average customer and driver ratings remain tightly clustered between </a:t>
            </a:r>
            <a:r>
              <a:rPr lang="en-US" b="1" dirty="0"/>
              <a:t>3.9–4.0 across all vehicle types</a:t>
            </a:r>
            <a:r>
              <a:rPr lang="en-US" dirty="0"/>
              <a:t>, resulting in a </a:t>
            </a:r>
            <a:r>
              <a:rPr lang="en-US" b="1" dirty="0"/>
              <a:t>near-zero correlation (–0.0028)</a:t>
            </a:r>
            <a:r>
              <a:rPr lang="en-US" dirty="0"/>
              <a:t> between the two. No statistically meaningful relationship is observed between </a:t>
            </a:r>
            <a:r>
              <a:rPr lang="en-US" b="1" dirty="0"/>
              <a:t>payment method and ratings</a:t>
            </a:r>
            <a:r>
              <a:rPr lang="en-US" dirty="0"/>
              <a:t>, confirming that ratings explain </a:t>
            </a:r>
            <a:r>
              <a:rPr lang="en-US" b="1" dirty="0"/>
              <a:t>~0% of variation</a:t>
            </a:r>
            <a:r>
              <a:rPr lang="en-US" dirty="0"/>
              <a:t> in ride outcomes and have </a:t>
            </a:r>
            <a:r>
              <a:rPr lang="en-US" b="1" dirty="0"/>
              <a:t>negligible impact on cancellations or revenue performance</a:t>
            </a:r>
            <a:r>
              <a:rPr lang="en-US" dirty="0"/>
              <a:t>.</a:t>
            </a:r>
            <a:endParaRPr lang="en-IN" dirty="0"/>
          </a:p>
        </p:txBody>
      </p:sp>
    </p:spTree>
    <p:extLst>
      <p:ext uri="{BB962C8B-B14F-4D97-AF65-F5344CB8AC3E}">
        <p14:creationId xmlns:p14="http://schemas.microsoft.com/office/powerpoint/2010/main" val="374611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0DE0-B8F7-48B2-BB8A-37A760749F8C}"/>
              </a:ext>
            </a:extLst>
          </p:cNvPr>
          <p:cNvSpPr>
            <a:spLocks noGrp="1"/>
          </p:cNvSpPr>
          <p:nvPr>
            <p:ph type="ctrTitle"/>
          </p:nvPr>
        </p:nvSpPr>
        <p:spPr/>
        <p:txBody>
          <a:bodyPr/>
          <a:lstStyle/>
          <a:p>
            <a:r>
              <a:rPr lang="en-US" dirty="0"/>
              <a:t>Thank You</a:t>
            </a:r>
            <a:endParaRPr lang="en-IN" dirty="0"/>
          </a:p>
        </p:txBody>
      </p:sp>
      <p:sp>
        <p:nvSpPr>
          <p:cNvPr id="4" name="Subtitle 3">
            <a:extLst>
              <a:ext uri="{FF2B5EF4-FFF2-40B4-BE49-F238E27FC236}">
                <a16:creationId xmlns:a16="http://schemas.microsoft.com/office/drawing/2014/main" id="{2C0B91FD-BA3C-472F-BD6B-B969EC066FD0}"/>
              </a:ext>
            </a:extLst>
          </p:cNvPr>
          <p:cNvSpPr>
            <a:spLocks noGrp="1"/>
          </p:cNvSpPr>
          <p:nvPr>
            <p:ph type="subTitle" idx="1"/>
          </p:nvPr>
        </p:nvSpPr>
        <p:spPr/>
        <p:txBody>
          <a:bodyPr/>
          <a:lstStyle/>
          <a:p>
            <a:pPr algn="r"/>
            <a:r>
              <a:rPr lang="en-US" dirty="0"/>
              <a:t>-Aditya Verma</a:t>
            </a:r>
          </a:p>
          <a:p>
            <a:pPr algn="r"/>
            <a:r>
              <a:rPr lang="en-US" dirty="0"/>
              <a:t>-Data/Business Analyst @ </a:t>
            </a:r>
            <a:r>
              <a:rPr lang="en-US" dirty="0" err="1"/>
              <a:t>Innovexis</a:t>
            </a:r>
            <a:endParaRPr lang="en-US" dirty="0"/>
          </a:p>
        </p:txBody>
      </p:sp>
    </p:spTree>
    <p:extLst>
      <p:ext uri="{BB962C8B-B14F-4D97-AF65-F5344CB8AC3E}">
        <p14:creationId xmlns:p14="http://schemas.microsoft.com/office/powerpoint/2010/main" val="36218896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479</TotalTime>
  <Words>1494</Words>
  <Application>Microsoft Office PowerPoint</Application>
  <PresentationFormat>Widescreen</PresentationFormat>
  <Paragraphs>201</Paragraphs>
  <Slides>10</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Century Gothic</vt:lpstr>
      <vt:lpstr>Poppins</vt:lpstr>
      <vt:lpstr>Wingdings 3</vt:lpstr>
      <vt:lpstr>Ion</vt:lpstr>
      <vt:lpstr>Ola Cabs Data Analysis</vt:lpstr>
      <vt:lpstr>Introduction</vt:lpstr>
      <vt:lpstr>Agenda of the Meeting</vt:lpstr>
      <vt:lpstr>PowerPoint Presentation</vt:lpstr>
      <vt:lpstr>PowerPoint Presentation</vt:lpstr>
      <vt:lpstr>PowerPoint Presentation</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Ola Cabs Data Analysis</dc:title>
  <dc:creator>Aditya Verma</dc:creator>
  <cp:lastModifiedBy>Aditya Verma</cp:lastModifiedBy>
  <cp:revision>11</cp:revision>
  <dcterms:created xsi:type="dcterms:W3CDTF">2026-02-25T12:49:29Z</dcterms:created>
  <dcterms:modified xsi:type="dcterms:W3CDTF">2026-02-25T20:48:55Z</dcterms:modified>
</cp:coreProperties>
</file>