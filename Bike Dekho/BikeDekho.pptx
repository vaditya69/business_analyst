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62" r:id="rId1"/>
  </p:sldMasterIdLst>
  <p:sldIdLst>
    <p:sldId id="256" r:id="rId2"/>
    <p:sldId id="257" r:id="rId3"/>
    <p:sldId id="258" r:id="rId4"/>
    <p:sldId id="259" r:id="rId5"/>
    <p:sldId id="260" r:id="rId6"/>
    <p:sldId id="265" r:id="rId7"/>
    <p:sldId id="261" r:id="rId8"/>
    <p:sldId id="262" r:id="rId9"/>
    <p:sldId id="266" r:id="rId10"/>
    <p:sldId id="267" r:id="rId11"/>
    <p:sldId id="263" r:id="rId12"/>
    <p:sldId id="264"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999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0" d="100"/>
          <a:sy n="80" d="100"/>
        </p:scale>
        <p:origin x="754"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0" y="-1"/>
            <a:ext cx="12192000" cy="457200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457200" y="4960137"/>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Subtitle 2"/>
          <p:cNvSpPr>
            <a:spLocks noGrp="1"/>
          </p:cNvSpPr>
          <p:nvPr>
            <p:ph type="subTitle" idx="1"/>
          </p:nvPr>
        </p:nvSpPr>
        <p:spPr>
          <a:xfrm>
            <a:off x="8610600" y="4960137"/>
            <a:ext cx="3200400" cy="1463040"/>
          </a:xfrm>
        </p:spPr>
        <p:txBody>
          <a:bodyPr lIns="91440" rIns="91440" anchor="ctr">
            <a:normAutofit/>
          </a:bodyPr>
          <a:lstStyle>
            <a:lvl1pPr marL="0" indent="0" algn="l">
              <a:lnSpc>
                <a:spcPct val="100000"/>
              </a:lnSpc>
              <a:spcBef>
                <a:spcPts val="0"/>
              </a:spcBef>
              <a:buNone/>
              <a:defRPr sz="1800">
                <a:solidFill>
                  <a:schemeClr val="tx1">
                    <a:lumMod val="90000"/>
                    <a:lumOff val="10000"/>
                  </a:schemeClr>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lgn="l">
              <a:defRPr/>
            </a:lvl1pPr>
          </a:lstStyle>
          <a:p>
            <a:fld id="{24EAA4F1-3B7D-4461-A0DF-E385F65B50A1}" type="datetimeFigureOut">
              <a:rPr lang="en-IN" smtClean="0"/>
              <a:t>05-02-2026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8242D18-8657-4ACF-AA54-28207145E2B8}" type="slidenum">
              <a:rPr lang="en-IN" smtClean="0"/>
              <a:t>‹#›</a:t>
            </a:fld>
            <a:endParaRPr lang="en-IN"/>
          </a:p>
        </p:txBody>
      </p:sp>
      <p:cxnSp>
        <p:nvCxnSpPr>
          <p:cNvPr id="8" name="Straight Connector 7"/>
          <p:cNvCxnSpPr/>
          <p:nvPr/>
        </p:nvCxnSpPr>
        <p:spPr>
          <a:xfrm flipV="1">
            <a:off x="8386842" y="5264106"/>
            <a:ext cx="0" cy="91440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497535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4EAA4F1-3B7D-4461-A0DF-E385F65B50A1}" type="datetimeFigureOut">
              <a:rPr lang="en-IN" smtClean="0"/>
              <a:t>05-02-2026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8242D18-8657-4ACF-AA54-28207145E2B8}" type="slidenum">
              <a:rPr lang="en-IN" smtClean="0"/>
              <a:t>‹#›</a:t>
            </a:fld>
            <a:endParaRPr lang="en-IN"/>
          </a:p>
        </p:txBody>
      </p:sp>
    </p:spTree>
    <p:extLst>
      <p:ext uri="{BB962C8B-B14F-4D97-AF65-F5344CB8AC3E}">
        <p14:creationId xmlns:p14="http://schemas.microsoft.com/office/powerpoint/2010/main" val="88084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0" y="-1"/>
            <a:ext cx="12192000" cy="4572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4960137"/>
            <a:ext cx="7772400" cy="1463040"/>
          </a:xfrm>
        </p:spPr>
        <p:txBody>
          <a:bodyPr anchor="ctr">
            <a:normAutofit/>
          </a:bodyPr>
          <a:lstStyle>
            <a:lvl1pPr algn="r">
              <a:defRPr sz="5000" b="0" spc="200" baseline="0"/>
            </a:lvl1pPr>
          </a:lstStyle>
          <a:p>
            <a:r>
              <a:rPr lang="en-US"/>
              <a:t>Click to edit Master title style</a:t>
            </a:r>
            <a:endParaRPr lang="en-US" dirty="0"/>
          </a:p>
        </p:txBody>
      </p:sp>
      <p:sp>
        <p:nvSpPr>
          <p:cNvPr id="3" name="Text Placeholder 2"/>
          <p:cNvSpPr>
            <a:spLocks noGrp="1"/>
          </p:cNvSpPr>
          <p:nvPr>
            <p:ph type="body" idx="1"/>
          </p:nvPr>
        </p:nvSpPr>
        <p:spPr>
          <a:xfrm>
            <a:off x="8610600" y="4960137"/>
            <a:ext cx="3200400" cy="1463040"/>
          </a:xfrm>
        </p:spPr>
        <p:txBody>
          <a:bodyPr lIns="91440" rIns="91440" anchor="ctr">
            <a:normAutofit/>
          </a:bodyPr>
          <a:lstStyle>
            <a:lvl1pPr marL="0" indent="0">
              <a:lnSpc>
                <a:spcPct val="100000"/>
              </a:lnSpc>
              <a:spcBef>
                <a:spcPts val="0"/>
              </a:spcBef>
              <a:buNone/>
              <a:defRPr sz="1800">
                <a:solidFill>
                  <a:schemeClr val="tx1">
                    <a:lumMod val="90000"/>
                    <a:lumOff val="1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EAA4F1-3B7D-4461-A0DF-E385F65B50A1}" type="datetimeFigureOut">
              <a:rPr lang="en-IN" smtClean="0"/>
              <a:t>05-02-2026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8242D18-8657-4ACF-AA54-28207145E2B8}" type="slidenum">
              <a:rPr lang="en-IN" smtClean="0"/>
              <a:t>‹#›</a:t>
            </a:fld>
            <a:endParaRPr lang="en-IN"/>
          </a:p>
        </p:txBody>
      </p:sp>
      <p:cxnSp>
        <p:nvCxnSpPr>
          <p:cNvPr id="8" name="Straight Connector 7"/>
          <p:cNvCxnSpPr/>
          <p:nvPr/>
        </p:nvCxnSpPr>
        <p:spPr>
          <a:xfrm flipV="1">
            <a:off x="8386842" y="5264106"/>
            <a:ext cx="0" cy="914400"/>
          </a:xfrm>
          <a:prstGeom prst="line">
            <a:avLst/>
          </a:prstGeom>
          <a:ln w="19050">
            <a:solidFill>
              <a:schemeClr val="accent3"/>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07805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024128" y="585216"/>
            <a:ext cx="9720072" cy="1499616"/>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24128" y="2286000"/>
            <a:ext cx="475488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989320" y="2286000"/>
            <a:ext cx="475488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4EAA4F1-3B7D-4461-A0DF-E385F65B50A1}" type="datetimeFigureOut">
              <a:rPr lang="en-IN" smtClean="0"/>
              <a:t>05-02-2026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8242D18-8657-4ACF-AA54-28207145E2B8}" type="slidenum">
              <a:rPr lang="en-IN" smtClean="0"/>
              <a:t>‹#›</a:t>
            </a:fld>
            <a:endParaRPr lang="en-IN"/>
          </a:p>
        </p:txBody>
      </p:sp>
    </p:spTree>
    <p:extLst>
      <p:ext uri="{BB962C8B-B14F-4D97-AF65-F5344CB8AC3E}">
        <p14:creationId xmlns:p14="http://schemas.microsoft.com/office/powerpoint/2010/main" val="11015052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24128" y="585216"/>
            <a:ext cx="9720072" cy="1499616"/>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24128" y="2179636"/>
            <a:ext cx="4754880" cy="822960"/>
          </a:xfrm>
        </p:spPr>
        <p:txBody>
          <a:bodyPr lIns="137160" rIns="137160" anchor="ctr">
            <a:normAutofit/>
          </a:bodyPr>
          <a:lstStyle>
            <a:lvl1pPr marL="0" indent="0">
              <a:spcBef>
                <a:spcPts val="0"/>
              </a:spcBef>
              <a:spcAft>
                <a:spcPts val="0"/>
              </a:spcAft>
              <a:buNone/>
              <a:defRPr sz="2300" b="0" cap="none" baseline="0">
                <a:solidFill>
                  <a:schemeClr val="accent2">
                    <a:lumMod val="75000"/>
                  </a:schemeClr>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24128" y="2967788"/>
            <a:ext cx="4754880" cy="3341572"/>
          </a:xfrm>
        </p:spPr>
        <p:txBody>
          <a:bodyPr lIns="45720" rIns="4572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989320" y="2179636"/>
            <a:ext cx="4754880" cy="822960"/>
          </a:xfrm>
        </p:spPr>
        <p:txBody>
          <a:bodyPr lIns="137160" rIns="137160" anchor="ctr">
            <a:normAutofit/>
          </a:bodyPr>
          <a:lstStyle>
            <a:lvl1pPr marL="0" indent="0">
              <a:spcBef>
                <a:spcPts val="0"/>
              </a:spcBef>
              <a:spcAft>
                <a:spcPts val="0"/>
              </a:spcAft>
              <a:buNone/>
              <a:defRPr lang="en-US" sz="2300" b="0" kern="1200" cap="none" baseline="0" dirty="0">
                <a:solidFill>
                  <a:schemeClr val="accent2">
                    <a:lumMod val="75000"/>
                  </a:schemeClr>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800"/>
              </a:spcBef>
              <a:buNone/>
            </a:pPr>
            <a:r>
              <a:rPr lang="en-US"/>
              <a:t>Click to edit Master text styles</a:t>
            </a:r>
          </a:p>
        </p:txBody>
      </p:sp>
      <p:sp>
        <p:nvSpPr>
          <p:cNvPr id="6" name="Content Placeholder 5"/>
          <p:cNvSpPr>
            <a:spLocks noGrp="1"/>
          </p:cNvSpPr>
          <p:nvPr>
            <p:ph sz="quarter" idx="4"/>
          </p:nvPr>
        </p:nvSpPr>
        <p:spPr>
          <a:xfrm>
            <a:off x="5989320" y="2967788"/>
            <a:ext cx="4754880" cy="3341572"/>
          </a:xfrm>
        </p:spPr>
        <p:txBody>
          <a:bodyPr lIns="45720" rIns="4572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4EAA4F1-3B7D-4461-A0DF-E385F65B50A1}" type="datetimeFigureOut">
              <a:rPr lang="en-IN" smtClean="0"/>
              <a:t>05-02-2026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B8242D18-8657-4ACF-AA54-28207145E2B8}" type="slidenum">
              <a:rPr lang="en-IN" smtClean="0"/>
              <a:t>‹#›</a:t>
            </a:fld>
            <a:endParaRPr lang="en-IN"/>
          </a:p>
        </p:txBody>
      </p:sp>
    </p:spTree>
    <p:extLst>
      <p:ext uri="{BB962C8B-B14F-4D97-AF65-F5344CB8AC3E}">
        <p14:creationId xmlns:p14="http://schemas.microsoft.com/office/powerpoint/2010/main" val="16843161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4EAA4F1-3B7D-4461-A0DF-E385F65B50A1}" type="datetimeFigureOut">
              <a:rPr lang="en-IN" smtClean="0"/>
              <a:t>05-02-2026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B8242D18-8657-4ACF-AA54-28207145E2B8}" type="slidenum">
              <a:rPr lang="en-IN" smtClean="0"/>
              <a:t>‹#›</a:t>
            </a:fld>
            <a:endParaRPr lang="en-IN"/>
          </a:p>
        </p:txBody>
      </p:sp>
    </p:spTree>
    <p:extLst>
      <p:ext uri="{BB962C8B-B14F-4D97-AF65-F5344CB8AC3E}">
        <p14:creationId xmlns:p14="http://schemas.microsoft.com/office/powerpoint/2010/main" val="29693624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EAA4F1-3B7D-4461-A0DF-E385F65B50A1}" type="datetimeFigureOut">
              <a:rPr lang="en-IN" smtClean="0"/>
              <a:t>05-02-2026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B8242D18-8657-4ACF-AA54-28207145E2B8}" type="slidenum">
              <a:rPr lang="en-IN" smtClean="0"/>
              <a:t>‹#›</a:t>
            </a:fld>
            <a:endParaRPr lang="en-IN"/>
          </a:p>
        </p:txBody>
      </p:sp>
    </p:spTree>
    <p:extLst>
      <p:ext uri="{BB962C8B-B14F-4D97-AF65-F5344CB8AC3E}">
        <p14:creationId xmlns:p14="http://schemas.microsoft.com/office/powerpoint/2010/main" val="7562653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a:xfrm>
            <a:off x="1024128" y="471509"/>
            <a:ext cx="4389120" cy="1737360"/>
          </a:xfrm>
        </p:spPr>
        <p:txBody>
          <a:bodyPr>
            <a:noAutofit/>
          </a:bodyPr>
          <a:lstStyle>
            <a:lvl1pPr>
              <a:lnSpc>
                <a:spcPct val="80000"/>
              </a:lnSpc>
              <a:defRPr sz="4000"/>
            </a:lvl1pPr>
          </a:lstStyle>
          <a:p>
            <a:r>
              <a:rPr lang="en-US"/>
              <a:t>Click to edit Master title style</a:t>
            </a:r>
            <a:endParaRPr lang="en-US" dirty="0"/>
          </a:p>
        </p:txBody>
      </p:sp>
      <p:sp>
        <p:nvSpPr>
          <p:cNvPr id="3" name="Content Placeholder 2"/>
          <p:cNvSpPr>
            <a:spLocks noGrp="1"/>
          </p:cNvSpPr>
          <p:nvPr>
            <p:ph idx="1"/>
          </p:nvPr>
        </p:nvSpPr>
        <p:spPr>
          <a:xfrm>
            <a:off x="5715000" y="822960"/>
            <a:ext cx="5678424" cy="5184648"/>
          </a:xfrm>
        </p:spPr>
        <p:txBody>
          <a:bodyPr/>
          <a:lstStyle>
            <a:lvl1pPr>
              <a:defRPr sz="2400"/>
            </a:lvl1pPr>
            <a:lvl2pPr>
              <a:defRPr sz="20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024128" y="2257506"/>
            <a:ext cx="4389120" cy="3762294"/>
          </a:xfrm>
        </p:spPr>
        <p:txBody>
          <a:bodyPr lIns="91440" rIns="91440">
            <a:normAutofit/>
          </a:bodyPr>
          <a:lstStyle>
            <a:lvl1pPr marL="0" indent="0">
              <a:lnSpc>
                <a:spcPct val="108000"/>
              </a:lnSpc>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4EAA4F1-3B7D-4461-A0DF-E385F65B50A1}" type="datetimeFigureOut">
              <a:rPr lang="en-IN" smtClean="0"/>
              <a:t>05-02-2026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8242D18-8657-4ACF-AA54-28207145E2B8}" type="slidenum">
              <a:rPr lang="en-IN" smtClean="0"/>
              <a:t>‹#›</a:t>
            </a:fld>
            <a:endParaRPr lang="en-IN"/>
          </a:p>
        </p:txBody>
      </p:sp>
    </p:spTree>
    <p:extLst>
      <p:ext uri="{BB962C8B-B14F-4D97-AF65-F5344CB8AC3E}">
        <p14:creationId xmlns:p14="http://schemas.microsoft.com/office/powerpoint/2010/main" val="33175292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4960138"/>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1"/>
            <a:ext cx="12188952" cy="4572000"/>
          </a:xfrm>
          <a:solidFill>
            <a:schemeClr val="accent2">
              <a:lumMod val="60000"/>
              <a:lumOff val="40000"/>
            </a:schemeClr>
          </a:solidFill>
        </p:spPr>
        <p:txBody>
          <a:bodyPr lIns="457200" tIns="365760" rIns="45720" bIns="4572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610600" y="4960138"/>
            <a:ext cx="3200400" cy="1463040"/>
          </a:xfrm>
        </p:spPr>
        <p:txBody>
          <a:bodyPr lIns="91440" rIns="91440" anchor="ctr">
            <a:normAutofit/>
          </a:bodyPr>
          <a:lstStyle>
            <a:lvl1pPr marL="0" indent="0">
              <a:lnSpc>
                <a:spcPct val="100000"/>
              </a:lnSpc>
              <a:spcBef>
                <a:spcPts val="0"/>
              </a:spcBef>
              <a:buNone/>
              <a:defRPr sz="1800">
                <a:solidFill>
                  <a:schemeClr val="tx1">
                    <a:lumMod val="90000"/>
                    <a:lumOff val="10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4EAA4F1-3B7D-4461-A0DF-E385F65B50A1}" type="datetimeFigureOut">
              <a:rPr lang="en-IN" smtClean="0"/>
              <a:t>05-02-2026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8242D18-8657-4ACF-AA54-28207145E2B8}" type="slidenum">
              <a:rPr lang="en-IN" smtClean="0"/>
              <a:t>‹#›</a:t>
            </a:fld>
            <a:endParaRPr lang="en-IN"/>
          </a:p>
        </p:txBody>
      </p:sp>
      <p:cxnSp>
        <p:nvCxnSpPr>
          <p:cNvPr id="9" name="Straight Connector 8"/>
          <p:cNvCxnSpPr/>
          <p:nvPr/>
        </p:nvCxnSpPr>
        <p:spPr>
          <a:xfrm flipV="1">
            <a:off x="8386842" y="5264106"/>
            <a:ext cx="0" cy="91440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897722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4EAA4F1-3B7D-4461-A0DF-E385F65B50A1}" type="datetimeFigureOut">
              <a:rPr lang="en-IN" smtClean="0"/>
              <a:t>05-02-2026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8242D18-8657-4ACF-AA54-28207145E2B8}" type="slidenum">
              <a:rPr lang="en-IN" smtClean="0"/>
              <a:t>‹#›</a:t>
            </a:fld>
            <a:endParaRPr lang="en-IN"/>
          </a:p>
        </p:txBody>
      </p:sp>
    </p:spTree>
    <p:extLst>
      <p:ext uri="{BB962C8B-B14F-4D97-AF65-F5344CB8AC3E}">
        <p14:creationId xmlns:p14="http://schemas.microsoft.com/office/powerpoint/2010/main" val="34775090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762000"/>
            <a:ext cx="2628900" cy="5410200"/>
          </a:xfrm>
        </p:spPr>
        <p:txBody>
          <a:bodyPr vert="eaVert" lIns="45720" tIns="91440" rIns="45720" bIns="91440"/>
          <a:lstStyle/>
          <a:p>
            <a:r>
              <a:rPr lang="en-US"/>
              <a:t>Click to edit Master title style</a:t>
            </a:r>
            <a:endParaRPr lang="en-US" dirty="0"/>
          </a:p>
        </p:txBody>
      </p:sp>
      <p:sp>
        <p:nvSpPr>
          <p:cNvPr id="3" name="Vertical Text Placeholder 2"/>
          <p:cNvSpPr>
            <a:spLocks noGrp="1"/>
          </p:cNvSpPr>
          <p:nvPr>
            <p:ph type="body" orient="vert" idx="1"/>
          </p:nvPr>
        </p:nvSpPr>
        <p:spPr>
          <a:xfrm>
            <a:off x="990600" y="762000"/>
            <a:ext cx="7581900" cy="5410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4EAA4F1-3B7D-4461-A0DF-E385F65B50A1}" type="datetimeFigureOut">
              <a:rPr lang="en-IN" smtClean="0"/>
              <a:t>05-02-2026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8242D18-8657-4ACF-AA54-28207145E2B8}" type="slidenum">
              <a:rPr lang="en-IN" smtClean="0"/>
              <a:t>‹#›</a:t>
            </a:fld>
            <a:endParaRPr lang="en-IN"/>
          </a:p>
        </p:txBody>
      </p:sp>
      <p:cxnSp>
        <p:nvCxnSpPr>
          <p:cNvPr id="7" name="Straight Connector 6"/>
          <p:cNvCxnSpPr/>
          <p:nvPr/>
        </p:nvCxnSpPr>
        <p:spPr>
          <a:xfrm rot="5400000" flipV="1">
            <a:off x="10058400" y="59263"/>
            <a:ext cx="0" cy="91440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880789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24128" y="585216"/>
            <a:ext cx="9720072" cy="1499616"/>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24128" y="2286000"/>
            <a:ext cx="9720071" cy="4023360"/>
          </a:xfrm>
          <a:prstGeom prst="rect">
            <a:avLst/>
          </a:prstGeom>
        </p:spPr>
        <p:txBody>
          <a:bodyPr vert="horz" lIns="45720" tIns="45720" rIns="4572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24128" y="6470704"/>
            <a:ext cx="2154142" cy="274320"/>
          </a:xfrm>
          <a:prstGeom prst="rect">
            <a:avLst/>
          </a:prstGeom>
        </p:spPr>
        <p:txBody>
          <a:bodyPr vert="horz" lIns="91440" tIns="45720" rIns="91440" bIns="45720" rtlCol="0" anchor="ctr"/>
          <a:lstStyle>
            <a:lvl1pPr algn="l">
              <a:defRPr sz="1000">
                <a:solidFill>
                  <a:schemeClr val="tx1">
                    <a:lumMod val="90000"/>
                    <a:lumOff val="10000"/>
                  </a:schemeClr>
                </a:solidFill>
                <a:latin typeface="+mj-lt"/>
              </a:defRPr>
            </a:lvl1pPr>
          </a:lstStyle>
          <a:p>
            <a:fld id="{24EAA4F1-3B7D-4461-A0DF-E385F65B50A1}" type="datetimeFigureOut">
              <a:rPr lang="en-IN" smtClean="0"/>
              <a:t>05-02-2026</a:t>
            </a:fld>
            <a:endParaRPr lang="en-IN"/>
          </a:p>
        </p:txBody>
      </p:sp>
      <p:sp>
        <p:nvSpPr>
          <p:cNvPr id="5" name="Footer Placeholder 4"/>
          <p:cNvSpPr>
            <a:spLocks noGrp="1"/>
          </p:cNvSpPr>
          <p:nvPr>
            <p:ph type="ftr" sz="quarter" idx="3"/>
          </p:nvPr>
        </p:nvSpPr>
        <p:spPr>
          <a:xfrm>
            <a:off x="4842932" y="6470704"/>
            <a:ext cx="5901458" cy="274320"/>
          </a:xfrm>
          <a:prstGeom prst="rect">
            <a:avLst/>
          </a:prstGeom>
        </p:spPr>
        <p:txBody>
          <a:bodyPr vert="horz" lIns="91440" tIns="45720" rIns="91440" bIns="45720" rtlCol="0" anchor="ctr"/>
          <a:lstStyle>
            <a:lvl1pPr algn="r">
              <a:defRPr sz="1000" cap="all" baseline="0">
                <a:solidFill>
                  <a:schemeClr val="tx1">
                    <a:lumMod val="90000"/>
                    <a:lumOff val="10000"/>
                  </a:schemeClr>
                </a:solidFill>
                <a:latin typeface="+mj-lt"/>
              </a:defRPr>
            </a:lvl1pPr>
          </a:lstStyle>
          <a:p>
            <a:endParaRPr lang="en-IN"/>
          </a:p>
        </p:txBody>
      </p:sp>
      <p:sp>
        <p:nvSpPr>
          <p:cNvPr id="6" name="Slide Number Placeholder 5"/>
          <p:cNvSpPr>
            <a:spLocks noGrp="1"/>
          </p:cNvSpPr>
          <p:nvPr>
            <p:ph type="sldNum" sz="quarter" idx="4"/>
          </p:nvPr>
        </p:nvSpPr>
        <p:spPr>
          <a:xfrm>
            <a:off x="10837334" y="6470704"/>
            <a:ext cx="973666" cy="274320"/>
          </a:xfrm>
          <a:prstGeom prst="rect">
            <a:avLst/>
          </a:prstGeom>
        </p:spPr>
        <p:txBody>
          <a:bodyPr vert="horz" lIns="91440" tIns="45720" rIns="91440" bIns="45720" rtlCol="0" anchor="ctr"/>
          <a:lstStyle>
            <a:lvl1pPr algn="l">
              <a:defRPr sz="1000">
                <a:solidFill>
                  <a:schemeClr val="tx1">
                    <a:lumMod val="90000"/>
                    <a:lumOff val="10000"/>
                  </a:schemeClr>
                </a:solidFill>
                <a:latin typeface="+mj-lt"/>
              </a:defRPr>
            </a:lvl1pPr>
          </a:lstStyle>
          <a:p>
            <a:fld id="{B8242D18-8657-4ACF-AA54-28207145E2B8}" type="slidenum">
              <a:rPr lang="en-IN" smtClean="0"/>
              <a:t>‹#›</a:t>
            </a:fld>
            <a:endParaRPr lang="en-IN"/>
          </a:p>
        </p:txBody>
      </p:sp>
      <p:cxnSp>
        <p:nvCxnSpPr>
          <p:cNvPr id="7" name="Straight Connector 6"/>
          <p:cNvCxnSpPr/>
          <p:nvPr/>
        </p:nvCxnSpPr>
        <p:spPr>
          <a:xfrm flipV="1">
            <a:off x="762000" y="826324"/>
            <a:ext cx="0" cy="91440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13632648"/>
      </p:ext>
    </p:extLst>
  </p:cSld>
  <p:clrMap bg1="lt1" tx1="dk1" bg2="lt2" tx2="dk2" accent1="accent1" accent2="accent2" accent3="accent3" accent4="accent4" accent5="accent5" accent6="accent6" hlink="hlink" folHlink="folHlink"/>
  <p:sldLayoutIdLst>
    <p:sldLayoutId id="2147483763" r:id="rId1"/>
    <p:sldLayoutId id="2147483764" r:id="rId2"/>
    <p:sldLayoutId id="2147483765" r:id="rId3"/>
    <p:sldLayoutId id="2147483766" r:id="rId4"/>
    <p:sldLayoutId id="2147483767" r:id="rId5"/>
    <p:sldLayoutId id="2147483768" r:id="rId6"/>
    <p:sldLayoutId id="2147483769" r:id="rId7"/>
    <p:sldLayoutId id="2147483770" r:id="rId8"/>
    <p:sldLayoutId id="2147483771" r:id="rId9"/>
    <p:sldLayoutId id="2147483772" r:id="rId10"/>
    <p:sldLayoutId id="2147483773" r:id="rId11"/>
  </p:sldLayoutIdLst>
  <p:txStyles>
    <p:titleStyle>
      <a:lvl1pPr algn="l" defTabSz="914400" rtl="0" eaLnBrk="1" latinLnBrk="0" hangingPunct="1">
        <a:lnSpc>
          <a:spcPct val="80000"/>
        </a:lnSpc>
        <a:spcBef>
          <a:spcPct val="0"/>
        </a:spcBef>
        <a:buNone/>
        <a:defRPr sz="5000" kern="1200" cap="all" spc="100" baseline="0">
          <a:solidFill>
            <a:schemeClr val="tx1">
              <a:lumMod val="90000"/>
              <a:lumOff val="10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2"/>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2"/>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4.jpeg"/><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4.jpeg"/><Relationship Id="rId1" Type="http://schemas.openxmlformats.org/officeDocument/2006/relationships/slideLayout" Target="../slideLayouts/slideLayout7.xml"/><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1827D2-C1B5-430D-96B5-AD1F0B1C1F7A}"/>
              </a:ext>
            </a:extLst>
          </p:cNvPr>
          <p:cNvSpPr>
            <a:spLocks noGrp="1"/>
          </p:cNvSpPr>
          <p:nvPr>
            <p:ph type="ctrTitle"/>
          </p:nvPr>
        </p:nvSpPr>
        <p:spPr/>
        <p:txBody>
          <a:bodyPr/>
          <a:lstStyle/>
          <a:p>
            <a:r>
              <a:rPr lang="en-US" dirty="0" err="1"/>
              <a:t>BikeDekho</a:t>
            </a:r>
            <a:r>
              <a:rPr lang="en-US" dirty="0"/>
              <a:t> Data Analysis</a:t>
            </a:r>
            <a:endParaRPr lang="en-IN" dirty="0"/>
          </a:p>
        </p:txBody>
      </p:sp>
      <p:sp>
        <p:nvSpPr>
          <p:cNvPr id="3" name="Subtitle 2">
            <a:extLst>
              <a:ext uri="{FF2B5EF4-FFF2-40B4-BE49-F238E27FC236}">
                <a16:creationId xmlns:a16="http://schemas.microsoft.com/office/drawing/2014/main" id="{50C29259-4AB0-4344-AD37-806EE5892820}"/>
              </a:ext>
            </a:extLst>
          </p:cNvPr>
          <p:cNvSpPr>
            <a:spLocks noGrp="1"/>
          </p:cNvSpPr>
          <p:nvPr>
            <p:ph type="subTitle" idx="1"/>
          </p:nvPr>
        </p:nvSpPr>
        <p:spPr/>
        <p:txBody>
          <a:bodyPr/>
          <a:lstStyle/>
          <a:p>
            <a:pPr algn="r"/>
            <a:r>
              <a:rPr lang="en-US" dirty="0"/>
              <a:t>-Business Analyst/Data Analyst </a:t>
            </a:r>
          </a:p>
          <a:p>
            <a:pPr algn="r"/>
            <a:r>
              <a:rPr lang="en-US" dirty="0"/>
              <a:t>-Aditya Verma</a:t>
            </a:r>
            <a:endParaRPr lang="en-IN" dirty="0"/>
          </a:p>
        </p:txBody>
      </p:sp>
      <p:pic>
        <p:nvPicPr>
          <p:cNvPr id="6146" name="Picture 2" descr="BikeDekho - YouTube">
            <a:extLst>
              <a:ext uri="{FF2B5EF4-FFF2-40B4-BE49-F238E27FC236}">
                <a16:creationId xmlns:a16="http://schemas.microsoft.com/office/drawing/2014/main" id="{4C92401F-AB7D-4E69-A060-903E69A1353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563101" y="0"/>
            <a:ext cx="2628900" cy="23907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278607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AD97E6F2-9D83-4E26-8DE3-21685B853648}"/>
              </a:ext>
            </a:extLst>
          </p:cNvPr>
          <p:cNvPicPr>
            <a:picLocks noChangeAspect="1"/>
          </p:cNvPicPr>
          <p:nvPr/>
        </p:nvPicPr>
        <p:blipFill>
          <a:blip r:embed="rId2">
            <a:alphaModFix amt="35000"/>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591AA159-766C-45B4-9DE4-55D18A809D90}"/>
              </a:ext>
            </a:extLst>
          </p:cNvPr>
          <p:cNvSpPr>
            <a:spLocks noGrp="1"/>
          </p:cNvSpPr>
          <p:nvPr>
            <p:ph type="title"/>
          </p:nvPr>
        </p:nvSpPr>
        <p:spPr/>
        <p:txBody>
          <a:bodyPr/>
          <a:lstStyle/>
          <a:p>
            <a:r>
              <a:rPr lang="en-US" dirty="0"/>
              <a:t>Agenda of the Meeting</a:t>
            </a:r>
            <a:endParaRPr lang="en-IN" dirty="0"/>
          </a:p>
        </p:txBody>
      </p:sp>
      <p:sp>
        <p:nvSpPr>
          <p:cNvPr id="3" name="Content Placeholder 2">
            <a:extLst>
              <a:ext uri="{FF2B5EF4-FFF2-40B4-BE49-F238E27FC236}">
                <a16:creationId xmlns:a16="http://schemas.microsoft.com/office/drawing/2014/main" id="{C1A2BFEF-AACD-4738-B816-B4653B3A6B60}"/>
              </a:ext>
            </a:extLst>
          </p:cNvPr>
          <p:cNvSpPr>
            <a:spLocks noGrp="1"/>
          </p:cNvSpPr>
          <p:nvPr>
            <p:ph idx="1"/>
          </p:nvPr>
        </p:nvSpPr>
        <p:spPr>
          <a:xfrm>
            <a:off x="1024128" y="1971675"/>
            <a:ext cx="9720071" cy="4023360"/>
          </a:xfrm>
        </p:spPr>
        <p:txBody>
          <a:bodyPr>
            <a:normAutofit fontScale="92500" lnSpcReduction="20000"/>
          </a:bodyPr>
          <a:lstStyle/>
          <a:p>
            <a:pPr marL="457200" indent="-457200">
              <a:buFont typeface="+mj-lt"/>
              <a:buAutoNum type="arabicPeriod"/>
            </a:pPr>
            <a:r>
              <a:rPr lang="en-US" b="1" dirty="0"/>
              <a:t>Welcome &amp; Introductions </a:t>
            </a:r>
            <a:r>
              <a:rPr lang="en-US" dirty="0"/>
              <a:t>– Overview of meeting objectives. </a:t>
            </a:r>
          </a:p>
          <a:p>
            <a:pPr marL="457200" indent="-457200">
              <a:buFont typeface="+mj-lt"/>
              <a:buAutoNum type="arabicPeriod"/>
            </a:pPr>
            <a:r>
              <a:rPr lang="en-US" b="1" dirty="0"/>
              <a:t>Project Overview </a:t>
            </a:r>
            <a:r>
              <a:rPr lang="en-US" dirty="0"/>
              <a:t>– Scope of the bike sales analysis and business problem. </a:t>
            </a:r>
          </a:p>
          <a:p>
            <a:pPr marL="457200" indent="-457200">
              <a:buFont typeface="+mj-lt"/>
              <a:buAutoNum type="arabicPeriod"/>
            </a:pPr>
            <a:r>
              <a:rPr lang="en-US" b="1" dirty="0"/>
              <a:t>Data Preparation </a:t>
            </a:r>
            <a:r>
              <a:rPr lang="en-US" dirty="0"/>
              <a:t>– Cleaning, organizing data, and reviewing key fields.</a:t>
            </a:r>
          </a:p>
          <a:p>
            <a:pPr marL="457200" indent="-457200">
              <a:buFont typeface="+mj-lt"/>
              <a:buAutoNum type="arabicPeriod"/>
            </a:pPr>
            <a:r>
              <a:rPr lang="en-US" b="1" dirty="0"/>
              <a:t>Exploratory Data Analysis (EDA) </a:t>
            </a:r>
            <a:r>
              <a:rPr lang="en-US" dirty="0"/>
              <a:t>– Analysis using Excel formulas and PivotTables with initial observations.</a:t>
            </a:r>
          </a:p>
          <a:p>
            <a:pPr marL="457200" indent="-457200">
              <a:buFont typeface="+mj-lt"/>
              <a:buAutoNum type="arabicPeriod"/>
            </a:pPr>
            <a:r>
              <a:rPr lang="en-US" b="1" dirty="0"/>
              <a:t>Key Insights &amp; Findings </a:t>
            </a:r>
            <a:r>
              <a:rPr lang="en-US" dirty="0"/>
              <a:t>– Customer demographics, bike purchase behavior, commute patterns, and sales trends.</a:t>
            </a:r>
          </a:p>
          <a:p>
            <a:pPr marL="457200" indent="-457200">
              <a:buFont typeface="+mj-lt"/>
              <a:buAutoNum type="arabicPeriod"/>
            </a:pPr>
            <a:r>
              <a:rPr lang="en-US" b="1" dirty="0"/>
              <a:t>Dashboard Walkthrough </a:t>
            </a:r>
            <a:r>
              <a:rPr lang="en-US" dirty="0"/>
              <a:t>– Interactive features and how visuals support decision-making.</a:t>
            </a:r>
          </a:p>
          <a:p>
            <a:pPr marL="457200" indent="-457200">
              <a:buFont typeface="+mj-lt"/>
              <a:buAutoNum type="arabicPeriod"/>
            </a:pPr>
            <a:r>
              <a:rPr lang="en-US" b="1" dirty="0"/>
              <a:t>Project Objectives Recap </a:t>
            </a:r>
            <a:r>
              <a:rPr lang="en-US" dirty="0"/>
              <a:t>– Data cleaning, EDA, pattern discovery, and dashboard creation.</a:t>
            </a:r>
          </a:p>
          <a:p>
            <a:pPr marL="457200" indent="-457200">
              <a:buFont typeface="+mj-lt"/>
              <a:buAutoNum type="arabicPeriod"/>
            </a:pPr>
            <a:r>
              <a:rPr lang="en-US" b="1" dirty="0"/>
              <a:t>Conclusion &amp; Business Takeaways</a:t>
            </a:r>
            <a:r>
              <a:rPr lang="en-US" dirty="0"/>
              <a:t> – Summary of insights and impact Q&amp;A and Next Steps.</a:t>
            </a:r>
            <a:endParaRPr lang="en-IN" dirty="0"/>
          </a:p>
        </p:txBody>
      </p:sp>
    </p:spTree>
    <p:extLst>
      <p:ext uri="{BB962C8B-B14F-4D97-AF65-F5344CB8AC3E}">
        <p14:creationId xmlns:p14="http://schemas.microsoft.com/office/powerpoint/2010/main" val="5460084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CF41C11-E970-4EF5-92E0-04CFB705280F}"/>
              </a:ext>
            </a:extLst>
          </p:cNvPr>
          <p:cNvPicPr>
            <a:picLocks noChangeAspect="1"/>
          </p:cNvPicPr>
          <p:nvPr/>
        </p:nvPicPr>
        <p:blipFill>
          <a:blip r:embed="rId2">
            <a:alphaModFix amt="35000"/>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1DB17F73-6E10-4EAE-8D19-B1AFECFD3CCE}"/>
              </a:ext>
            </a:extLst>
          </p:cNvPr>
          <p:cNvSpPr>
            <a:spLocks noGrp="1"/>
          </p:cNvSpPr>
          <p:nvPr>
            <p:ph type="title"/>
          </p:nvPr>
        </p:nvSpPr>
        <p:spPr/>
        <p:txBody>
          <a:bodyPr/>
          <a:lstStyle/>
          <a:p>
            <a:r>
              <a:rPr lang="en-US" dirty="0"/>
              <a:t>Introduction</a:t>
            </a:r>
            <a:endParaRPr lang="en-IN" dirty="0"/>
          </a:p>
        </p:txBody>
      </p:sp>
      <p:sp>
        <p:nvSpPr>
          <p:cNvPr id="3" name="Content Placeholder 2">
            <a:extLst>
              <a:ext uri="{FF2B5EF4-FFF2-40B4-BE49-F238E27FC236}">
                <a16:creationId xmlns:a16="http://schemas.microsoft.com/office/drawing/2014/main" id="{EED58411-840D-4941-9FE3-21A8B1ABAA26}"/>
              </a:ext>
            </a:extLst>
          </p:cNvPr>
          <p:cNvSpPr>
            <a:spLocks noGrp="1"/>
          </p:cNvSpPr>
          <p:nvPr>
            <p:ph idx="1"/>
          </p:nvPr>
        </p:nvSpPr>
        <p:spPr>
          <a:xfrm>
            <a:off x="1024128" y="1904999"/>
            <a:ext cx="9824847" cy="4486275"/>
          </a:xfrm>
        </p:spPr>
        <p:txBody>
          <a:bodyPr>
            <a:normAutofit fontScale="85000" lnSpcReduction="10000"/>
          </a:bodyPr>
          <a:lstStyle/>
          <a:p>
            <a:pPr marL="457200" indent="-457200">
              <a:buFont typeface="+mj-lt"/>
              <a:buAutoNum type="arabicPeriod"/>
            </a:pPr>
            <a:r>
              <a:rPr lang="en-US" dirty="0"/>
              <a:t>Founded to simplify bike buying decisions, Bike Dekho serves as a data-driven platform for customers evaluating bike options. </a:t>
            </a:r>
          </a:p>
          <a:p>
            <a:pPr marL="457200" indent="-457200">
              <a:buFont typeface="+mj-lt"/>
              <a:buAutoNum type="arabicPeriod"/>
            </a:pPr>
            <a:r>
              <a:rPr lang="en-US" dirty="0"/>
              <a:t>The platform aggregates and analyzes bike sales data from over 1,000 customers, covering key factors such as age, income, education, purchase behavior, and commute patterns. </a:t>
            </a:r>
          </a:p>
          <a:p>
            <a:pPr marL="457200" indent="-457200">
              <a:buFont typeface="+mj-lt"/>
              <a:buAutoNum type="arabicPeriod"/>
            </a:pPr>
            <a:r>
              <a:rPr lang="en-US" dirty="0"/>
              <a:t>~64% of customers fall into the core 30–50 age group, which also shows the highest bike purchase rate (~52%). </a:t>
            </a:r>
          </a:p>
          <a:p>
            <a:pPr marL="457200" indent="-457200">
              <a:buFont typeface="+mj-lt"/>
              <a:buAutoNum type="arabicPeriod"/>
            </a:pPr>
            <a:r>
              <a:rPr lang="en-US" dirty="0"/>
              <a:t>Income analysis shows that nearly 90% of the customer base earns below ₹1,00,000, supporting targeted marketing and pricing strategy decisions. </a:t>
            </a:r>
          </a:p>
          <a:p>
            <a:pPr marL="457200" indent="-457200">
              <a:buFont typeface="+mj-lt"/>
              <a:buAutoNum type="arabicPeriod"/>
            </a:pPr>
            <a:r>
              <a:rPr lang="en-US" dirty="0"/>
              <a:t>Education profiling indicates that ~57% of customers have at least a Bachelor’s or Partial College qualification, helping tailor communication and product positioning. </a:t>
            </a:r>
          </a:p>
          <a:p>
            <a:pPr marL="457200" indent="-457200">
              <a:buFont typeface="+mj-lt"/>
              <a:buAutoNum type="arabicPeriod"/>
            </a:pPr>
            <a:r>
              <a:rPr lang="en-US" dirty="0"/>
              <a:t>Commute behavior reveals that 53%+ customers live within 2 miles, highlighting opportunities for localized promotions, test ride campaigns, and dealership placement optimization. </a:t>
            </a:r>
          </a:p>
          <a:p>
            <a:pPr marL="457200" indent="-457200">
              <a:buFont typeface="+mj-lt"/>
              <a:buAutoNum type="arabicPeriod"/>
            </a:pPr>
            <a:r>
              <a:rPr lang="en-US" dirty="0"/>
              <a:t>The analysis supports data-backed decision making through interactive dashboards and insights, enabling stakeholders to focus on high-value segments.</a:t>
            </a:r>
            <a:endParaRPr lang="en-IN" dirty="0"/>
          </a:p>
        </p:txBody>
      </p:sp>
    </p:spTree>
    <p:extLst>
      <p:ext uri="{BB962C8B-B14F-4D97-AF65-F5344CB8AC3E}">
        <p14:creationId xmlns:p14="http://schemas.microsoft.com/office/powerpoint/2010/main" val="29512460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7FABAEF-9492-40D7-AD11-F108E907542A}"/>
              </a:ext>
            </a:extLst>
          </p:cNvPr>
          <p:cNvPicPr>
            <a:picLocks noChangeAspect="1"/>
          </p:cNvPicPr>
          <p:nvPr/>
        </p:nvPicPr>
        <p:blipFill>
          <a:blip r:embed="rId2">
            <a:alphaModFix amt="35000"/>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001BE50E-0916-4BB5-AA35-749C4AC4B826}"/>
              </a:ext>
            </a:extLst>
          </p:cNvPr>
          <p:cNvSpPr>
            <a:spLocks noGrp="1"/>
          </p:cNvSpPr>
          <p:nvPr>
            <p:ph type="title"/>
          </p:nvPr>
        </p:nvSpPr>
        <p:spPr/>
        <p:txBody>
          <a:bodyPr/>
          <a:lstStyle/>
          <a:p>
            <a:r>
              <a:rPr lang="en-US" dirty="0"/>
              <a:t>Data Checking &amp; Cleaning</a:t>
            </a:r>
            <a:endParaRPr lang="en-IN" dirty="0"/>
          </a:p>
        </p:txBody>
      </p:sp>
      <p:sp>
        <p:nvSpPr>
          <p:cNvPr id="3" name="Content Placeholder 2">
            <a:extLst>
              <a:ext uri="{FF2B5EF4-FFF2-40B4-BE49-F238E27FC236}">
                <a16:creationId xmlns:a16="http://schemas.microsoft.com/office/drawing/2014/main" id="{30EE17E4-5341-4F31-8F97-F5C0BCC6BDFD}"/>
              </a:ext>
            </a:extLst>
          </p:cNvPr>
          <p:cNvSpPr>
            <a:spLocks noGrp="1"/>
          </p:cNvSpPr>
          <p:nvPr>
            <p:ph idx="1"/>
          </p:nvPr>
        </p:nvSpPr>
        <p:spPr>
          <a:xfrm>
            <a:off x="1024128" y="1962150"/>
            <a:ext cx="9720071" cy="4347210"/>
          </a:xfrm>
        </p:spPr>
        <p:txBody>
          <a:bodyPr>
            <a:normAutofit/>
          </a:bodyPr>
          <a:lstStyle/>
          <a:p>
            <a:pPr marL="457200" indent="-457200">
              <a:buFont typeface="+mj-lt"/>
              <a:buAutoNum type="arabicPeriod"/>
            </a:pPr>
            <a:r>
              <a:rPr lang="en-US" dirty="0"/>
              <a:t>Initial dataset contained </a:t>
            </a:r>
            <a:r>
              <a:rPr lang="en-US" b="1" dirty="0"/>
              <a:t>1,026 </a:t>
            </a:r>
            <a:r>
              <a:rPr lang="en-US" dirty="0"/>
              <a:t>records. </a:t>
            </a:r>
          </a:p>
          <a:p>
            <a:pPr marL="457200" indent="-457200">
              <a:buFont typeface="+mj-lt"/>
              <a:buAutoNum type="arabicPeriod"/>
            </a:pPr>
            <a:r>
              <a:rPr lang="en-US" dirty="0"/>
              <a:t>Identified and removed </a:t>
            </a:r>
            <a:r>
              <a:rPr lang="en-US" b="1" dirty="0"/>
              <a:t>26 </a:t>
            </a:r>
            <a:r>
              <a:rPr lang="en-US" dirty="0"/>
              <a:t>duplicate entries, resulting in </a:t>
            </a:r>
            <a:r>
              <a:rPr lang="en-US" b="1" dirty="0"/>
              <a:t>1,000 </a:t>
            </a:r>
            <a:r>
              <a:rPr lang="en-US" dirty="0"/>
              <a:t>distinct records for analysis. </a:t>
            </a:r>
          </a:p>
          <a:p>
            <a:pPr marL="457200" indent="-457200">
              <a:buFont typeface="+mj-lt"/>
              <a:buAutoNum type="arabicPeriod"/>
            </a:pPr>
            <a:r>
              <a:rPr lang="en-US" dirty="0"/>
              <a:t>Performed </a:t>
            </a:r>
            <a:r>
              <a:rPr lang="en-US" b="1" dirty="0"/>
              <a:t>deduplication</a:t>
            </a:r>
            <a:r>
              <a:rPr lang="en-US" dirty="0"/>
              <a:t> to ensure each customer record is unique. </a:t>
            </a:r>
          </a:p>
          <a:p>
            <a:pPr marL="457200" indent="-457200">
              <a:buFont typeface="+mj-lt"/>
              <a:buAutoNum type="arabicPeriod"/>
            </a:pPr>
            <a:r>
              <a:rPr lang="en-US" dirty="0"/>
              <a:t>Conducted </a:t>
            </a:r>
            <a:r>
              <a:rPr lang="en-US" b="1" dirty="0"/>
              <a:t>data consistency </a:t>
            </a:r>
            <a:r>
              <a:rPr lang="en-US" dirty="0"/>
              <a:t>checks to identify case-sensitive variations in categorical fields (e.g., Yes vs yes). </a:t>
            </a:r>
          </a:p>
          <a:p>
            <a:pPr marL="457200" indent="-457200">
              <a:buFont typeface="+mj-lt"/>
              <a:buAutoNum type="arabicPeriod"/>
            </a:pPr>
            <a:r>
              <a:rPr lang="en-US" dirty="0"/>
              <a:t>Applied standardization to ensure uniform text values across columns. </a:t>
            </a:r>
          </a:p>
          <a:p>
            <a:pPr marL="457200" indent="-457200">
              <a:buFont typeface="+mj-lt"/>
              <a:buAutoNum type="arabicPeriod"/>
            </a:pPr>
            <a:r>
              <a:rPr lang="en-US" dirty="0"/>
              <a:t>Validated categorical fields to eliminate inconsistent string values. </a:t>
            </a:r>
          </a:p>
          <a:p>
            <a:pPr marL="457200" indent="-457200">
              <a:buFont typeface="+mj-lt"/>
              <a:buAutoNum type="arabicPeriod"/>
            </a:pPr>
            <a:r>
              <a:rPr lang="en-US" dirty="0"/>
              <a:t>Final dataset was reviewed for completeness, accuracy, and consistency, ensuring readiness for analysis and dashboarding.</a:t>
            </a:r>
            <a:endParaRPr lang="en-IN" dirty="0"/>
          </a:p>
        </p:txBody>
      </p:sp>
    </p:spTree>
    <p:extLst>
      <p:ext uri="{BB962C8B-B14F-4D97-AF65-F5344CB8AC3E}">
        <p14:creationId xmlns:p14="http://schemas.microsoft.com/office/powerpoint/2010/main" val="7547660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 name="Picture 28">
            <a:extLst>
              <a:ext uri="{FF2B5EF4-FFF2-40B4-BE49-F238E27FC236}">
                <a16:creationId xmlns:a16="http://schemas.microsoft.com/office/drawing/2014/main" id="{25309DBD-F6E3-483F-8E87-59D8D8E10BAF}"/>
              </a:ext>
            </a:extLst>
          </p:cNvPr>
          <p:cNvPicPr>
            <a:picLocks noChangeAspect="1"/>
          </p:cNvPicPr>
          <p:nvPr/>
        </p:nvPicPr>
        <p:blipFill>
          <a:blip r:embed="rId2">
            <a:alphaModFix amt="35000"/>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756DE7EC-783D-43CC-871D-68A5426768FA}"/>
              </a:ext>
            </a:extLst>
          </p:cNvPr>
          <p:cNvSpPr>
            <a:spLocks noGrp="1"/>
          </p:cNvSpPr>
          <p:nvPr>
            <p:ph type="title" idx="4294967295"/>
          </p:nvPr>
        </p:nvSpPr>
        <p:spPr>
          <a:xfrm>
            <a:off x="0" y="109538"/>
            <a:ext cx="10182225" cy="623887"/>
          </a:xfrm>
        </p:spPr>
        <p:txBody>
          <a:bodyPr>
            <a:normAutofit fontScale="90000"/>
          </a:bodyPr>
          <a:lstStyle/>
          <a:p>
            <a:r>
              <a:rPr lang="en-US" dirty="0"/>
              <a:t>Insights: Income Distribution by Marital Status</a:t>
            </a:r>
            <a:endParaRPr lang="en-IN" dirty="0"/>
          </a:p>
        </p:txBody>
      </p:sp>
      <p:pic>
        <p:nvPicPr>
          <p:cNvPr id="23" name="Picture 22">
            <a:extLst>
              <a:ext uri="{FF2B5EF4-FFF2-40B4-BE49-F238E27FC236}">
                <a16:creationId xmlns:a16="http://schemas.microsoft.com/office/drawing/2014/main" id="{AEFB270D-AE4D-4914-8AFD-2EA5FE6C9F61}"/>
              </a:ext>
            </a:extLst>
          </p:cNvPr>
          <p:cNvPicPr>
            <a:picLocks noChangeAspect="1"/>
          </p:cNvPicPr>
          <p:nvPr/>
        </p:nvPicPr>
        <p:blipFill>
          <a:blip r:embed="rId3"/>
          <a:stretch>
            <a:fillRect/>
          </a:stretch>
        </p:blipFill>
        <p:spPr>
          <a:xfrm>
            <a:off x="333177" y="800099"/>
            <a:ext cx="4572396" cy="1857376"/>
          </a:xfrm>
          <a:prstGeom prst="rect">
            <a:avLst/>
          </a:prstGeom>
          <a:ln>
            <a:solidFill>
              <a:schemeClr val="tx1"/>
            </a:solidFill>
          </a:ln>
        </p:spPr>
      </p:pic>
      <p:pic>
        <p:nvPicPr>
          <p:cNvPr id="25" name="Picture 24">
            <a:extLst>
              <a:ext uri="{FF2B5EF4-FFF2-40B4-BE49-F238E27FC236}">
                <a16:creationId xmlns:a16="http://schemas.microsoft.com/office/drawing/2014/main" id="{1A19CCF2-98D7-4011-8D95-0AE3E39D2366}"/>
              </a:ext>
            </a:extLst>
          </p:cNvPr>
          <p:cNvPicPr>
            <a:picLocks noChangeAspect="1"/>
          </p:cNvPicPr>
          <p:nvPr/>
        </p:nvPicPr>
        <p:blipFill>
          <a:blip r:embed="rId4"/>
          <a:stretch>
            <a:fillRect/>
          </a:stretch>
        </p:blipFill>
        <p:spPr>
          <a:xfrm>
            <a:off x="333177" y="3059312"/>
            <a:ext cx="4572396" cy="3303388"/>
          </a:xfrm>
          <a:prstGeom prst="rect">
            <a:avLst/>
          </a:prstGeom>
          <a:ln>
            <a:solidFill>
              <a:schemeClr val="tx1"/>
            </a:solidFill>
          </a:ln>
        </p:spPr>
      </p:pic>
      <p:sp>
        <p:nvSpPr>
          <p:cNvPr id="28" name="TextBox 27">
            <a:extLst>
              <a:ext uri="{FF2B5EF4-FFF2-40B4-BE49-F238E27FC236}">
                <a16:creationId xmlns:a16="http://schemas.microsoft.com/office/drawing/2014/main" id="{4245F321-1182-409C-8C78-9C85A732D5D1}"/>
              </a:ext>
            </a:extLst>
          </p:cNvPr>
          <p:cNvSpPr txBox="1"/>
          <p:nvPr/>
        </p:nvSpPr>
        <p:spPr>
          <a:xfrm>
            <a:off x="5210175" y="800099"/>
            <a:ext cx="6772275" cy="5509200"/>
          </a:xfrm>
          <a:prstGeom prst="rect">
            <a:avLst/>
          </a:prstGeom>
          <a:noFill/>
        </p:spPr>
        <p:txBody>
          <a:bodyPr wrap="square" rtlCol="0">
            <a:spAutoFit/>
          </a:bodyPr>
          <a:lstStyle/>
          <a:p>
            <a:pPr marL="342900" indent="-342900">
              <a:buFont typeface="Arial" panose="020B0604020202020204" pitchFamily="34" charset="0"/>
              <a:buChar char="•"/>
            </a:pPr>
            <a:r>
              <a:rPr lang="en-IN" sz="1600" b="1" dirty="0"/>
              <a:t>Income is heavily concentrated below ₹1,00,000</a:t>
            </a:r>
            <a:r>
              <a:rPr lang="en-IN" sz="1600" dirty="0"/>
              <a:t>, with ~900 people below and only ~107 above.</a:t>
            </a:r>
          </a:p>
          <a:p>
            <a:r>
              <a:rPr lang="en-IN" sz="1600" dirty="0"/>
              <a:t>👉 About </a:t>
            </a:r>
            <a:r>
              <a:rPr lang="en-IN" sz="1600" b="1" dirty="0"/>
              <a:t>89%</a:t>
            </a:r>
            <a:r>
              <a:rPr lang="en-IN" sz="1600" dirty="0"/>
              <a:t> fall under the ₹1,00,000 bracket.</a:t>
            </a:r>
          </a:p>
          <a:p>
            <a:pPr marL="342900" indent="-342900">
              <a:buFont typeface="Arial" panose="020B0604020202020204" pitchFamily="34" charset="0"/>
              <a:buChar char="•"/>
            </a:pPr>
            <a:r>
              <a:rPr lang="en-IN" sz="1600" b="1" dirty="0"/>
              <a:t>Married slightly outnumber Singles overall</a:t>
            </a:r>
            <a:r>
              <a:rPr lang="en-IN" sz="1600" dirty="0"/>
              <a:t> (Married ~543, Singles ~464).</a:t>
            </a:r>
          </a:p>
          <a:p>
            <a:r>
              <a:rPr lang="en-IN" sz="1600" dirty="0"/>
              <a:t>👉 A difference of </a:t>
            </a:r>
            <a:r>
              <a:rPr lang="en-IN" sz="1600" b="1" dirty="0"/>
              <a:t>~79 people</a:t>
            </a:r>
            <a:r>
              <a:rPr lang="en-IN" sz="1600" dirty="0"/>
              <a:t> </a:t>
            </a:r>
            <a:r>
              <a:rPr lang="en-IN" sz="1600" dirty="0" err="1"/>
              <a:t>favors</a:t>
            </a:r>
            <a:r>
              <a:rPr lang="en-IN" sz="1600" dirty="0"/>
              <a:t> Married individuals.</a:t>
            </a:r>
          </a:p>
          <a:p>
            <a:pPr marL="342900" indent="-342900">
              <a:buFont typeface="Arial" panose="020B0604020202020204" pitchFamily="34" charset="0"/>
              <a:buChar char="•"/>
            </a:pPr>
            <a:r>
              <a:rPr lang="en-IN" sz="1600" b="1" dirty="0"/>
              <a:t>Singles lead only in the ₹0–50k bracket</a:t>
            </a:r>
            <a:r>
              <a:rPr lang="en-IN" sz="1600" dirty="0"/>
              <a:t> (Singles ~225 vs Married ~215).</a:t>
            </a:r>
          </a:p>
          <a:p>
            <a:r>
              <a:rPr lang="en-IN" sz="1600" dirty="0"/>
              <a:t>👉 A small </a:t>
            </a:r>
            <a:r>
              <a:rPr lang="en-IN" sz="1600" b="1" dirty="0"/>
              <a:t>~2% gap</a:t>
            </a:r>
            <a:r>
              <a:rPr lang="en-IN" sz="1600" dirty="0"/>
              <a:t>.</a:t>
            </a:r>
          </a:p>
          <a:p>
            <a:pPr marL="342900" indent="-342900">
              <a:buFont typeface="Arial" panose="020B0604020202020204" pitchFamily="34" charset="0"/>
              <a:buChar char="•"/>
            </a:pPr>
            <a:r>
              <a:rPr lang="en-IN" sz="1600" b="1" dirty="0"/>
              <a:t>Married dominate middle and higher income ranges.</a:t>
            </a:r>
            <a:r>
              <a:rPr lang="en-IN" sz="1600" dirty="0"/>
              <a:t> They lead by ~70 in ₹50k–₹1L, ~15 in ₹1L–₹1.5L, and form ~67% in ₹1.5L–₹2L (small sample).</a:t>
            </a:r>
          </a:p>
          <a:p>
            <a:r>
              <a:rPr lang="en-IN" sz="1600" dirty="0"/>
              <a:t>👉 Higher incomes consistently skew toward Married individuals.</a:t>
            </a:r>
          </a:p>
          <a:p>
            <a:pPr marL="342900" indent="-342900">
              <a:buFont typeface="Arial" panose="020B0604020202020204" pitchFamily="34" charset="0"/>
              <a:buChar char="•"/>
            </a:pPr>
            <a:r>
              <a:rPr lang="en-IN" sz="1600" b="1" dirty="0"/>
              <a:t>A sharp drop occurs after ₹1,00,000</a:t>
            </a:r>
            <a:r>
              <a:rPr lang="en-IN" sz="1600" dirty="0"/>
              <a:t>, falling from ~460 (₹50k–₹1L) to ~95 (₹1L–₹1.5L).</a:t>
            </a:r>
          </a:p>
          <a:p>
            <a:r>
              <a:rPr lang="en-IN" sz="1600" dirty="0"/>
              <a:t>👉 Roughly a </a:t>
            </a:r>
            <a:r>
              <a:rPr lang="en-IN" sz="1600" b="1" dirty="0"/>
              <a:t>79% decline</a:t>
            </a:r>
            <a:r>
              <a:rPr lang="en-IN" sz="1600" dirty="0"/>
              <a:t> beyond ₹1,00,000.</a:t>
            </a:r>
            <a:endParaRPr lang="en-US" sz="1600" dirty="0">
              <a:solidFill>
                <a:srgbClr val="009999"/>
              </a:solidFill>
            </a:endParaRPr>
          </a:p>
          <a:p>
            <a:r>
              <a:rPr lang="en-US" sz="1600" dirty="0">
                <a:solidFill>
                  <a:srgbClr val="009999"/>
                </a:solidFill>
              </a:rPr>
              <a:t>Conclusion:</a:t>
            </a:r>
          </a:p>
          <a:p>
            <a:r>
              <a:rPr lang="en-US" sz="1600" dirty="0"/>
              <a:t>This chart shows that income distribution is heavily concentrated below ₹1,00,000, with nearly 90% of individuals falling in the lower income brackets. Singles slightly dominate only at the lowest income level, while married individuals consistently outnumber singles as income increases. There is also a sharp drop in population beyond ₹1,00,000, indicating limited representation in higher income ranges. Overall, the pattern suggests that marital status becomes more associated with higher income levels, but the dataset is primarily driven by lower-income groups.</a:t>
            </a:r>
            <a:endParaRPr lang="en-IN" sz="1600" dirty="0"/>
          </a:p>
        </p:txBody>
      </p:sp>
    </p:spTree>
    <p:extLst>
      <p:ext uri="{BB962C8B-B14F-4D97-AF65-F5344CB8AC3E}">
        <p14:creationId xmlns:p14="http://schemas.microsoft.com/office/powerpoint/2010/main" val="30137727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 name="Picture 25">
            <a:extLst>
              <a:ext uri="{FF2B5EF4-FFF2-40B4-BE49-F238E27FC236}">
                <a16:creationId xmlns:a16="http://schemas.microsoft.com/office/drawing/2014/main" id="{EF2EF4B9-3286-4C0E-AA7C-C0A750C56275}"/>
              </a:ext>
            </a:extLst>
          </p:cNvPr>
          <p:cNvPicPr>
            <a:picLocks noChangeAspect="1"/>
          </p:cNvPicPr>
          <p:nvPr/>
        </p:nvPicPr>
        <p:blipFill>
          <a:blip r:embed="rId2">
            <a:alphaModFix amt="35000"/>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2" name="TextBox 21">
            <a:extLst>
              <a:ext uri="{FF2B5EF4-FFF2-40B4-BE49-F238E27FC236}">
                <a16:creationId xmlns:a16="http://schemas.microsoft.com/office/drawing/2014/main" id="{47B8575E-A4A8-4D87-81D5-5DC5BD72E3FF}"/>
              </a:ext>
            </a:extLst>
          </p:cNvPr>
          <p:cNvSpPr txBox="1"/>
          <p:nvPr/>
        </p:nvSpPr>
        <p:spPr>
          <a:xfrm>
            <a:off x="6267449" y="1259118"/>
            <a:ext cx="5838825" cy="4524315"/>
          </a:xfrm>
          <a:prstGeom prst="rect">
            <a:avLst/>
          </a:prstGeom>
          <a:noFill/>
        </p:spPr>
        <p:txBody>
          <a:bodyPr wrap="square">
            <a:spAutoFit/>
          </a:bodyPr>
          <a:lstStyle/>
          <a:p>
            <a:pPr marL="342900" indent="-342900">
              <a:buFont typeface="Arial" panose="020B0604020202020204" pitchFamily="34" charset="0"/>
              <a:buChar char="•"/>
            </a:pPr>
            <a:r>
              <a:rPr lang="en-IN" sz="1600" dirty="0"/>
              <a:t>Gender distribution is almost balanced Female: 489 (48.9%) Male: 511 (51.1%) </a:t>
            </a:r>
          </a:p>
          <a:p>
            <a:r>
              <a:rPr lang="en-IN" sz="1600" dirty="0"/>
              <a:t>👉 Slight male dominance of just 22 people. </a:t>
            </a:r>
          </a:p>
          <a:p>
            <a:pPr marL="342900" indent="-342900">
              <a:buFont typeface="Arial" panose="020B0604020202020204" pitchFamily="34" charset="0"/>
              <a:buChar char="•"/>
            </a:pPr>
            <a:r>
              <a:rPr lang="en-IN" sz="1600" dirty="0"/>
              <a:t>Age group 30–50 is the dominant segment for both genders Total age 30–50: 641 people (64.1%) Breakdown: Female 30–50: 318 Male 30–50: 323 </a:t>
            </a:r>
          </a:p>
          <a:p>
            <a:r>
              <a:rPr lang="en-IN" sz="1600" dirty="0"/>
              <a:t>👉 Nearly identical participation, making this the core demographic. </a:t>
            </a:r>
          </a:p>
          <a:p>
            <a:pPr marL="342900" indent="-342900">
              <a:buFont typeface="Arial" panose="020B0604020202020204" pitchFamily="34" charset="0"/>
              <a:buChar char="•"/>
            </a:pPr>
            <a:r>
              <a:rPr lang="en-IN" sz="1600" dirty="0"/>
              <a:t>Above 50 is a secondary segment Total Above 50: 276 (27.6%) Female: 132 Male: 144 </a:t>
            </a:r>
          </a:p>
          <a:p>
            <a:r>
              <a:rPr lang="en-IN" sz="1600" dirty="0"/>
              <a:t>👉 Males slightly higher by 12 people. </a:t>
            </a:r>
          </a:p>
          <a:p>
            <a:pPr marL="342900" indent="-342900">
              <a:buFont typeface="Arial" panose="020B0604020202020204" pitchFamily="34" charset="0"/>
              <a:buChar char="•"/>
            </a:pPr>
            <a:r>
              <a:rPr lang="en-IN" sz="1600" dirty="0"/>
              <a:t> Under 30 is extremely small Total Under 30: 83 (8.3%) Female: 39 Male: 44 </a:t>
            </a:r>
          </a:p>
          <a:p>
            <a:r>
              <a:rPr lang="en-IN" sz="1600" dirty="0"/>
              <a:t>👉 Young population is underrepresented in this dataset. </a:t>
            </a:r>
          </a:p>
          <a:p>
            <a:pPr marL="342900" indent="-342900">
              <a:buFont typeface="Arial" panose="020B0604020202020204" pitchFamily="34" charset="0"/>
              <a:buChar char="•"/>
            </a:pPr>
            <a:r>
              <a:rPr lang="en-IN" sz="1600" dirty="0"/>
              <a:t>Bachelor’s is the most common education level Out of 1000 total: Bachelor’s: 306 (30.6%) Partial College: 265 (26.5%) High School: 179 (17.9%) Graduate Degree: 174 (17.4%) Partial High School: 76 (7.6%) </a:t>
            </a:r>
          </a:p>
          <a:p>
            <a:r>
              <a:rPr lang="en-IN" sz="1600" dirty="0"/>
              <a:t>👉 Nearly 57% fall into Bachelor’s + Partial College. </a:t>
            </a:r>
          </a:p>
        </p:txBody>
      </p:sp>
      <p:pic>
        <p:nvPicPr>
          <p:cNvPr id="21" name="Picture 20">
            <a:extLst>
              <a:ext uri="{FF2B5EF4-FFF2-40B4-BE49-F238E27FC236}">
                <a16:creationId xmlns:a16="http://schemas.microsoft.com/office/drawing/2014/main" id="{3376E429-E51C-4BFA-B5D7-348CE857212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2571" y="1343025"/>
            <a:ext cx="5763429" cy="5271405"/>
          </a:xfrm>
          <a:prstGeom prst="rect">
            <a:avLst/>
          </a:prstGeom>
          <a:ln>
            <a:solidFill>
              <a:schemeClr val="tx1"/>
            </a:solidFill>
          </a:ln>
        </p:spPr>
      </p:pic>
      <p:sp>
        <p:nvSpPr>
          <p:cNvPr id="24" name="TextBox 23">
            <a:extLst>
              <a:ext uri="{FF2B5EF4-FFF2-40B4-BE49-F238E27FC236}">
                <a16:creationId xmlns:a16="http://schemas.microsoft.com/office/drawing/2014/main" id="{794CA091-3859-47F0-8009-F3041BAC5896}"/>
              </a:ext>
            </a:extLst>
          </p:cNvPr>
          <p:cNvSpPr txBox="1"/>
          <p:nvPr/>
        </p:nvSpPr>
        <p:spPr>
          <a:xfrm>
            <a:off x="400050" y="276225"/>
            <a:ext cx="9477375" cy="707886"/>
          </a:xfrm>
          <a:prstGeom prst="rect">
            <a:avLst/>
          </a:prstGeom>
          <a:noFill/>
        </p:spPr>
        <p:txBody>
          <a:bodyPr wrap="square" rtlCol="0">
            <a:spAutoFit/>
          </a:bodyPr>
          <a:lstStyle/>
          <a:p>
            <a:r>
              <a:rPr lang="en-US" sz="4000" dirty="0">
                <a:latin typeface="+mj-lt"/>
              </a:rPr>
              <a:t>Customer Demographics: Education, Age &amp; Gender</a:t>
            </a:r>
            <a:endParaRPr lang="en-IN" sz="4000" dirty="0">
              <a:latin typeface="+mj-lt"/>
            </a:endParaRPr>
          </a:p>
        </p:txBody>
      </p:sp>
    </p:spTree>
    <p:extLst>
      <p:ext uri="{BB962C8B-B14F-4D97-AF65-F5344CB8AC3E}">
        <p14:creationId xmlns:p14="http://schemas.microsoft.com/office/powerpoint/2010/main" val="29775075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D061F57D-56C3-4603-A1F4-A679D402227C}"/>
              </a:ext>
            </a:extLst>
          </p:cNvPr>
          <p:cNvPicPr>
            <a:picLocks noChangeAspect="1"/>
          </p:cNvPicPr>
          <p:nvPr/>
        </p:nvPicPr>
        <p:blipFill>
          <a:blip r:embed="rId2">
            <a:alphaModFix amt="35000"/>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TextBox 4">
            <a:extLst>
              <a:ext uri="{FF2B5EF4-FFF2-40B4-BE49-F238E27FC236}">
                <a16:creationId xmlns:a16="http://schemas.microsoft.com/office/drawing/2014/main" id="{FB43E16A-7F87-41C7-8ADB-DDF7F0A87EA6}"/>
              </a:ext>
            </a:extLst>
          </p:cNvPr>
          <p:cNvSpPr txBox="1"/>
          <p:nvPr/>
        </p:nvSpPr>
        <p:spPr>
          <a:xfrm>
            <a:off x="342900" y="4079630"/>
            <a:ext cx="5353050" cy="2554545"/>
          </a:xfrm>
          <a:prstGeom prst="rect">
            <a:avLst/>
          </a:prstGeom>
          <a:noFill/>
        </p:spPr>
        <p:txBody>
          <a:bodyPr wrap="square">
            <a:spAutoFit/>
          </a:bodyPr>
          <a:lstStyle/>
          <a:p>
            <a:pPr marL="285750" indent="-285750">
              <a:buFont typeface="Arial" panose="020B0604020202020204" pitchFamily="34" charset="0"/>
              <a:buChar char="•"/>
            </a:pPr>
            <a:r>
              <a:rPr lang="en-IN" sz="1600" dirty="0"/>
              <a:t>Education concentration peaks in age 30–50 Examples: Bachelor’s (30–50): 226 out of 306 (~74%) Graduate Degree (30–50): 135 out of 174 (~78%) Partial College (30–50): 148 out of 265 (~56%) </a:t>
            </a:r>
          </a:p>
          <a:p>
            <a:r>
              <a:rPr lang="en-IN" sz="1600" dirty="0"/>
              <a:t>👉 Most higher-education individuals belong to the 30–50 age group. </a:t>
            </a:r>
          </a:p>
          <a:p>
            <a:pPr marL="285750" indent="-285750">
              <a:buFont typeface="Arial" panose="020B0604020202020204" pitchFamily="34" charset="0"/>
              <a:buChar char="•"/>
            </a:pPr>
            <a:r>
              <a:rPr lang="en-IN" sz="1600" dirty="0"/>
              <a:t>Male–Female education patterns are similar Both genders show highest counts in: Bachelor’s Partial College No education category shows extreme gender imbalance. </a:t>
            </a:r>
          </a:p>
          <a:p>
            <a:r>
              <a:rPr lang="en-IN" sz="1600" dirty="0"/>
              <a:t>👉 Education distribution is consistent across genders.</a:t>
            </a:r>
          </a:p>
        </p:txBody>
      </p:sp>
      <p:pic>
        <p:nvPicPr>
          <p:cNvPr id="6" name="Picture 5">
            <a:extLst>
              <a:ext uri="{FF2B5EF4-FFF2-40B4-BE49-F238E27FC236}">
                <a16:creationId xmlns:a16="http://schemas.microsoft.com/office/drawing/2014/main" id="{FC21442D-9A04-434E-83B2-A58E33B6C8BD}"/>
              </a:ext>
            </a:extLst>
          </p:cNvPr>
          <p:cNvPicPr>
            <a:picLocks noChangeAspect="1"/>
          </p:cNvPicPr>
          <p:nvPr/>
        </p:nvPicPr>
        <p:blipFill>
          <a:blip r:embed="rId3"/>
          <a:stretch>
            <a:fillRect/>
          </a:stretch>
        </p:blipFill>
        <p:spPr>
          <a:xfrm>
            <a:off x="695019" y="628233"/>
            <a:ext cx="7248831" cy="2800767"/>
          </a:xfrm>
          <a:prstGeom prst="rect">
            <a:avLst/>
          </a:prstGeom>
          <a:ln>
            <a:solidFill>
              <a:schemeClr val="tx1"/>
            </a:solidFill>
          </a:ln>
        </p:spPr>
      </p:pic>
      <p:sp>
        <p:nvSpPr>
          <p:cNvPr id="8" name="TextBox 7">
            <a:extLst>
              <a:ext uri="{FF2B5EF4-FFF2-40B4-BE49-F238E27FC236}">
                <a16:creationId xmlns:a16="http://schemas.microsoft.com/office/drawing/2014/main" id="{AF0630E3-E1E1-46C2-B0A9-5320C3A82580}"/>
              </a:ext>
            </a:extLst>
          </p:cNvPr>
          <p:cNvSpPr txBox="1"/>
          <p:nvPr/>
        </p:nvSpPr>
        <p:spPr>
          <a:xfrm>
            <a:off x="5981700" y="3956520"/>
            <a:ext cx="6096000" cy="2800767"/>
          </a:xfrm>
          <a:prstGeom prst="rect">
            <a:avLst/>
          </a:prstGeom>
          <a:noFill/>
        </p:spPr>
        <p:txBody>
          <a:bodyPr wrap="square">
            <a:spAutoFit/>
          </a:bodyPr>
          <a:lstStyle/>
          <a:p>
            <a:r>
              <a:rPr lang="en-IN" sz="1600" dirty="0">
                <a:solidFill>
                  <a:srgbClr val="009999"/>
                </a:solidFill>
              </a:rPr>
              <a:t>Conclusion</a:t>
            </a:r>
          </a:p>
          <a:p>
            <a:r>
              <a:rPr lang="en-IN" sz="1600" dirty="0"/>
              <a:t>This visualization shows a nearly balanced gender distribution, with males slightly higher at 51%. The dataset is strongly dominated by the 30–50 age group, contributing over 64% of the population, making it the core demographic across all education levels. Bachelor’s and Partial College are the most common education categories, together accounting for more than half of the total population. Higher education levels are heavily concentrated in the 30–50 segment, while under-30 representation is minimal. Overall, the data indicates that middle-aged individuals with moderate to higher education form the primary population, with education patterns remaining consistent across genders.</a:t>
            </a:r>
          </a:p>
        </p:txBody>
      </p:sp>
    </p:spTree>
    <p:extLst>
      <p:ext uri="{BB962C8B-B14F-4D97-AF65-F5344CB8AC3E}">
        <p14:creationId xmlns:p14="http://schemas.microsoft.com/office/powerpoint/2010/main" val="34455948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68CE4955-00E5-47B0-930B-A50479C6B51C}"/>
              </a:ext>
            </a:extLst>
          </p:cNvPr>
          <p:cNvPicPr>
            <a:picLocks noChangeAspect="1"/>
          </p:cNvPicPr>
          <p:nvPr/>
        </p:nvPicPr>
        <p:blipFill>
          <a:blip r:embed="rId2">
            <a:alphaModFix amt="35000"/>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E058EF8D-3A43-45C4-8680-0D22133F865B}"/>
              </a:ext>
            </a:extLst>
          </p:cNvPr>
          <p:cNvSpPr>
            <a:spLocks noGrp="1"/>
          </p:cNvSpPr>
          <p:nvPr>
            <p:ph type="title" idx="4294967295"/>
          </p:nvPr>
        </p:nvSpPr>
        <p:spPr>
          <a:xfrm>
            <a:off x="285434" y="166688"/>
            <a:ext cx="10058716" cy="652462"/>
          </a:xfrm>
        </p:spPr>
        <p:txBody>
          <a:bodyPr>
            <a:normAutofit fontScale="90000"/>
          </a:bodyPr>
          <a:lstStyle/>
          <a:p>
            <a:r>
              <a:rPr lang="en-US" dirty="0"/>
              <a:t>Impact of Age on Bike Purchasing Behavior</a:t>
            </a:r>
            <a:endParaRPr lang="en-IN" dirty="0"/>
          </a:p>
        </p:txBody>
      </p:sp>
      <p:pic>
        <p:nvPicPr>
          <p:cNvPr id="5" name="Picture 4">
            <a:extLst>
              <a:ext uri="{FF2B5EF4-FFF2-40B4-BE49-F238E27FC236}">
                <a16:creationId xmlns:a16="http://schemas.microsoft.com/office/drawing/2014/main" id="{83937E3A-209B-4C1F-84B1-7471904098A2}"/>
              </a:ext>
            </a:extLst>
          </p:cNvPr>
          <p:cNvPicPr>
            <a:picLocks noChangeAspect="1"/>
          </p:cNvPicPr>
          <p:nvPr/>
        </p:nvPicPr>
        <p:blipFill>
          <a:blip r:embed="rId3"/>
          <a:stretch>
            <a:fillRect/>
          </a:stretch>
        </p:blipFill>
        <p:spPr>
          <a:xfrm>
            <a:off x="285433" y="819150"/>
            <a:ext cx="4555011" cy="2107010"/>
          </a:xfrm>
          <a:prstGeom prst="rect">
            <a:avLst/>
          </a:prstGeom>
          <a:ln>
            <a:solidFill>
              <a:schemeClr val="tx1"/>
            </a:solidFill>
          </a:ln>
        </p:spPr>
      </p:pic>
      <p:sp>
        <p:nvSpPr>
          <p:cNvPr id="7" name="TextBox 6">
            <a:extLst>
              <a:ext uri="{FF2B5EF4-FFF2-40B4-BE49-F238E27FC236}">
                <a16:creationId xmlns:a16="http://schemas.microsoft.com/office/drawing/2014/main" id="{71626FBA-39BC-4CBA-81AE-2BBBAB3ED16B}"/>
              </a:ext>
            </a:extLst>
          </p:cNvPr>
          <p:cNvSpPr txBox="1"/>
          <p:nvPr/>
        </p:nvSpPr>
        <p:spPr>
          <a:xfrm>
            <a:off x="5391149" y="819150"/>
            <a:ext cx="6484861" cy="5816977"/>
          </a:xfrm>
          <a:prstGeom prst="rect">
            <a:avLst/>
          </a:prstGeom>
          <a:noFill/>
        </p:spPr>
        <p:txBody>
          <a:bodyPr wrap="square">
            <a:spAutoFit/>
          </a:bodyPr>
          <a:lstStyle/>
          <a:p>
            <a:pPr marL="342900" indent="-342900">
              <a:buFont typeface="Arial" panose="020B0604020202020204" pitchFamily="34" charset="0"/>
              <a:buChar char="•"/>
            </a:pPr>
            <a:r>
              <a:rPr lang="en-IN" sz="1600" dirty="0"/>
              <a:t>Nearly even split between buyers and non-buyers No: 519 (51.9%) Yes: 481 (48.1%) </a:t>
            </a:r>
          </a:p>
          <a:p>
            <a:r>
              <a:rPr lang="en-IN" sz="1600" dirty="0"/>
              <a:t>👉 Slightly more non-buyers by 38 people. </a:t>
            </a:r>
          </a:p>
          <a:p>
            <a:pPr marL="342900" indent="-342900">
              <a:buFont typeface="Arial" panose="020B0604020202020204" pitchFamily="34" charset="0"/>
              <a:buChar char="•"/>
            </a:pPr>
            <a:r>
              <a:rPr lang="en-IN" sz="1600" dirty="0"/>
              <a:t>Age 30–50 dominates both purchases and non-purchases Out of 1000 total: 30–50: Buyers: 336 (33.6%) Non-buyers: 305 (30.5%) Total: 641 (64.1%) </a:t>
            </a:r>
          </a:p>
          <a:p>
            <a:r>
              <a:rPr lang="en-IN" sz="1600" dirty="0"/>
              <a:t>👉 Almost 2 out of 3 people fall in this age group. </a:t>
            </a:r>
          </a:p>
          <a:p>
            <a:pPr marL="342900" indent="-342900">
              <a:buFont typeface="Arial" panose="020B0604020202020204" pitchFamily="34" charset="0"/>
              <a:buChar char="•"/>
            </a:pPr>
            <a:r>
              <a:rPr lang="en-IN" sz="1600" dirty="0"/>
              <a:t>Best conversion comes from the 30–50 segment Purchase rate within each age group: 30–50: 336 / 641 ≈ 52.4% Above 50: 110 / 276 ≈ 39.9% Under 30: 35 / 83 ≈ 42.2% </a:t>
            </a:r>
          </a:p>
          <a:p>
            <a:r>
              <a:rPr lang="en-IN" sz="1600" dirty="0"/>
              <a:t>👉 30–50 shows the highest likelihood to purchase.</a:t>
            </a:r>
          </a:p>
          <a:p>
            <a:pPr marL="342900" indent="-342900">
              <a:buFont typeface="Arial" panose="020B0604020202020204" pitchFamily="34" charset="0"/>
              <a:buChar char="•"/>
            </a:pPr>
            <a:r>
              <a:rPr lang="en-IN" sz="1600" dirty="0"/>
              <a:t>Above 50 has the weakest purchase behaviour Non-buyers: 166 (16.6%) Buyers: 110 (11.0%) </a:t>
            </a:r>
          </a:p>
          <a:p>
            <a:r>
              <a:rPr lang="en-IN" sz="1600" dirty="0"/>
              <a:t>👉 Gap of 56 people, indicating lower engagement. </a:t>
            </a:r>
          </a:p>
          <a:p>
            <a:pPr marL="342900" indent="-342900">
              <a:buFont typeface="Arial" panose="020B0604020202020204" pitchFamily="34" charset="0"/>
              <a:buChar char="•"/>
            </a:pPr>
            <a:r>
              <a:rPr lang="en-IN" sz="1600" dirty="0"/>
              <a:t>Under 30 is a very small segment Total under 30: 83 (8.3%) Buyers: 35 (3.5%) </a:t>
            </a:r>
          </a:p>
          <a:p>
            <a:r>
              <a:rPr lang="en-IN" sz="1600" dirty="0"/>
              <a:t>👉 Limited impact on overall sales due to low volume.</a:t>
            </a:r>
          </a:p>
          <a:p>
            <a:r>
              <a:rPr lang="en-IN" sz="2000" dirty="0">
                <a:solidFill>
                  <a:srgbClr val="009999"/>
                </a:solidFill>
              </a:rPr>
              <a:t>Conclusion</a:t>
            </a:r>
          </a:p>
          <a:p>
            <a:r>
              <a:rPr lang="en-US" sz="1600" dirty="0"/>
              <a:t>Bike buyers and non-buyers are nearly balanced, with buyers at 48%. The 30–50 age group dominates the dataset and shows the highest purchase rate (~52%), making it the strongest segment. Customers above 50 convert least, while under-30 participation is minimal. Overall, middle-aged customers drive most purchases, highlighting age as a key factor in buying behavior.</a:t>
            </a:r>
            <a:endParaRPr lang="en-IN" sz="1600" dirty="0">
              <a:solidFill>
                <a:srgbClr val="009999"/>
              </a:solidFill>
            </a:endParaRPr>
          </a:p>
        </p:txBody>
      </p:sp>
      <p:pic>
        <p:nvPicPr>
          <p:cNvPr id="9" name="Picture 8">
            <a:extLst>
              <a:ext uri="{FF2B5EF4-FFF2-40B4-BE49-F238E27FC236}">
                <a16:creationId xmlns:a16="http://schemas.microsoft.com/office/drawing/2014/main" id="{4C6DE2A3-C398-45AC-B6F2-69471BE1557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67009" y="3090359"/>
            <a:ext cx="5134692" cy="3600953"/>
          </a:xfrm>
          <a:prstGeom prst="rect">
            <a:avLst/>
          </a:prstGeom>
          <a:ln>
            <a:solidFill>
              <a:schemeClr val="tx1"/>
            </a:solidFill>
          </a:ln>
        </p:spPr>
      </p:pic>
    </p:spTree>
    <p:extLst>
      <p:ext uri="{BB962C8B-B14F-4D97-AF65-F5344CB8AC3E}">
        <p14:creationId xmlns:p14="http://schemas.microsoft.com/office/powerpoint/2010/main" val="41897463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2F0EEE5E-37C7-41D8-8917-6C14113D97DA}"/>
              </a:ext>
            </a:extLst>
          </p:cNvPr>
          <p:cNvPicPr>
            <a:picLocks noChangeAspect="1"/>
          </p:cNvPicPr>
          <p:nvPr/>
        </p:nvPicPr>
        <p:blipFill>
          <a:blip r:embed="rId2">
            <a:alphaModFix amt="35000"/>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3" name="Picture 2">
            <a:extLst>
              <a:ext uri="{FF2B5EF4-FFF2-40B4-BE49-F238E27FC236}">
                <a16:creationId xmlns:a16="http://schemas.microsoft.com/office/drawing/2014/main" id="{003B7B05-E8A8-47AE-9344-ED5262C0BFD0}"/>
              </a:ext>
            </a:extLst>
          </p:cNvPr>
          <p:cNvPicPr>
            <a:picLocks noChangeAspect="1"/>
          </p:cNvPicPr>
          <p:nvPr/>
        </p:nvPicPr>
        <p:blipFill>
          <a:blip r:embed="rId3"/>
          <a:stretch>
            <a:fillRect/>
          </a:stretch>
        </p:blipFill>
        <p:spPr>
          <a:xfrm>
            <a:off x="262087" y="1148660"/>
            <a:ext cx="4419599" cy="1899340"/>
          </a:xfrm>
          <a:prstGeom prst="rect">
            <a:avLst/>
          </a:prstGeom>
          <a:ln>
            <a:solidFill>
              <a:schemeClr val="tx1"/>
            </a:solidFill>
          </a:ln>
        </p:spPr>
      </p:pic>
      <p:sp>
        <p:nvSpPr>
          <p:cNvPr id="5" name="TextBox 4">
            <a:extLst>
              <a:ext uri="{FF2B5EF4-FFF2-40B4-BE49-F238E27FC236}">
                <a16:creationId xmlns:a16="http://schemas.microsoft.com/office/drawing/2014/main" id="{7E6AECCF-7951-449E-ADA8-D60BF0F62EC5}"/>
              </a:ext>
            </a:extLst>
          </p:cNvPr>
          <p:cNvSpPr txBox="1"/>
          <p:nvPr/>
        </p:nvSpPr>
        <p:spPr>
          <a:xfrm>
            <a:off x="5202274" y="969675"/>
            <a:ext cx="6819900" cy="5755422"/>
          </a:xfrm>
          <a:prstGeom prst="rect">
            <a:avLst/>
          </a:prstGeom>
          <a:noFill/>
        </p:spPr>
        <p:txBody>
          <a:bodyPr wrap="square">
            <a:spAutoFit/>
          </a:bodyPr>
          <a:lstStyle/>
          <a:p>
            <a:pPr marL="285750" indent="-285750">
              <a:buFont typeface="Arial" panose="020B0604020202020204" pitchFamily="34" charset="0"/>
              <a:buChar char="•"/>
            </a:pPr>
            <a:r>
              <a:rPr lang="en-US" sz="1600" b="1" dirty="0"/>
              <a:t>Short commutes dominate the dataset.</a:t>
            </a:r>
            <a:r>
              <a:rPr lang="en-US" sz="1600" dirty="0"/>
              <a:t> About 366 people (36.6%) travel 0–1 miles, making it the largest group.</a:t>
            </a:r>
          </a:p>
          <a:p>
            <a:r>
              <a:rPr lang="en-US" sz="1600" dirty="0"/>
              <a:t>👉 Together, </a:t>
            </a:r>
            <a:r>
              <a:rPr lang="en-US" sz="1600" b="1" dirty="0"/>
              <a:t>0–2 miles = 535 people (53.5%). </a:t>
            </a:r>
            <a:r>
              <a:rPr lang="en-US" sz="1600" dirty="0"/>
              <a:t>More than </a:t>
            </a:r>
            <a:r>
              <a:rPr lang="en-US" sz="1600" b="1" dirty="0"/>
              <a:t>half</a:t>
            </a:r>
            <a:r>
              <a:rPr lang="en-US" sz="1600" dirty="0"/>
              <a:t> live within 2 miles.</a:t>
            </a:r>
          </a:p>
          <a:p>
            <a:pPr marL="285750" indent="-285750">
              <a:buFont typeface="Arial" panose="020B0604020202020204" pitchFamily="34" charset="0"/>
              <a:buChar char="•"/>
            </a:pPr>
            <a:r>
              <a:rPr lang="en-US" sz="1600" b="1" dirty="0"/>
              <a:t>Mid-range commutes form a significant share.</a:t>
            </a:r>
            <a:r>
              <a:rPr lang="en-US" sz="1600" dirty="0"/>
              <a:t> Around 169 people (16.9%) commute 1–2 miles and 162 (16.2%) travel 2–5 miles, together accounting for over one-third of the population.</a:t>
            </a:r>
          </a:p>
          <a:p>
            <a:pPr marL="285750" indent="-285750">
              <a:buFont typeface="Arial" panose="020B0604020202020204" pitchFamily="34" charset="0"/>
              <a:buChar char="•"/>
            </a:pPr>
            <a:r>
              <a:rPr lang="en-US" sz="1600" b="1" dirty="0"/>
              <a:t>5–10 mile commutes remain common.</a:t>
            </a:r>
            <a:r>
              <a:rPr lang="en-US" sz="1600" dirty="0"/>
              <a:t> Approximately 192 people (19.2%) fall into this bracket, representing nearly one-fifth of all respondents.</a:t>
            </a:r>
          </a:p>
          <a:p>
            <a:r>
              <a:rPr lang="en-US" sz="1600" dirty="0"/>
              <a:t>👉 Combined </a:t>
            </a:r>
            <a:r>
              <a:rPr lang="en-US" sz="1600" b="1" dirty="0"/>
              <a:t>2–10 miles = 354 people (35.4%)</a:t>
            </a:r>
            <a:endParaRPr lang="en-US" sz="1600" dirty="0"/>
          </a:p>
          <a:p>
            <a:pPr marL="285750" indent="-285750">
              <a:buFont typeface="Arial" panose="020B0604020202020204" pitchFamily="34" charset="0"/>
              <a:buChar char="•"/>
            </a:pPr>
            <a:r>
              <a:rPr lang="en-US" sz="1600" b="1" dirty="0"/>
              <a:t>Longer commutes (10+ miles) are least common.</a:t>
            </a:r>
            <a:r>
              <a:rPr lang="en-US" sz="1600" dirty="0"/>
              <a:t> Only 111 people (11.1%) travel more than 10 miles.</a:t>
            </a:r>
          </a:p>
          <a:p>
            <a:r>
              <a:rPr lang="en-US" sz="1600" dirty="0"/>
              <a:t>👉 Overall, nearly </a:t>
            </a:r>
            <a:r>
              <a:rPr lang="en-US" sz="1600" b="1" dirty="0"/>
              <a:t>70% commute within 5 miles</a:t>
            </a:r>
            <a:r>
              <a:rPr lang="en-US" sz="1600" dirty="0"/>
              <a:t>, highlighting a strong preference for short-distance travel.</a:t>
            </a:r>
          </a:p>
          <a:p>
            <a:endParaRPr lang="en-US" sz="1600" dirty="0">
              <a:solidFill>
                <a:srgbClr val="009999"/>
              </a:solidFill>
            </a:endParaRPr>
          </a:p>
          <a:p>
            <a:r>
              <a:rPr lang="en-US" sz="1600" dirty="0">
                <a:solidFill>
                  <a:srgbClr val="009999"/>
                </a:solidFill>
              </a:rPr>
              <a:t>Conclusion</a:t>
            </a:r>
          </a:p>
          <a:p>
            <a:r>
              <a:rPr lang="en-US" sz="1600" dirty="0"/>
              <a:t>This visualization shows that commute distances are heavily skewed toward shorter ranges, with over 53% of individuals living within 2 miles and nearly 37% within just 1 mile. Mid-range commuters between 2 and 10 miles account for about 35% of the population, while long-distance commuters above 10 miles form a relatively small segment at 11%. Overall, the data indicates a predominantly short-commute population, suggesting proximity plays a significant role in this customer base.</a:t>
            </a:r>
          </a:p>
        </p:txBody>
      </p:sp>
      <p:pic>
        <p:nvPicPr>
          <p:cNvPr id="7" name="Picture 6">
            <a:extLst>
              <a:ext uri="{FF2B5EF4-FFF2-40B4-BE49-F238E27FC236}">
                <a16:creationId xmlns:a16="http://schemas.microsoft.com/office/drawing/2014/main" id="{99E1B3DB-1C14-44F7-9157-EAA43A7CE53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62087" y="3200400"/>
            <a:ext cx="4690913" cy="3105333"/>
          </a:xfrm>
          <a:prstGeom prst="rect">
            <a:avLst/>
          </a:prstGeom>
          <a:ln>
            <a:solidFill>
              <a:schemeClr val="tx1"/>
            </a:solidFill>
          </a:ln>
        </p:spPr>
      </p:pic>
      <p:sp>
        <p:nvSpPr>
          <p:cNvPr id="9" name="TextBox 8">
            <a:extLst>
              <a:ext uri="{FF2B5EF4-FFF2-40B4-BE49-F238E27FC236}">
                <a16:creationId xmlns:a16="http://schemas.microsoft.com/office/drawing/2014/main" id="{A078EE47-5696-4530-B42E-848578B653AE}"/>
              </a:ext>
            </a:extLst>
          </p:cNvPr>
          <p:cNvSpPr txBox="1"/>
          <p:nvPr/>
        </p:nvSpPr>
        <p:spPr>
          <a:xfrm>
            <a:off x="371474" y="109389"/>
            <a:ext cx="7010401" cy="707886"/>
          </a:xfrm>
          <a:prstGeom prst="rect">
            <a:avLst/>
          </a:prstGeom>
          <a:noFill/>
        </p:spPr>
        <p:txBody>
          <a:bodyPr wrap="square">
            <a:spAutoFit/>
          </a:bodyPr>
          <a:lstStyle/>
          <a:p>
            <a:r>
              <a:rPr lang="en-US" sz="4000" dirty="0">
                <a:latin typeface="+mj-lt"/>
              </a:rPr>
              <a:t>Customer Distribution by Commute Distance</a:t>
            </a:r>
            <a:endParaRPr lang="en-IN" sz="4000" dirty="0">
              <a:latin typeface="+mj-lt"/>
            </a:endParaRPr>
          </a:p>
        </p:txBody>
      </p:sp>
    </p:spTree>
    <p:extLst>
      <p:ext uri="{BB962C8B-B14F-4D97-AF65-F5344CB8AC3E}">
        <p14:creationId xmlns:p14="http://schemas.microsoft.com/office/powerpoint/2010/main" val="42656491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B835BD2-2BAE-4F91-AF57-41DCC79A13CE}"/>
              </a:ext>
            </a:extLst>
          </p:cNvPr>
          <p:cNvPicPr>
            <a:picLocks noChangeAspect="1"/>
          </p:cNvPicPr>
          <p:nvPr/>
        </p:nvPicPr>
        <p:blipFill>
          <a:blip r:embed="rId2">
            <a:alphaModFix amt="35000"/>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B755EB1C-3DCE-4604-8276-1EE7387C1431}"/>
              </a:ext>
            </a:extLst>
          </p:cNvPr>
          <p:cNvSpPr>
            <a:spLocks noGrp="1"/>
          </p:cNvSpPr>
          <p:nvPr>
            <p:ph type="title"/>
          </p:nvPr>
        </p:nvSpPr>
        <p:spPr/>
        <p:txBody>
          <a:bodyPr/>
          <a:lstStyle/>
          <a:p>
            <a:r>
              <a:rPr lang="en-US" dirty="0"/>
              <a:t>Key Insights</a:t>
            </a:r>
            <a:endParaRPr lang="en-IN" dirty="0"/>
          </a:p>
        </p:txBody>
      </p:sp>
      <p:sp>
        <p:nvSpPr>
          <p:cNvPr id="3" name="Content Placeholder 2">
            <a:extLst>
              <a:ext uri="{FF2B5EF4-FFF2-40B4-BE49-F238E27FC236}">
                <a16:creationId xmlns:a16="http://schemas.microsoft.com/office/drawing/2014/main" id="{7567A405-A5D9-4216-9E5B-BDAC5374A6E0}"/>
              </a:ext>
            </a:extLst>
          </p:cNvPr>
          <p:cNvSpPr>
            <a:spLocks noGrp="1"/>
          </p:cNvSpPr>
          <p:nvPr>
            <p:ph idx="1"/>
          </p:nvPr>
        </p:nvSpPr>
        <p:spPr/>
        <p:txBody>
          <a:bodyPr>
            <a:normAutofit lnSpcReduction="10000"/>
          </a:bodyPr>
          <a:lstStyle/>
          <a:p>
            <a:pPr>
              <a:buFont typeface="Arial" panose="020B0604020202020204" pitchFamily="34" charset="0"/>
              <a:buChar char="•"/>
            </a:pPr>
            <a:r>
              <a:rPr lang="en-US" b="1" dirty="0"/>
              <a:t>Income Concentration:</a:t>
            </a:r>
            <a:r>
              <a:rPr lang="en-US" dirty="0"/>
              <a:t> Nearly </a:t>
            </a:r>
            <a:r>
              <a:rPr lang="en-US" b="1" dirty="0"/>
              <a:t>90% of customers earn below ₹1,00,000</a:t>
            </a:r>
            <a:r>
              <a:rPr lang="en-US" dirty="0"/>
              <a:t>, with Married individuals increasingly represented at higher income levels, while Singles dominate only the lowest bracket.</a:t>
            </a:r>
          </a:p>
          <a:p>
            <a:pPr>
              <a:buFont typeface="Arial" panose="020B0604020202020204" pitchFamily="34" charset="0"/>
              <a:buChar char="•"/>
            </a:pPr>
            <a:r>
              <a:rPr lang="en-US" b="1" dirty="0"/>
              <a:t>Primary Buyer Segment:</a:t>
            </a:r>
            <a:r>
              <a:rPr lang="en-US" dirty="0"/>
              <a:t> The </a:t>
            </a:r>
            <a:r>
              <a:rPr lang="en-US" b="1" dirty="0"/>
              <a:t>30–50 age group drives bike purchases</a:t>
            </a:r>
            <a:r>
              <a:rPr lang="en-US" dirty="0"/>
              <a:t>, contributing </a:t>
            </a:r>
            <a:r>
              <a:rPr lang="en-US" b="1" dirty="0"/>
              <a:t>64% of the population</a:t>
            </a:r>
            <a:r>
              <a:rPr lang="en-US" dirty="0"/>
              <a:t> and showing the </a:t>
            </a:r>
            <a:r>
              <a:rPr lang="en-US" b="1" dirty="0"/>
              <a:t>highest purchase rate (~52%)</a:t>
            </a:r>
            <a:r>
              <a:rPr lang="en-US" dirty="0"/>
              <a:t>, making it the strongest customer segment.</a:t>
            </a:r>
          </a:p>
          <a:p>
            <a:pPr>
              <a:buFont typeface="Arial" panose="020B0604020202020204" pitchFamily="34" charset="0"/>
              <a:buChar char="•"/>
            </a:pPr>
            <a:r>
              <a:rPr lang="en-US" b="1" dirty="0"/>
              <a:t>Balanced Demographics:</a:t>
            </a:r>
            <a:r>
              <a:rPr lang="en-US" dirty="0"/>
              <a:t> Gender split is nearly even (</a:t>
            </a:r>
            <a:r>
              <a:rPr lang="en-US" b="1" dirty="0"/>
              <a:t>51% Male, 49% Female</a:t>
            </a:r>
            <a:r>
              <a:rPr lang="en-US" dirty="0"/>
              <a:t>). Education is concentrated in </a:t>
            </a:r>
            <a:r>
              <a:rPr lang="en-US" b="1" dirty="0"/>
              <a:t>Bachelor’s and Partial College (~57%)</a:t>
            </a:r>
            <a:r>
              <a:rPr lang="en-US" dirty="0"/>
              <a:t>, with higher education largely clustered in the 30–50 age group.</a:t>
            </a:r>
          </a:p>
          <a:p>
            <a:pPr>
              <a:buFont typeface="Arial" panose="020B0604020202020204" pitchFamily="34" charset="0"/>
              <a:buChar char="•"/>
            </a:pPr>
            <a:r>
              <a:rPr lang="en-US" b="1" dirty="0"/>
              <a:t>Commute Behavior:</a:t>
            </a:r>
            <a:r>
              <a:rPr lang="en-US" dirty="0"/>
              <a:t> Over </a:t>
            </a:r>
            <a:r>
              <a:rPr lang="en-US" b="1" dirty="0"/>
              <a:t>53% of customers live within 2 miles</a:t>
            </a:r>
            <a:r>
              <a:rPr lang="en-US" dirty="0"/>
              <a:t>, and only </a:t>
            </a:r>
            <a:r>
              <a:rPr lang="en-US" b="1" dirty="0"/>
              <a:t>11% commute more than 10 miles,</a:t>
            </a:r>
            <a:r>
              <a:rPr lang="en-US" dirty="0"/>
              <a:t> indicating a predominantly short-distance customer base.</a:t>
            </a:r>
          </a:p>
        </p:txBody>
      </p:sp>
    </p:spTree>
    <p:extLst>
      <p:ext uri="{BB962C8B-B14F-4D97-AF65-F5344CB8AC3E}">
        <p14:creationId xmlns:p14="http://schemas.microsoft.com/office/powerpoint/2010/main" val="30595084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F7D4EDF5-1941-469D-8039-E311644F47A0}"/>
              </a:ext>
            </a:extLst>
          </p:cNvPr>
          <p:cNvPicPr>
            <a:picLocks noChangeAspect="1"/>
          </p:cNvPicPr>
          <p:nvPr/>
        </p:nvPicPr>
        <p:blipFill>
          <a:blip r:embed="rId2">
            <a:alphaModFix amt="35000"/>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9C18D6C7-5EFA-453D-AD8D-8F16D0B80931}"/>
              </a:ext>
            </a:extLst>
          </p:cNvPr>
          <p:cNvSpPr>
            <a:spLocks noGrp="1"/>
          </p:cNvSpPr>
          <p:nvPr>
            <p:ph type="title"/>
          </p:nvPr>
        </p:nvSpPr>
        <p:spPr>
          <a:xfrm>
            <a:off x="919353" y="499491"/>
            <a:ext cx="9720072" cy="1499616"/>
          </a:xfrm>
        </p:spPr>
        <p:txBody>
          <a:bodyPr/>
          <a:lstStyle/>
          <a:p>
            <a:r>
              <a:rPr lang="en-US" dirty="0"/>
              <a:t>Conclusion</a:t>
            </a:r>
            <a:endParaRPr lang="en-IN" dirty="0"/>
          </a:p>
        </p:txBody>
      </p:sp>
      <p:sp>
        <p:nvSpPr>
          <p:cNvPr id="5" name="Content Placeholder 4">
            <a:extLst>
              <a:ext uri="{FF2B5EF4-FFF2-40B4-BE49-F238E27FC236}">
                <a16:creationId xmlns:a16="http://schemas.microsoft.com/office/drawing/2014/main" id="{EF2221A0-825E-45A1-904C-DBE40FB14CFD}"/>
              </a:ext>
            </a:extLst>
          </p:cNvPr>
          <p:cNvSpPr>
            <a:spLocks noGrp="1"/>
          </p:cNvSpPr>
          <p:nvPr>
            <p:ph idx="1"/>
          </p:nvPr>
        </p:nvSpPr>
        <p:spPr>
          <a:xfrm>
            <a:off x="685800" y="1695449"/>
            <a:ext cx="11287125" cy="4848225"/>
          </a:xfrm>
        </p:spPr>
        <p:txBody>
          <a:bodyPr>
            <a:noAutofit/>
          </a:bodyPr>
          <a:lstStyle/>
          <a:p>
            <a:pPr>
              <a:buFont typeface="Arial" panose="020B0604020202020204" pitchFamily="34" charset="0"/>
              <a:buChar char="•"/>
            </a:pPr>
            <a:r>
              <a:rPr lang="en-US" sz="1800" dirty="0"/>
              <a:t>Nearly </a:t>
            </a:r>
            <a:r>
              <a:rPr lang="en-US" sz="1800" b="1" dirty="0"/>
              <a:t>90% of customers fall below ₹1,00,000 income</a:t>
            </a:r>
            <a:r>
              <a:rPr lang="en-US" sz="1800" dirty="0"/>
              <a:t>, with married individuals becoming more common as income increases.</a:t>
            </a:r>
          </a:p>
          <a:p>
            <a:pPr>
              <a:buFont typeface="Arial" panose="020B0604020202020204" pitchFamily="34" charset="0"/>
              <a:buChar char="•"/>
            </a:pPr>
            <a:r>
              <a:rPr lang="en-US" sz="1800" dirty="0"/>
              <a:t>The </a:t>
            </a:r>
            <a:r>
              <a:rPr lang="en-US" sz="1800" b="1" dirty="0"/>
              <a:t>30–50 age group is the strongest segment</a:t>
            </a:r>
            <a:r>
              <a:rPr lang="en-US" sz="1800" dirty="0"/>
              <a:t>, contributing the largest population share and the </a:t>
            </a:r>
            <a:r>
              <a:rPr lang="en-US" sz="1800" b="1" dirty="0"/>
              <a:t>highest bike purchase rate (~52%)</a:t>
            </a:r>
            <a:r>
              <a:rPr lang="en-US" sz="1800" dirty="0"/>
              <a:t>.</a:t>
            </a:r>
          </a:p>
          <a:p>
            <a:pPr>
              <a:buFont typeface="Arial" panose="020B0604020202020204" pitchFamily="34" charset="0"/>
              <a:buChar char="•"/>
            </a:pPr>
            <a:r>
              <a:rPr lang="en-US" sz="1800" dirty="0"/>
              <a:t>Bike buyers and non-buyers are almost balanced, but </a:t>
            </a:r>
            <a:r>
              <a:rPr lang="en-US" sz="1800" b="1" dirty="0"/>
              <a:t>middle-aged customers drive most purchases</a:t>
            </a:r>
            <a:r>
              <a:rPr lang="en-US" sz="1800" dirty="0"/>
              <a:t>.</a:t>
            </a:r>
          </a:p>
          <a:p>
            <a:pPr>
              <a:buFont typeface="Arial" panose="020B0604020202020204" pitchFamily="34" charset="0"/>
              <a:buChar char="•"/>
            </a:pPr>
            <a:r>
              <a:rPr lang="en-US" sz="1800" dirty="0"/>
              <a:t>Gender distribution is nearly equal, indicating </a:t>
            </a:r>
            <a:r>
              <a:rPr lang="en-US" sz="1800" b="1" dirty="0"/>
              <a:t>minimal impact of gender on buying behavior</a:t>
            </a:r>
            <a:r>
              <a:rPr lang="en-US" sz="1800" dirty="0"/>
              <a:t>.</a:t>
            </a:r>
          </a:p>
          <a:p>
            <a:pPr>
              <a:buFont typeface="Arial" panose="020B0604020202020204" pitchFamily="34" charset="0"/>
              <a:buChar char="•"/>
            </a:pPr>
            <a:r>
              <a:rPr lang="en-US" sz="1800" dirty="0"/>
              <a:t>Education is concentrated in </a:t>
            </a:r>
            <a:r>
              <a:rPr lang="en-US" sz="1800" b="1" dirty="0"/>
              <a:t>Bachelor’s and Partial College</a:t>
            </a:r>
            <a:r>
              <a:rPr lang="en-US" sz="1800" dirty="0"/>
              <a:t>, reflecting a moderately educated customer base.</a:t>
            </a:r>
          </a:p>
          <a:p>
            <a:pPr>
              <a:buFont typeface="Arial" panose="020B0604020202020204" pitchFamily="34" charset="0"/>
              <a:buChar char="•"/>
            </a:pPr>
            <a:r>
              <a:rPr lang="en-US" sz="1800" dirty="0"/>
              <a:t>Over </a:t>
            </a:r>
            <a:r>
              <a:rPr lang="en-US" sz="1800" b="1" dirty="0"/>
              <a:t>53% of customers live within 2 miles</a:t>
            </a:r>
            <a:r>
              <a:rPr lang="en-US" sz="1800" dirty="0"/>
              <a:t>, showing a strong skew toward short commute distances.</a:t>
            </a:r>
          </a:p>
          <a:p>
            <a:pPr>
              <a:buFont typeface="Arial" panose="020B0604020202020204" pitchFamily="34" charset="0"/>
              <a:buChar char="•"/>
            </a:pPr>
            <a:r>
              <a:rPr lang="en-US" sz="1800" dirty="0"/>
              <a:t>Higher-income and higher-education groups are mainly clustered in the </a:t>
            </a:r>
            <a:r>
              <a:rPr lang="en-US" sz="1800" b="1" dirty="0"/>
              <a:t>30–50 age range</a:t>
            </a:r>
            <a:r>
              <a:rPr lang="en-US" sz="1800" dirty="0"/>
              <a:t>.</a:t>
            </a:r>
            <a:endParaRPr lang="en-US" sz="1800" b="1" dirty="0"/>
          </a:p>
          <a:p>
            <a:r>
              <a:rPr lang="en-US" sz="1800" b="1" dirty="0"/>
              <a:t>Overall Takeaway</a:t>
            </a:r>
          </a:p>
          <a:p>
            <a:pPr>
              <a:buFont typeface="Arial" panose="020B0604020202020204" pitchFamily="34" charset="0"/>
              <a:buChar char="•"/>
            </a:pPr>
            <a:r>
              <a:rPr lang="en-US" sz="1800" b="1" dirty="0"/>
              <a:t>Middle-aged, moderately educated customers with shorter commute distances form the core customer base.</a:t>
            </a:r>
            <a:endParaRPr lang="en-US" sz="1800" dirty="0"/>
          </a:p>
          <a:p>
            <a:pPr>
              <a:buFont typeface="Arial" panose="020B0604020202020204" pitchFamily="34" charset="0"/>
              <a:buChar char="•"/>
            </a:pPr>
            <a:r>
              <a:rPr lang="en-US" sz="1800" b="1" dirty="0"/>
              <a:t>Age and income are the strongest drivers of bike purchasing behavior</a:t>
            </a:r>
            <a:r>
              <a:rPr lang="en-US" sz="1800" dirty="0"/>
              <a:t>, while gender plays a limited role.</a:t>
            </a:r>
          </a:p>
          <a:p>
            <a:endParaRPr lang="en-IN" sz="1800" dirty="0"/>
          </a:p>
        </p:txBody>
      </p:sp>
    </p:spTree>
    <p:extLst>
      <p:ext uri="{BB962C8B-B14F-4D97-AF65-F5344CB8AC3E}">
        <p14:creationId xmlns:p14="http://schemas.microsoft.com/office/powerpoint/2010/main" val="33463116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87C0B2E-6573-43B0-90FA-5E34186AE595}"/>
              </a:ext>
            </a:extLst>
          </p:cNvPr>
          <p:cNvSpPr>
            <a:spLocks noGrp="1"/>
          </p:cNvSpPr>
          <p:nvPr>
            <p:ph type="ctrTitle"/>
          </p:nvPr>
        </p:nvSpPr>
        <p:spPr/>
        <p:txBody>
          <a:bodyPr/>
          <a:lstStyle/>
          <a:p>
            <a:r>
              <a:rPr lang="en-US" dirty="0"/>
              <a:t>Thank You</a:t>
            </a:r>
            <a:endParaRPr lang="en-IN" dirty="0"/>
          </a:p>
        </p:txBody>
      </p:sp>
      <p:sp>
        <p:nvSpPr>
          <p:cNvPr id="5" name="Subtitle 4">
            <a:extLst>
              <a:ext uri="{FF2B5EF4-FFF2-40B4-BE49-F238E27FC236}">
                <a16:creationId xmlns:a16="http://schemas.microsoft.com/office/drawing/2014/main" id="{B822A9B2-3AC2-4FC9-A5D5-ED19602F614C}"/>
              </a:ext>
            </a:extLst>
          </p:cNvPr>
          <p:cNvSpPr>
            <a:spLocks noGrp="1"/>
          </p:cNvSpPr>
          <p:nvPr>
            <p:ph type="subTitle" idx="1"/>
          </p:nvPr>
        </p:nvSpPr>
        <p:spPr/>
        <p:txBody>
          <a:bodyPr/>
          <a:lstStyle/>
          <a:p>
            <a:pPr algn="r"/>
            <a:r>
              <a:rPr lang="en-US" dirty="0"/>
              <a:t>-Business Analyst/Data Analyst </a:t>
            </a:r>
          </a:p>
          <a:p>
            <a:pPr algn="r"/>
            <a:r>
              <a:rPr lang="en-US" dirty="0"/>
              <a:t>-Aditya Verma</a:t>
            </a:r>
            <a:endParaRPr lang="en-IN" dirty="0"/>
          </a:p>
        </p:txBody>
      </p:sp>
    </p:spTree>
    <p:extLst>
      <p:ext uri="{BB962C8B-B14F-4D97-AF65-F5344CB8AC3E}">
        <p14:creationId xmlns:p14="http://schemas.microsoft.com/office/powerpoint/2010/main" val="2044500504"/>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Integral">
  <a:themeElements>
    <a:clrScheme name="Integral">
      <a:dk1>
        <a:srgbClr val="2E2B21"/>
      </a:dk1>
      <a:lt1>
        <a:srgbClr val="FFFFFF"/>
      </a:lt1>
      <a:dk2>
        <a:srgbClr val="605B4F"/>
      </a:dk2>
      <a:lt2>
        <a:srgbClr val="D8D6BE"/>
      </a:lt2>
      <a:accent1>
        <a:srgbClr val="A9A57C"/>
      </a:accent1>
      <a:accent2>
        <a:srgbClr val="9CBEBD"/>
      </a:accent2>
      <a:accent3>
        <a:srgbClr val="D2CB6C"/>
      </a:accent3>
      <a:accent4>
        <a:srgbClr val="95A39D"/>
      </a:accent4>
      <a:accent5>
        <a:srgbClr val="C89F5D"/>
      </a:accent5>
      <a:accent6>
        <a:srgbClr val="B1A089"/>
      </a:accent6>
      <a:hlink>
        <a:srgbClr val="D25814"/>
      </a:hlink>
      <a:folHlink>
        <a:srgbClr val="849A0A"/>
      </a:folHlink>
    </a:clrScheme>
    <a:fontScheme name="Integral">
      <a:majorFont>
        <a:latin typeface="Tw Cen MT Condensed" panose="020B06060201040202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panose="020B06020201040206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blipFill rotWithShape="1">
          <a:blip xmlns:r="http://schemas.openxmlformats.org/officeDocument/2006/relationships" r:embed="rId1">
            <a:duotone>
              <a:schemeClr val="phClr">
                <a:tint val="98000"/>
              </a:schemeClr>
              <a:schemeClr val="phClr">
                <a:shade val="89000"/>
                <a:satMod val="145000"/>
              </a:schemeClr>
            </a:duotone>
          </a:blip>
          <a:tile tx="0" ty="0" sx="32000" sy="32000" flip="none" algn="tl"/>
        </a:blipFill>
        <a:blipFill rotWithShape="1">
          <a:blip xmlns:r="http://schemas.openxmlformats.org/officeDocument/2006/relationships" r:embed="rId2">
            <a:duotone>
              <a:schemeClr val="phClr">
                <a:tint val="98000"/>
              </a:schemeClr>
              <a:schemeClr val="phClr">
                <a:shade val="95000"/>
              </a:schemeClr>
            </a:duotone>
          </a:blip>
          <a:tile tx="0" ty="0" sx="32000" sy="32000" flip="none" algn="tl"/>
        </a:blipFill>
      </a:bgFillStyleLst>
    </a:fmtScheme>
  </a:themeElements>
  <a:objectDefaults/>
  <a:extraClrSchemeLst/>
  <a:extLst>
    <a:ext uri="{05A4C25C-085E-4340-85A3-A5531E510DB2}">
      <thm15:themeFamily xmlns:thm15="http://schemas.microsoft.com/office/thememl/2012/main" name="Integral" id="{3577F8C9-A904-41D8-97D2-FD898F53F20E}" vid="{090DCB5F-146D-478A-852A-34B16FE9F3A8}"/>
    </a:ext>
  </a:extLst>
</a:theme>
</file>

<file path=docProps/app.xml><?xml version="1.0" encoding="utf-8"?>
<Properties xmlns="http://schemas.openxmlformats.org/officeDocument/2006/extended-properties" xmlns:vt="http://schemas.openxmlformats.org/officeDocument/2006/docPropsVTypes">
  <Template>TM02900720[[fn=Integral]]</Template>
  <TotalTime>516</TotalTime>
  <Words>1858</Words>
  <Application>Microsoft Office PowerPoint</Application>
  <PresentationFormat>Widescreen</PresentationFormat>
  <Paragraphs>101</Paragraphs>
  <Slides>12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Arial</vt:lpstr>
      <vt:lpstr>Tw Cen MT</vt:lpstr>
      <vt:lpstr>Tw Cen MT Condensed</vt:lpstr>
      <vt:lpstr>Wingdings 3</vt:lpstr>
      <vt:lpstr>Integral</vt:lpstr>
      <vt:lpstr>BikeDekho Data Analysis</vt:lpstr>
      <vt:lpstr>Agenda of the Meeting</vt:lpstr>
      <vt:lpstr>Introduction</vt:lpstr>
      <vt:lpstr>Data Checking &amp; Cleaning</vt:lpstr>
      <vt:lpstr>Insights: Income Distribution by Marital Status</vt:lpstr>
      <vt:lpstr>PowerPoint Presentation</vt:lpstr>
      <vt:lpstr>PowerPoint Presentation</vt:lpstr>
      <vt:lpstr>Impact of Age on Bike Purchasing Behavior</vt:lpstr>
      <vt:lpstr>PowerPoint Presentation</vt:lpstr>
      <vt:lpstr>Key Insights</vt:lpstr>
      <vt:lpstr>Conclusion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BikeDekho Data Analysis</dc:title>
  <dc:creator>Aditya Verma</dc:creator>
  <cp:lastModifiedBy>Aditya Verma</cp:lastModifiedBy>
  <cp:revision>21</cp:revision>
  <dcterms:created xsi:type="dcterms:W3CDTF">2026-02-05T10:27:43Z</dcterms:created>
  <dcterms:modified xsi:type="dcterms:W3CDTF">2026-02-05T19:04:32Z</dcterms:modified>
</cp:coreProperties>
</file>