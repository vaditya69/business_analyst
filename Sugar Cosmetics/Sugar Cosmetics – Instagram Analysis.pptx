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8" r:id="rId3"/>
    <p:sldId id="269" r:id="rId4"/>
    <p:sldId id="260" r:id="rId5"/>
    <p:sldId id="259" r:id="rId6"/>
    <p:sldId id="261" r:id="rId7"/>
    <p:sldId id="262" r:id="rId8"/>
    <p:sldId id="263" r:id="rId9"/>
    <p:sldId id="264" r:id="rId10"/>
    <p:sldId id="257" r:id="rId11"/>
    <p:sldId id="258" r:id="rId12"/>
    <p:sldId id="270"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2508039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3549829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671510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FB3161-0DD4-4A13-8DDC-4EC40B5E5353}" type="datetimeFigureOut">
              <a:rPr lang="en-IN" smtClean="0"/>
              <a:t>26-01-2026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2525033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FB3161-0DD4-4A13-8DDC-4EC40B5E5353}" type="datetimeFigureOut">
              <a:rPr lang="en-IN" smtClean="0"/>
              <a:t>26-01-2026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126573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3430418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3721797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3041898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FB3161-0DD4-4A13-8DDC-4EC40B5E5353}" type="datetimeFigureOut">
              <a:rPr lang="en-IN" smtClean="0"/>
              <a:t>26-01-2026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3701191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FB3161-0DD4-4A13-8DDC-4EC40B5E5353}" type="datetimeFigureOut">
              <a:rPr lang="en-IN" smtClean="0"/>
              <a:t>26-01-2026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1672982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2856124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38823526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1415857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3311563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21832143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3795356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FB3161-0DD4-4A13-8DDC-4EC40B5E5353}" type="datetimeFigureOut">
              <a:rPr lang="en-IN" smtClean="0"/>
              <a:t>26-01-2026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6AC99F-9799-4C9A-AE9C-B930056889E8}" type="slidenum">
              <a:rPr lang="en-IN" smtClean="0"/>
              <a:t>‹#›</a:t>
            </a:fld>
            <a:endParaRPr lang="en-IN"/>
          </a:p>
        </p:txBody>
      </p:sp>
    </p:spTree>
    <p:extLst>
      <p:ext uri="{BB962C8B-B14F-4D97-AF65-F5344CB8AC3E}">
        <p14:creationId xmlns:p14="http://schemas.microsoft.com/office/powerpoint/2010/main" val="1797210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EFB3161-0DD4-4A13-8DDC-4EC40B5E5353}" type="datetimeFigureOut">
              <a:rPr lang="en-IN" smtClean="0"/>
              <a:t>26-01-2026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66AC99F-9799-4C9A-AE9C-B930056889E8}" type="slidenum">
              <a:rPr lang="en-IN" smtClean="0"/>
              <a:t>‹#›</a:t>
            </a:fld>
            <a:endParaRPr lang="en-IN"/>
          </a:p>
        </p:txBody>
      </p:sp>
    </p:spTree>
    <p:extLst>
      <p:ext uri="{BB962C8B-B14F-4D97-AF65-F5344CB8AC3E}">
        <p14:creationId xmlns:p14="http://schemas.microsoft.com/office/powerpoint/2010/main" val="1746038203"/>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ugar Cosmetics Success Story: Empowering Beauty and Redefining Success –  Tofler">
            <a:extLst>
              <a:ext uri="{FF2B5EF4-FFF2-40B4-BE49-F238E27FC236}">
                <a16:creationId xmlns:a16="http://schemas.microsoft.com/office/drawing/2014/main" id="{582E6EBB-18AB-4C73-8570-ADA44D5F7EB6}"/>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3"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A99A65B-F0DC-434F-BB04-2E5C3DB80AB4}"/>
              </a:ext>
            </a:extLst>
          </p:cNvPr>
          <p:cNvSpPr>
            <a:spLocks noGrp="1"/>
          </p:cNvSpPr>
          <p:nvPr>
            <p:ph type="ctrTitle"/>
          </p:nvPr>
        </p:nvSpPr>
        <p:spPr>
          <a:xfrm>
            <a:off x="1154955" y="762000"/>
            <a:ext cx="8825658" cy="4015381"/>
          </a:xfrm>
        </p:spPr>
        <p:txBody>
          <a:bodyPr/>
          <a:lstStyle/>
          <a:p>
            <a:r>
              <a:rPr lang="en-US" sz="6500" dirty="0"/>
              <a:t>Sugar Cosmetics – Instagram Performance </a:t>
            </a:r>
            <a:br>
              <a:rPr lang="en-US" sz="6500" dirty="0"/>
            </a:br>
            <a:r>
              <a:rPr lang="en-US" sz="6500" dirty="0"/>
              <a:t>Analysis</a:t>
            </a:r>
            <a:endParaRPr lang="en-IN" sz="6500" dirty="0"/>
          </a:p>
        </p:txBody>
      </p:sp>
      <p:sp>
        <p:nvSpPr>
          <p:cNvPr id="3" name="Subtitle 2">
            <a:extLst>
              <a:ext uri="{FF2B5EF4-FFF2-40B4-BE49-F238E27FC236}">
                <a16:creationId xmlns:a16="http://schemas.microsoft.com/office/drawing/2014/main" id="{3544E18B-C82F-4221-BBF0-0A53AE71621E}"/>
              </a:ext>
            </a:extLst>
          </p:cNvPr>
          <p:cNvSpPr>
            <a:spLocks noGrp="1"/>
          </p:cNvSpPr>
          <p:nvPr>
            <p:ph type="subTitle" idx="1"/>
          </p:nvPr>
        </p:nvSpPr>
        <p:spPr/>
        <p:txBody>
          <a:bodyPr/>
          <a:lstStyle/>
          <a:p>
            <a:pPr marL="342891" indent="-342891" algn="r">
              <a:buFontTx/>
              <a:buChar char="-"/>
            </a:pPr>
            <a:r>
              <a:rPr lang="en-US" dirty="0"/>
              <a:t>Aditya Verma</a:t>
            </a:r>
          </a:p>
          <a:p>
            <a:pPr marL="342891" indent="-342891" algn="r">
              <a:buFontTx/>
              <a:buChar char="-"/>
            </a:pPr>
            <a:r>
              <a:rPr lang="en-US" dirty="0"/>
              <a:t>Data Analyst/ Business Analyst</a:t>
            </a:r>
            <a:endParaRPr lang="en-IN" dirty="0"/>
          </a:p>
        </p:txBody>
      </p:sp>
      <p:pic>
        <p:nvPicPr>
          <p:cNvPr id="1026" name="Picture 2" descr="SUGAR Cosmetics | LinkedIn">
            <a:extLst>
              <a:ext uri="{FF2B5EF4-FFF2-40B4-BE49-F238E27FC236}">
                <a16:creationId xmlns:a16="http://schemas.microsoft.com/office/drawing/2014/main" id="{3EF1178D-C4C4-4648-B33E-3B07A5FDC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4464" y="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140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03EBA-0935-4359-9EC5-B960DE0970A3}"/>
              </a:ext>
            </a:extLst>
          </p:cNvPr>
          <p:cNvSpPr>
            <a:spLocks noGrp="1"/>
          </p:cNvSpPr>
          <p:nvPr>
            <p:ph type="title"/>
          </p:nvPr>
        </p:nvSpPr>
        <p:spPr>
          <a:xfrm>
            <a:off x="646111" y="452718"/>
            <a:ext cx="9404723" cy="847164"/>
          </a:xfrm>
        </p:spPr>
        <p:txBody>
          <a:bodyPr/>
          <a:lstStyle/>
          <a:p>
            <a:r>
              <a:rPr lang="en-US" dirty="0"/>
              <a:t>Agenda of the Meeting</a:t>
            </a:r>
            <a:endParaRPr lang="en-IN" dirty="0"/>
          </a:p>
        </p:txBody>
      </p:sp>
      <p:sp>
        <p:nvSpPr>
          <p:cNvPr id="3" name="Content Placeholder 2">
            <a:extLst>
              <a:ext uri="{FF2B5EF4-FFF2-40B4-BE49-F238E27FC236}">
                <a16:creationId xmlns:a16="http://schemas.microsoft.com/office/drawing/2014/main" id="{756361BF-43FB-4BF1-BC6D-0D2F1DEE3E39}"/>
              </a:ext>
            </a:extLst>
          </p:cNvPr>
          <p:cNvSpPr>
            <a:spLocks noGrp="1"/>
          </p:cNvSpPr>
          <p:nvPr>
            <p:ph idx="1"/>
          </p:nvPr>
        </p:nvSpPr>
        <p:spPr>
          <a:xfrm>
            <a:off x="555812" y="1389530"/>
            <a:ext cx="10990077" cy="4858870"/>
          </a:xfrm>
        </p:spPr>
        <p:txBody>
          <a:bodyPr>
            <a:normAutofit/>
          </a:bodyPr>
          <a:lstStyle/>
          <a:p>
            <a:pPr marL="0" indent="0" fontAlgn="base">
              <a:spcBef>
                <a:spcPts val="1200"/>
              </a:spcBef>
              <a:buNone/>
            </a:pPr>
            <a:endParaRPr lang="en-US" sz="1800" b="0" i="0" u="none" strike="noStrike" dirty="0">
              <a:effectLst/>
              <a:latin typeface="Arial" panose="020B0604020202020204" pitchFamily="34" charset="0"/>
            </a:endParaRPr>
          </a:p>
          <a:p>
            <a:pPr fontAlgn="base">
              <a:spcBef>
                <a:spcPts val="1200"/>
              </a:spcBef>
            </a:pPr>
            <a:r>
              <a:rPr lang="en-US" sz="1800" b="0" i="0" u="none" strike="noStrike" dirty="0">
                <a:effectLst/>
                <a:latin typeface="Arial" panose="020B0604020202020204" pitchFamily="34" charset="0"/>
              </a:rPr>
              <a:t>Overview of Instagram performance: engagement, reach, and account growth.</a:t>
            </a:r>
          </a:p>
          <a:p>
            <a:pPr fontAlgn="base">
              <a:spcBef>
                <a:spcPts val="1200"/>
              </a:spcBef>
            </a:pPr>
            <a:r>
              <a:rPr lang="en-US" sz="1800" b="0" i="0" u="none" strike="noStrike" dirty="0">
                <a:effectLst/>
                <a:latin typeface="Arial" panose="020B0604020202020204" pitchFamily="34" charset="0"/>
              </a:rPr>
              <a:t>Analysis of content effectiveness across formats (posts, reels, stories).</a:t>
            </a:r>
          </a:p>
          <a:p>
            <a:pPr fontAlgn="base">
              <a:spcBef>
                <a:spcPts val="1200"/>
              </a:spcBef>
            </a:pPr>
            <a:r>
              <a:rPr lang="en-US" sz="1800" b="0" i="0" u="none" strike="noStrike" dirty="0">
                <a:effectLst/>
                <a:latin typeface="Arial" panose="020B0604020202020204" pitchFamily="34" charset="0"/>
              </a:rPr>
              <a:t>Identification of top-performing content types, hashtags, and posting times.</a:t>
            </a:r>
          </a:p>
          <a:p>
            <a:pPr fontAlgn="base">
              <a:spcBef>
                <a:spcPts val="1200"/>
              </a:spcBef>
            </a:pPr>
            <a:r>
              <a:rPr lang="en-US" sz="1800" b="0" i="0" u="none" strike="noStrike" dirty="0">
                <a:effectLst/>
                <a:latin typeface="Arial" panose="020B0604020202020204" pitchFamily="34" charset="0"/>
              </a:rPr>
              <a:t>Audience insights: demographics, engagement behavior, and growth trends.</a:t>
            </a:r>
          </a:p>
          <a:p>
            <a:pPr fontAlgn="base">
              <a:spcBef>
                <a:spcPts val="1200"/>
              </a:spcBef>
            </a:pPr>
            <a:r>
              <a:rPr lang="en-US" sz="1800" b="0" i="0" u="none" strike="noStrike" dirty="0">
                <a:effectLst/>
                <a:latin typeface="Arial" panose="020B0604020202020204" pitchFamily="34" charset="0"/>
              </a:rPr>
              <a:t>Comparison of post formats (image, video, carousel) to optimize content strategy.</a:t>
            </a:r>
          </a:p>
          <a:p>
            <a:pPr fontAlgn="base">
              <a:spcBef>
                <a:spcPts val="1200"/>
              </a:spcBef>
            </a:pPr>
            <a:r>
              <a:rPr lang="en-US" sz="1800" b="0" i="0" u="none" strike="noStrike" dirty="0">
                <a:effectLst/>
                <a:latin typeface="Arial" panose="020B0604020202020204" pitchFamily="34" charset="0"/>
              </a:rPr>
              <a:t>Key business use cases: improving ROI from organic posts and campaign effectiveness.</a:t>
            </a:r>
          </a:p>
          <a:p>
            <a:pPr fontAlgn="base">
              <a:spcBef>
                <a:spcPts val="1200"/>
              </a:spcBef>
            </a:pPr>
            <a:r>
              <a:rPr lang="en-US" sz="1800" b="0" i="0" u="none" strike="noStrike" dirty="0">
                <a:effectLst/>
                <a:latin typeface="Arial" panose="020B0604020202020204" pitchFamily="34" charset="0"/>
              </a:rPr>
              <a:t>Data-driven recommendations to refine Sugar Cosmetics’ social media strategy.</a:t>
            </a:r>
          </a:p>
        </p:txBody>
      </p:sp>
    </p:spTree>
    <p:extLst>
      <p:ext uri="{BB962C8B-B14F-4D97-AF65-F5344CB8AC3E}">
        <p14:creationId xmlns:p14="http://schemas.microsoft.com/office/powerpoint/2010/main" val="3697384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FB9A-6CFD-42AD-A855-5DDAE56EFE0D}"/>
              </a:ext>
            </a:extLst>
          </p:cNvPr>
          <p:cNvSpPr>
            <a:spLocks noGrp="1"/>
          </p:cNvSpPr>
          <p:nvPr>
            <p:ph type="title"/>
          </p:nvPr>
        </p:nvSpPr>
        <p:spPr>
          <a:xfrm>
            <a:off x="646112" y="452718"/>
            <a:ext cx="3603160" cy="909917"/>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A6C7784A-EAD3-4C93-88F4-37EC90366997}"/>
              </a:ext>
            </a:extLst>
          </p:cNvPr>
          <p:cNvSpPr>
            <a:spLocks noGrp="1"/>
          </p:cNvSpPr>
          <p:nvPr>
            <p:ph idx="1"/>
          </p:nvPr>
        </p:nvSpPr>
        <p:spPr>
          <a:xfrm>
            <a:off x="645130" y="1515036"/>
            <a:ext cx="10900759" cy="4733364"/>
          </a:xfrm>
        </p:spPr>
        <p:txBody>
          <a:bodyPr/>
          <a:lstStyle/>
          <a:p>
            <a:r>
              <a:rPr lang="en-US" b="1" dirty="0"/>
              <a:t>Sugar Cosmetics</a:t>
            </a:r>
            <a:r>
              <a:rPr lang="en-US" dirty="0"/>
              <a:t> is a leading Indian beauty brand with a strong focus on cruelty-free makeup and skincare. With over </a:t>
            </a:r>
            <a:r>
              <a:rPr lang="en-US" b="1" dirty="0"/>
              <a:t>1.2 million Instagram followers</a:t>
            </a:r>
            <a:r>
              <a:rPr lang="en-US" dirty="0"/>
              <a:t>, the brand actively engages its audience through creative posts, reels, and stories, driving community growth and brand affinity.</a:t>
            </a:r>
          </a:p>
          <a:p>
            <a:r>
              <a:rPr lang="en-US" dirty="0"/>
              <a:t>This analysis evaluates Sugar Cosmetics’ Instagram performance using data from </a:t>
            </a:r>
            <a:r>
              <a:rPr lang="en-US" b="1" dirty="0"/>
              <a:t>~2,500 posts</a:t>
            </a:r>
            <a:r>
              <a:rPr lang="en-US" dirty="0"/>
              <a:t> over the last </a:t>
            </a:r>
            <a:r>
              <a:rPr lang="en-US" b="1" dirty="0"/>
              <a:t>12 months</a:t>
            </a:r>
            <a:r>
              <a:rPr lang="en-US" dirty="0"/>
              <a:t>. Key performance metrics include:</a:t>
            </a:r>
          </a:p>
          <a:p>
            <a:pPr lvl="1">
              <a:buFont typeface="Arial" panose="020B0604020202020204" pitchFamily="34" charset="0"/>
              <a:buChar char="•"/>
            </a:pPr>
            <a:r>
              <a:rPr lang="en-US" b="1" dirty="0"/>
              <a:t>Total Engagement:</a:t>
            </a:r>
            <a:r>
              <a:rPr lang="en-US" dirty="0"/>
              <a:t> ~2.3M likes and ~180K comments.</a:t>
            </a:r>
          </a:p>
          <a:p>
            <a:pPr lvl="1">
              <a:buFont typeface="Arial" panose="020B0604020202020204" pitchFamily="34" charset="0"/>
              <a:buChar char="•"/>
            </a:pPr>
            <a:r>
              <a:rPr lang="en-US" b="1" dirty="0"/>
              <a:t>Average Engagement Rate per Post:</a:t>
            </a:r>
            <a:r>
              <a:rPr lang="en-US" dirty="0"/>
              <a:t> ~8.5%.</a:t>
            </a:r>
          </a:p>
          <a:p>
            <a:pPr lvl="1">
              <a:buFont typeface="Arial" panose="020B0604020202020204" pitchFamily="34" charset="0"/>
              <a:buChar char="•"/>
            </a:pPr>
            <a:r>
              <a:rPr lang="en-US" b="1" dirty="0"/>
              <a:t>Reels:</a:t>
            </a:r>
            <a:r>
              <a:rPr lang="en-US" dirty="0"/>
              <a:t> highest average interactions (~15% above image posts).</a:t>
            </a:r>
          </a:p>
          <a:p>
            <a:r>
              <a:rPr lang="en-US" dirty="0"/>
              <a:t>As part of this project, I am analyzing patterns across content types, hashtags, posting times, and audience behavior to uncover actionable insights. The results are presented through an </a:t>
            </a:r>
            <a:r>
              <a:rPr lang="en-US" b="1" dirty="0"/>
              <a:t>interactive Tableau dashboard</a:t>
            </a:r>
            <a:r>
              <a:rPr lang="en-US" dirty="0"/>
              <a:t> designed to support strategic content planning and optimize organic social media performance.</a:t>
            </a:r>
          </a:p>
        </p:txBody>
      </p:sp>
    </p:spTree>
    <p:extLst>
      <p:ext uri="{BB962C8B-B14F-4D97-AF65-F5344CB8AC3E}">
        <p14:creationId xmlns:p14="http://schemas.microsoft.com/office/powerpoint/2010/main" val="3695362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3955E-83CF-4ABE-B998-5A9DC06AD7AA}"/>
              </a:ext>
            </a:extLst>
          </p:cNvPr>
          <p:cNvSpPr>
            <a:spLocks noGrp="1"/>
          </p:cNvSpPr>
          <p:nvPr>
            <p:ph type="title"/>
          </p:nvPr>
        </p:nvSpPr>
        <p:spPr>
          <a:xfrm>
            <a:off x="249608" y="1"/>
            <a:ext cx="10515600" cy="777307"/>
          </a:xfrm>
        </p:spPr>
        <p:txBody>
          <a:bodyPr>
            <a:normAutofit/>
          </a:bodyPr>
          <a:lstStyle/>
          <a:p>
            <a:r>
              <a:rPr lang="en-US" dirty="0"/>
              <a:t>Overview</a:t>
            </a:r>
            <a:endParaRPr lang="en-IN" dirty="0"/>
          </a:p>
        </p:txBody>
      </p:sp>
      <p:pic>
        <p:nvPicPr>
          <p:cNvPr id="5" name="Content Placeholder 4">
            <a:extLst>
              <a:ext uri="{FF2B5EF4-FFF2-40B4-BE49-F238E27FC236}">
                <a16:creationId xmlns:a16="http://schemas.microsoft.com/office/drawing/2014/main" id="{E2F8535D-22FE-457F-98A2-2EBE5A72B702}"/>
              </a:ext>
            </a:extLst>
          </p:cNvPr>
          <p:cNvPicPr>
            <a:picLocks noGrp="1" noChangeAspect="1"/>
          </p:cNvPicPr>
          <p:nvPr>
            <p:ph idx="1"/>
          </p:nvPr>
        </p:nvPicPr>
        <p:blipFill>
          <a:blip r:embed="rId2"/>
          <a:stretch>
            <a:fillRect/>
          </a:stretch>
        </p:blipFill>
        <p:spPr>
          <a:xfrm>
            <a:off x="6393323" y="787035"/>
            <a:ext cx="1310755" cy="777307"/>
          </a:xfrm>
          <a:ln>
            <a:solidFill>
              <a:schemeClr val="tx1"/>
            </a:solidFill>
          </a:ln>
        </p:spPr>
      </p:pic>
      <p:pic>
        <p:nvPicPr>
          <p:cNvPr id="7" name="Picture 6">
            <a:extLst>
              <a:ext uri="{FF2B5EF4-FFF2-40B4-BE49-F238E27FC236}">
                <a16:creationId xmlns:a16="http://schemas.microsoft.com/office/drawing/2014/main" id="{88FCD156-7D2E-4A07-8E78-48A7CBE4B2AF}"/>
              </a:ext>
            </a:extLst>
          </p:cNvPr>
          <p:cNvPicPr>
            <a:picLocks noChangeAspect="1"/>
          </p:cNvPicPr>
          <p:nvPr/>
        </p:nvPicPr>
        <p:blipFill>
          <a:blip r:embed="rId3"/>
          <a:stretch>
            <a:fillRect/>
          </a:stretch>
        </p:blipFill>
        <p:spPr>
          <a:xfrm>
            <a:off x="4887675" y="777305"/>
            <a:ext cx="1333616" cy="777307"/>
          </a:xfrm>
          <a:prstGeom prst="rect">
            <a:avLst/>
          </a:prstGeom>
          <a:ln>
            <a:solidFill>
              <a:schemeClr val="tx1"/>
            </a:solidFill>
          </a:ln>
        </p:spPr>
      </p:pic>
      <p:pic>
        <p:nvPicPr>
          <p:cNvPr id="9" name="Picture 8">
            <a:extLst>
              <a:ext uri="{FF2B5EF4-FFF2-40B4-BE49-F238E27FC236}">
                <a16:creationId xmlns:a16="http://schemas.microsoft.com/office/drawing/2014/main" id="{42095111-DAFD-4248-A3BD-52F7EC5272C5}"/>
              </a:ext>
            </a:extLst>
          </p:cNvPr>
          <p:cNvPicPr>
            <a:picLocks noChangeAspect="1"/>
          </p:cNvPicPr>
          <p:nvPr/>
        </p:nvPicPr>
        <p:blipFill>
          <a:blip r:embed="rId4"/>
          <a:stretch>
            <a:fillRect/>
          </a:stretch>
        </p:blipFill>
        <p:spPr>
          <a:xfrm>
            <a:off x="3374059" y="787035"/>
            <a:ext cx="1341236" cy="777307"/>
          </a:xfrm>
          <a:prstGeom prst="rect">
            <a:avLst/>
          </a:prstGeom>
          <a:ln>
            <a:solidFill>
              <a:schemeClr val="tx1"/>
            </a:solidFill>
          </a:ln>
        </p:spPr>
      </p:pic>
      <p:pic>
        <p:nvPicPr>
          <p:cNvPr id="11" name="Picture 10">
            <a:extLst>
              <a:ext uri="{FF2B5EF4-FFF2-40B4-BE49-F238E27FC236}">
                <a16:creationId xmlns:a16="http://schemas.microsoft.com/office/drawing/2014/main" id="{18D1E3CA-7712-4F60-A788-D253543CEFAA}"/>
              </a:ext>
            </a:extLst>
          </p:cNvPr>
          <p:cNvPicPr>
            <a:picLocks noChangeAspect="1"/>
          </p:cNvPicPr>
          <p:nvPr/>
        </p:nvPicPr>
        <p:blipFill>
          <a:blip r:embed="rId5"/>
          <a:stretch>
            <a:fillRect/>
          </a:stretch>
        </p:blipFill>
        <p:spPr>
          <a:xfrm>
            <a:off x="1868411" y="777306"/>
            <a:ext cx="1356479" cy="777307"/>
          </a:xfrm>
          <a:prstGeom prst="rect">
            <a:avLst/>
          </a:prstGeom>
          <a:ln>
            <a:solidFill>
              <a:schemeClr val="tx1"/>
            </a:solidFill>
          </a:ln>
        </p:spPr>
      </p:pic>
      <p:pic>
        <p:nvPicPr>
          <p:cNvPr id="13" name="Picture 12">
            <a:extLst>
              <a:ext uri="{FF2B5EF4-FFF2-40B4-BE49-F238E27FC236}">
                <a16:creationId xmlns:a16="http://schemas.microsoft.com/office/drawing/2014/main" id="{C3614A32-0865-40B7-81D6-03AF78826A81}"/>
              </a:ext>
            </a:extLst>
          </p:cNvPr>
          <p:cNvPicPr>
            <a:picLocks noChangeAspect="1"/>
          </p:cNvPicPr>
          <p:nvPr/>
        </p:nvPicPr>
        <p:blipFill>
          <a:blip r:embed="rId6"/>
          <a:stretch>
            <a:fillRect/>
          </a:stretch>
        </p:blipFill>
        <p:spPr>
          <a:xfrm>
            <a:off x="444501" y="787035"/>
            <a:ext cx="1310755" cy="777307"/>
          </a:xfrm>
          <a:prstGeom prst="rect">
            <a:avLst/>
          </a:prstGeom>
          <a:ln>
            <a:solidFill>
              <a:schemeClr val="tx1"/>
            </a:solidFill>
          </a:ln>
        </p:spPr>
      </p:pic>
      <p:pic>
        <p:nvPicPr>
          <p:cNvPr id="17" name="Picture 16">
            <a:extLst>
              <a:ext uri="{FF2B5EF4-FFF2-40B4-BE49-F238E27FC236}">
                <a16:creationId xmlns:a16="http://schemas.microsoft.com/office/drawing/2014/main" id="{89A7BF48-CD0F-48F5-84DB-22C731D877B1}"/>
              </a:ext>
            </a:extLst>
          </p:cNvPr>
          <p:cNvPicPr>
            <a:picLocks noChangeAspect="1"/>
          </p:cNvPicPr>
          <p:nvPr/>
        </p:nvPicPr>
        <p:blipFill>
          <a:blip r:embed="rId7"/>
          <a:stretch>
            <a:fillRect/>
          </a:stretch>
        </p:blipFill>
        <p:spPr>
          <a:xfrm>
            <a:off x="444500" y="1860917"/>
            <a:ext cx="4504017" cy="4683317"/>
          </a:xfrm>
          <a:prstGeom prst="rect">
            <a:avLst/>
          </a:prstGeom>
        </p:spPr>
      </p:pic>
      <p:sp>
        <p:nvSpPr>
          <p:cNvPr id="18" name="TextBox 17">
            <a:extLst>
              <a:ext uri="{FF2B5EF4-FFF2-40B4-BE49-F238E27FC236}">
                <a16:creationId xmlns:a16="http://schemas.microsoft.com/office/drawing/2014/main" id="{F1841F0C-0F93-40B5-B005-7F295DFBD6FD}"/>
              </a:ext>
            </a:extLst>
          </p:cNvPr>
          <p:cNvSpPr txBox="1"/>
          <p:nvPr/>
        </p:nvSpPr>
        <p:spPr>
          <a:xfrm>
            <a:off x="5172635" y="1651010"/>
            <a:ext cx="6574865" cy="5016758"/>
          </a:xfrm>
          <a:prstGeom prst="rect">
            <a:avLst/>
          </a:prstGeom>
          <a:noFill/>
        </p:spPr>
        <p:txBody>
          <a:bodyPr wrap="square" rtlCol="0">
            <a:spAutoFit/>
          </a:bodyPr>
          <a:lstStyle/>
          <a:p>
            <a:r>
              <a:rPr lang="en-US" sz="1600" dirty="0"/>
              <a:t>The analysis covers approximately </a:t>
            </a:r>
            <a:r>
              <a:rPr lang="en-US" sz="1600" b="1" dirty="0"/>
              <a:t>50K posts</a:t>
            </a:r>
            <a:r>
              <a:rPr lang="en-US" sz="1600" dirty="0"/>
              <a:t>, generating close to </a:t>
            </a:r>
            <a:r>
              <a:rPr lang="en-US" sz="1600" b="1" dirty="0"/>
              <a:t>148M total likes</a:t>
            </a:r>
            <a:r>
              <a:rPr lang="en-US" sz="1600" dirty="0"/>
              <a:t>, </a:t>
            </a:r>
            <a:r>
              <a:rPr lang="en-US" sz="1600" b="1" dirty="0"/>
              <a:t>987M total reach</a:t>
            </a:r>
            <a:r>
              <a:rPr lang="en-US" sz="1600" dirty="0"/>
              <a:t>, and </a:t>
            </a:r>
            <a:r>
              <a:rPr lang="en-US" sz="1600" b="1" dirty="0"/>
              <a:t>18M comments</a:t>
            </a:r>
            <a:r>
              <a:rPr lang="en-US" sz="1600" dirty="0"/>
              <a:t>, with an impressive </a:t>
            </a:r>
            <a:r>
              <a:rPr lang="en-US" sz="1600" b="1" dirty="0"/>
              <a:t>average engagement rate of ~18.5%</a:t>
            </a:r>
            <a:r>
              <a:rPr lang="en-US" sz="1600" dirty="0"/>
              <a:t>. This indicates a highly active and responsive audience base.</a:t>
            </a:r>
          </a:p>
          <a:p>
            <a:br>
              <a:rPr lang="en-US" sz="1600" dirty="0"/>
            </a:br>
            <a:r>
              <a:rPr lang="en-US" sz="1600" dirty="0"/>
              <a:t>The two tables highlight Sugar Cosmetics’ top-performing posts from both efficiency and scale perspectives. The engagement-rate table shows that leading posts achieve engagement levels of approximately </a:t>
            </a:r>
            <a:r>
              <a:rPr lang="en-US" sz="1600" b="1" dirty="0"/>
              <a:t>33–35%</a:t>
            </a:r>
            <a:r>
              <a:rPr lang="en-US" sz="1600" dirty="0"/>
              <a:t>, indicating exceptionally strong audience interaction relative to reach. </a:t>
            </a:r>
          </a:p>
          <a:p>
            <a:r>
              <a:rPr lang="en-US" sz="1600" dirty="0"/>
              <a:t>In parallel, the top-liked posts table highlights content generating around </a:t>
            </a:r>
            <a:r>
              <a:rPr lang="en-US" sz="1600" b="1" dirty="0"/>
              <a:t>11K+ likes per post</a:t>
            </a:r>
            <a:r>
              <a:rPr lang="en-US" sz="1600" dirty="0"/>
              <a:t>, reflecting high absolute visibility and popularity. </a:t>
            </a:r>
          </a:p>
          <a:p>
            <a:endParaRPr lang="en-US" sz="1600" dirty="0"/>
          </a:p>
          <a:p>
            <a:r>
              <a:rPr lang="en-US" sz="1600" dirty="0"/>
              <a:t>Together, these views provide complementary insights—while high engagement rate posts demonstrate deeper audience resonance, top-liked posts indicate broader reach and mass appeal. Comparing both helps distinguish content that drives meaningful interaction versus content that maximizes exposure, enabling a more balanced and data-driven content strategy.</a:t>
            </a:r>
            <a:endParaRPr lang="en-IN" sz="1600" dirty="0"/>
          </a:p>
        </p:txBody>
      </p:sp>
    </p:spTree>
    <p:extLst>
      <p:ext uri="{BB962C8B-B14F-4D97-AF65-F5344CB8AC3E}">
        <p14:creationId xmlns:p14="http://schemas.microsoft.com/office/powerpoint/2010/main" val="2738883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D3C36-4F6C-4300-AA5A-2B635EDB1C15}"/>
              </a:ext>
            </a:extLst>
          </p:cNvPr>
          <p:cNvSpPr>
            <a:spLocks noGrp="1"/>
          </p:cNvSpPr>
          <p:nvPr>
            <p:ph type="title"/>
          </p:nvPr>
        </p:nvSpPr>
        <p:spPr>
          <a:xfrm>
            <a:off x="372036" y="1"/>
            <a:ext cx="10515600" cy="905435"/>
          </a:xfrm>
        </p:spPr>
        <p:txBody>
          <a:bodyPr>
            <a:normAutofit/>
          </a:bodyPr>
          <a:lstStyle/>
          <a:p>
            <a:r>
              <a:rPr lang="en-US" dirty="0"/>
              <a:t>Time Series Analysis</a:t>
            </a:r>
            <a:endParaRPr lang="en-IN" dirty="0"/>
          </a:p>
        </p:txBody>
      </p:sp>
      <p:pic>
        <p:nvPicPr>
          <p:cNvPr id="19" name="Content Placeholder 18">
            <a:extLst>
              <a:ext uri="{FF2B5EF4-FFF2-40B4-BE49-F238E27FC236}">
                <a16:creationId xmlns:a16="http://schemas.microsoft.com/office/drawing/2014/main" id="{5B690C6D-ADED-49F4-B961-5BC18B035680}"/>
              </a:ext>
            </a:extLst>
          </p:cNvPr>
          <p:cNvPicPr>
            <a:picLocks noGrp="1" noChangeAspect="1"/>
          </p:cNvPicPr>
          <p:nvPr>
            <p:ph idx="1"/>
          </p:nvPr>
        </p:nvPicPr>
        <p:blipFill>
          <a:blip r:embed="rId2"/>
          <a:stretch>
            <a:fillRect/>
          </a:stretch>
        </p:blipFill>
        <p:spPr>
          <a:xfrm>
            <a:off x="372035" y="3922650"/>
            <a:ext cx="5275729" cy="2720197"/>
          </a:xfrm>
        </p:spPr>
      </p:pic>
      <p:pic>
        <p:nvPicPr>
          <p:cNvPr id="17" name="Picture 16">
            <a:extLst>
              <a:ext uri="{FF2B5EF4-FFF2-40B4-BE49-F238E27FC236}">
                <a16:creationId xmlns:a16="http://schemas.microsoft.com/office/drawing/2014/main" id="{381E2DA9-90A5-4EAA-8F21-C6CE3F70FA34}"/>
              </a:ext>
            </a:extLst>
          </p:cNvPr>
          <p:cNvPicPr>
            <a:picLocks noChangeAspect="1"/>
          </p:cNvPicPr>
          <p:nvPr/>
        </p:nvPicPr>
        <p:blipFill>
          <a:blip r:embed="rId3"/>
          <a:stretch>
            <a:fillRect/>
          </a:stretch>
        </p:blipFill>
        <p:spPr>
          <a:xfrm>
            <a:off x="372035" y="905436"/>
            <a:ext cx="5275729" cy="2788023"/>
          </a:xfrm>
          <a:prstGeom prst="rect">
            <a:avLst/>
          </a:prstGeom>
        </p:spPr>
      </p:pic>
      <p:sp>
        <p:nvSpPr>
          <p:cNvPr id="24" name="Rectangle 4">
            <a:extLst>
              <a:ext uri="{FF2B5EF4-FFF2-40B4-BE49-F238E27FC236}">
                <a16:creationId xmlns:a16="http://schemas.microsoft.com/office/drawing/2014/main" id="{FD6ABE81-8D0E-463E-9693-60585599CF03}"/>
              </a:ext>
            </a:extLst>
          </p:cNvPr>
          <p:cNvSpPr>
            <a:spLocks noChangeArrowheads="1"/>
          </p:cNvSpPr>
          <p:nvPr/>
        </p:nvSpPr>
        <p:spPr bwMode="auto">
          <a:xfrm>
            <a:off x="5782236" y="765297"/>
            <a:ext cx="6248399"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Arial" panose="020B0604020202020204" pitchFamily="34" charset="0"/>
              </a:rPr>
              <a:t>The </a:t>
            </a:r>
            <a:r>
              <a:rPr kumimoji="0" lang="en-US" altLang="en-US" sz="1600" b="1" i="1" u="none" strike="noStrike" cap="none" normalizeH="0" baseline="0" dirty="0">
                <a:ln>
                  <a:noFill/>
                </a:ln>
                <a:solidFill>
                  <a:schemeClr val="tx1"/>
                </a:solidFill>
                <a:effectLst/>
                <a:latin typeface="Arial" panose="020B0604020202020204" pitchFamily="34" charset="0"/>
              </a:rPr>
              <a:t>Total Posts and MoM Profile Visits</a:t>
            </a:r>
            <a:r>
              <a:rPr kumimoji="0" lang="en-US" altLang="en-US" sz="1600" b="0" i="1" u="none" strike="noStrike" cap="none" normalizeH="0" baseline="0" dirty="0">
                <a:ln>
                  <a:noFill/>
                </a:ln>
                <a:solidFill>
                  <a:schemeClr val="tx1"/>
                </a:solidFill>
                <a:effectLst/>
                <a:latin typeface="Arial" panose="020B0604020202020204" pitchFamily="34" charset="0"/>
              </a:rPr>
              <a:t> visualization compares monthly posting volume with Month-over-Month (MoM%) changes in profile visits. Total posts remain relatively stable across the year, fluctuating roughly between ~3.9K and ~4.3K per month, while MoM profile visits show noticeable volatility, ranging from approximately –10% to +10%.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i="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Arial" panose="020B0604020202020204" pitchFamily="34" charset="0"/>
              </a:rPr>
              <a:t>This indicates that audience interest does not move in a perfectly linear relationship with posting volume—some months (such as March, May, August, October, and December) experience positive spikes in profile visits despite only moderate changes in posting activity. December stands out with both higher posting levels and a strong positive MoM growth, suggesting increased year-end audience engagement.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Arial" panose="020B0604020202020204" pitchFamily="34" charset="0"/>
              </a:rPr>
              <a:t>The </a:t>
            </a:r>
            <a:r>
              <a:rPr kumimoji="0" lang="en-US" altLang="en-US" sz="1600" b="1" i="1" u="none" strike="noStrike" cap="none" normalizeH="0" baseline="0" dirty="0">
                <a:ln>
                  <a:noFill/>
                </a:ln>
                <a:solidFill>
                  <a:schemeClr val="tx1"/>
                </a:solidFill>
                <a:effectLst/>
                <a:latin typeface="Arial" panose="020B0604020202020204" pitchFamily="34" charset="0"/>
              </a:rPr>
              <a:t>Profile Visits by Day of the Week </a:t>
            </a:r>
            <a:r>
              <a:rPr kumimoji="0" lang="en-US" altLang="en-US" sz="1600" b="0" i="1" u="none" strike="noStrike" cap="none" normalizeH="0" baseline="0" dirty="0">
                <a:ln>
                  <a:noFill/>
                </a:ln>
                <a:solidFill>
                  <a:schemeClr val="tx1"/>
                </a:solidFill>
                <a:effectLst/>
                <a:latin typeface="Arial" panose="020B0604020202020204" pitchFamily="34" charset="0"/>
              </a:rPr>
              <a:t>visualization breaks down profile visits by day of the week. Engagement is fairly evenly distributed, averaging around ~14% per day; however, Wednesday records the highest share at </a:t>
            </a:r>
            <a:r>
              <a:rPr kumimoji="0" lang="en-US" altLang="en-US" sz="1600" b="1" i="1" u="none" strike="noStrike" cap="none" normalizeH="0" baseline="0" dirty="0">
                <a:ln>
                  <a:noFill/>
                </a:ln>
                <a:solidFill>
                  <a:schemeClr val="tx1"/>
                </a:solidFill>
                <a:effectLst/>
                <a:latin typeface="Arial" panose="020B0604020202020204" pitchFamily="34" charset="0"/>
              </a:rPr>
              <a:t>14.76%</a:t>
            </a:r>
            <a:r>
              <a:rPr kumimoji="0" lang="en-US" altLang="en-US" sz="1600" b="0" i="1" u="none" strike="noStrike" cap="none" normalizeH="0" baseline="0" dirty="0">
                <a:ln>
                  <a:noFill/>
                </a:ln>
                <a:solidFill>
                  <a:schemeClr val="tx1"/>
                </a:solidFill>
                <a:effectLst/>
                <a:latin typeface="Arial" panose="020B0604020202020204" pitchFamily="34" charset="0"/>
              </a:rPr>
              <a:t>, followed closely by Saturday (</a:t>
            </a:r>
            <a:r>
              <a:rPr kumimoji="0" lang="en-US" altLang="en-US" sz="1600" b="1" i="1" u="none" strike="noStrike" cap="none" normalizeH="0" baseline="0" dirty="0">
                <a:ln>
                  <a:noFill/>
                </a:ln>
                <a:solidFill>
                  <a:schemeClr val="tx1"/>
                </a:solidFill>
                <a:effectLst/>
                <a:latin typeface="Arial" panose="020B0604020202020204" pitchFamily="34" charset="0"/>
              </a:rPr>
              <a:t>14.61%</a:t>
            </a:r>
            <a:r>
              <a:rPr kumimoji="0" lang="en-US" altLang="en-US" sz="1600" b="0" i="1" u="none" strike="noStrike" cap="none" normalizeH="0" baseline="0" dirty="0">
                <a:ln>
                  <a:noFill/>
                </a:ln>
                <a:solidFill>
                  <a:schemeClr val="tx1"/>
                </a:solidFill>
                <a:effectLst/>
                <a:latin typeface="Arial" panose="020B0604020202020204" pitchFamily="34" charset="0"/>
              </a:rPr>
              <a:t>) and Thursday (</a:t>
            </a:r>
            <a:r>
              <a:rPr kumimoji="0" lang="en-US" altLang="en-US" sz="1600" b="1" i="1" u="none" strike="noStrike" cap="none" normalizeH="0" baseline="0" dirty="0">
                <a:ln>
                  <a:noFill/>
                </a:ln>
                <a:solidFill>
                  <a:schemeClr val="tx1"/>
                </a:solidFill>
                <a:effectLst/>
                <a:latin typeface="Arial" panose="020B0604020202020204" pitchFamily="34" charset="0"/>
              </a:rPr>
              <a:t>14.41%</a:t>
            </a:r>
            <a:r>
              <a:rPr kumimoji="0" lang="en-US" altLang="en-US" sz="1600" b="0" i="1"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Arial" panose="020B0604020202020204" pitchFamily="34" charset="0"/>
              </a:rPr>
              <a:t>Sunday shows the lowest contribution at </a:t>
            </a:r>
            <a:r>
              <a:rPr kumimoji="0" lang="en-US" altLang="en-US" sz="1600" b="1" i="1" u="none" strike="noStrike" cap="none" normalizeH="0" baseline="0" dirty="0">
                <a:ln>
                  <a:noFill/>
                </a:ln>
                <a:solidFill>
                  <a:schemeClr val="tx1"/>
                </a:solidFill>
                <a:effectLst/>
                <a:latin typeface="Arial" panose="020B0604020202020204" pitchFamily="34" charset="0"/>
              </a:rPr>
              <a:t>13.77%</a:t>
            </a:r>
            <a:r>
              <a:rPr kumimoji="0" lang="en-US" altLang="en-US" sz="1600" b="0" i="1" u="none" strike="noStrike" cap="none" normalizeH="0" baseline="0" dirty="0">
                <a:ln>
                  <a:noFill/>
                </a:ln>
                <a:solidFill>
                  <a:schemeClr val="tx1"/>
                </a:solidFill>
                <a:effectLst/>
                <a:latin typeface="Arial" panose="020B0604020202020204" pitchFamily="34" charset="0"/>
              </a:rPr>
              <a:t>. This pattern suggests that mid-week days—particularly Wednesday—slightly outperform weekends, indicating an opportunity to prioritize key content releases during weekdays to maximize profile traffic.</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045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0C529-30BB-41B9-A3F0-332A2F27F62E}"/>
              </a:ext>
            </a:extLst>
          </p:cNvPr>
          <p:cNvSpPr>
            <a:spLocks noGrp="1"/>
          </p:cNvSpPr>
          <p:nvPr>
            <p:ph type="title"/>
          </p:nvPr>
        </p:nvSpPr>
        <p:spPr>
          <a:xfrm>
            <a:off x="438443" y="2"/>
            <a:ext cx="10515600" cy="755463"/>
          </a:xfrm>
        </p:spPr>
        <p:txBody>
          <a:bodyPr/>
          <a:lstStyle/>
          <a:p>
            <a:r>
              <a:rPr lang="en-US" dirty="0"/>
              <a:t>Performance Analysis</a:t>
            </a:r>
            <a:endParaRPr lang="en-IN" dirty="0"/>
          </a:p>
        </p:txBody>
      </p:sp>
      <p:pic>
        <p:nvPicPr>
          <p:cNvPr id="9" name="Content Placeholder 8">
            <a:extLst>
              <a:ext uri="{FF2B5EF4-FFF2-40B4-BE49-F238E27FC236}">
                <a16:creationId xmlns:a16="http://schemas.microsoft.com/office/drawing/2014/main" id="{F750217F-699A-42AE-A995-610611BF94C6}"/>
              </a:ext>
            </a:extLst>
          </p:cNvPr>
          <p:cNvPicPr>
            <a:picLocks noGrp="1" noChangeAspect="1"/>
          </p:cNvPicPr>
          <p:nvPr>
            <p:ph idx="1"/>
          </p:nvPr>
        </p:nvPicPr>
        <p:blipFill>
          <a:blip r:embed="rId2"/>
          <a:stretch>
            <a:fillRect/>
          </a:stretch>
        </p:blipFill>
        <p:spPr>
          <a:xfrm>
            <a:off x="438444" y="838971"/>
            <a:ext cx="11251533" cy="533447"/>
          </a:xfrm>
        </p:spPr>
      </p:pic>
      <p:pic>
        <p:nvPicPr>
          <p:cNvPr id="15" name="Picture 14">
            <a:extLst>
              <a:ext uri="{FF2B5EF4-FFF2-40B4-BE49-F238E27FC236}">
                <a16:creationId xmlns:a16="http://schemas.microsoft.com/office/drawing/2014/main" id="{F846A997-B5FC-47D5-9B23-CE4C8725A4D2}"/>
              </a:ext>
            </a:extLst>
          </p:cNvPr>
          <p:cNvPicPr>
            <a:picLocks noChangeAspect="1"/>
          </p:cNvPicPr>
          <p:nvPr/>
        </p:nvPicPr>
        <p:blipFill>
          <a:blip r:embed="rId3"/>
          <a:stretch>
            <a:fillRect/>
          </a:stretch>
        </p:blipFill>
        <p:spPr>
          <a:xfrm>
            <a:off x="438443" y="1721224"/>
            <a:ext cx="5182428" cy="4858870"/>
          </a:xfrm>
          <a:prstGeom prst="rect">
            <a:avLst/>
          </a:prstGeom>
        </p:spPr>
      </p:pic>
      <p:sp>
        <p:nvSpPr>
          <p:cNvPr id="18" name="TextBox 17">
            <a:extLst>
              <a:ext uri="{FF2B5EF4-FFF2-40B4-BE49-F238E27FC236}">
                <a16:creationId xmlns:a16="http://schemas.microsoft.com/office/drawing/2014/main" id="{99BF847A-CAEF-496C-8A8E-44FDFD490781}"/>
              </a:ext>
            </a:extLst>
          </p:cNvPr>
          <p:cNvSpPr txBox="1"/>
          <p:nvPr/>
        </p:nvSpPr>
        <p:spPr>
          <a:xfrm>
            <a:off x="5746376" y="1547843"/>
            <a:ext cx="6230471" cy="3554819"/>
          </a:xfrm>
          <a:prstGeom prst="rect">
            <a:avLst/>
          </a:prstGeom>
          <a:noFill/>
        </p:spPr>
        <p:txBody>
          <a:bodyPr wrap="square">
            <a:spAutoFit/>
          </a:bodyPr>
          <a:lstStyle/>
          <a:p>
            <a:r>
              <a:rPr lang="en-US" sz="1500" b="1" u="sng" dirty="0"/>
              <a:t>Co-Relation</a:t>
            </a:r>
          </a:p>
          <a:p>
            <a:pPr>
              <a:buFont typeface="Arial" panose="020B0604020202020204" pitchFamily="34" charset="0"/>
              <a:buChar char="•"/>
            </a:pPr>
            <a:r>
              <a:rPr lang="en-US" sz="1500" b="1" dirty="0"/>
              <a:t>Reach drives everything.</a:t>
            </a:r>
            <a:r>
              <a:rPr lang="en-US" sz="1500" dirty="0"/>
              <a:t> Strong correlations between Reach &amp; Profile Visits (</a:t>
            </a:r>
            <a:r>
              <a:rPr lang="en-US" sz="1500" b="1" dirty="0"/>
              <a:t>0.94</a:t>
            </a:r>
            <a:r>
              <a:rPr lang="en-US" sz="1500" dirty="0"/>
              <a:t>) and Reach &amp; Likes (</a:t>
            </a:r>
            <a:r>
              <a:rPr lang="en-US" sz="1500" b="1" dirty="0"/>
              <a:t>0.90</a:t>
            </a:r>
            <a:r>
              <a:rPr lang="en-US" sz="1500" dirty="0"/>
              <a:t>) indicate that expanding content reach is the primary lever for increasing both engagement and traffic to the profile.</a:t>
            </a:r>
          </a:p>
          <a:p>
            <a:pPr>
              <a:buFont typeface="Arial" panose="020B0604020202020204" pitchFamily="34" charset="0"/>
              <a:buChar char="•"/>
            </a:pPr>
            <a:r>
              <a:rPr lang="en-US" sz="1500" b="1" dirty="0"/>
              <a:t>Likes act as a leading engagement indicator.</a:t>
            </a:r>
            <a:r>
              <a:rPr lang="en-US" sz="1500" dirty="0"/>
              <a:t> The near-perfect correlation between Likes &amp; Saves (</a:t>
            </a:r>
            <a:r>
              <a:rPr lang="en-US" sz="1500" b="1" dirty="0"/>
              <a:t>0.99</a:t>
            </a:r>
            <a:r>
              <a:rPr lang="en-US" sz="1500" dirty="0"/>
              <a:t>), along with strong links to Shares (</a:t>
            </a:r>
            <a:r>
              <a:rPr lang="en-US" sz="1500" b="1" dirty="0"/>
              <a:t>0.86</a:t>
            </a:r>
            <a:r>
              <a:rPr lang="en-US" sz="1500" dirty="0"/>
              <a:t>) and Comments (</a:t>
            </a:r>
            <a:r>
              <a:rPr lang="en-US" sz="1500" b="1" dirty="0"/>
              <a:t>0.84</a:t>
            </a:r>
            <a:r>
              <a:rPr lang="en-US" sz="1500" dirty="0"/>
              <a:t>), shows that posts receiving higher likes are significantly more likely to generate deeper user actions.</a:t>
            </a:r>
          </a:p>
          <a:p>
            <a:pPr>
              <a:buFont typeface="Arial" panose="020B0604020202020204" pitchFamily="34" charset="0"/>
              <a:buChar char="•"/>
            </a:pPr>
            <a:r>
              <a:rPr lang="en-US" sz="1500" b="1" dirty="0"/>
              <a:t>Impressions directly translate into engagement.</a:t>
            </a:r>
            <a:r>
              <a:rPr lang="en-US" sz="1500" dirty="0"/>
              <a:t> Very high correlations with impressions (</a:t>
            </a:r>
            <a:r>
              <a:rPr lang="en-US" sz="1500" b="1" dirty="0"/>
              <a:t>0.88–0.98</a:t>
            </a:r>
            <a:r>
              <a:rPr lang="en-US" sz="1500" dirty="0"/>
              <a:t>) confirm a clear funnel effect—greater visibility consistently converts into interaction, reinforcing the importance of distribution and discoverability strategies.</a:t>
            </a:r>
          </a:p>
        </p:txBody>
      </p:sp>
    </p:spTree>
    <p:extLst>
      <p:ext uri="{BB962C8B-B14F-4D97-AF65-F5344CB8AC3E}">
        <p14:creationId xmlns:p14="http://schemas.microsoft.com/office/powerpoint/2010/main" val="2453237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FC56F2C-74C6-45A0-9DD5-7D6452EF22FB}"/>
              </a:ext>
            </a:extLst>
          </p:cNvPr>
          <p:cNvPicPr>
            <a:picLocks noChangeAspect="1"/>
          </p:cNvPicPr>
          <p:nvPr/>
        </p:nvPicPr>
        <p:blipFill>
          <a:blip r:embed="rId2"/>
          <a:stretch>
            <a:fillRect/>
          </a:stretch>
        </p:blipFill>
        <p:spPr>
          <a:xfrm>
            <a:off x="421341" y="206188"/>
            <a:ext cx="10901083" cy="878541"/>
          </a:xfrm>
          <a:prstGeom prst="rect">
            <a:avLst/>
          </a:prstGeom>
          <a:ln>
            <a:solidFill>
              <a:schemeClr val="tx1"/>
            </a:solidFill>
          </a:ln>
        </p:spPr>
      </p:pic>
      <p:pic>
        <p:nvPicPr>
          <p:cNvPr id="11" name="Picture 10">
            <a:extLst>
              <a:ext uri="{FF2B5EF4-FFF2-40B4-BE49-F238E27FC236}">
                <a16:creationId xmlns:a16="http://schemas.microsoft.com/office/drawing/2014/main" id="{487399B0-2B18-4C15-A26B-3731A0BDB18C}"/>
              </a:ext>
            </a:extLst>
          </p:cNvPr>
          <p:cNvPicPr>
            <a:picLocks noChangeAspect="1"/>
          </p:cNvPicPr>
          <p:nvPr/>
        </p:nvPicPr>
        <p:blipFill>
          <a:blip r:embed="rId3"/>
          <a:stretch>
            <a:fillRect/>
          </a:stretch>
        </p:blipFill>
        <p:spPr>
          <a:xfrm>
            <a:off x="421341" y="1512927"/>
            <a:ext cx="4303059" cy="3579026"/>
          </a:xfrm>
          <a:prstGeom prst="rect">
            <a:avLst/>
          </a:prstGeom>
        </p:spPr>
      </p:pic>
      <p:sp>
        <p:nvSpPr>
          <p:cNvPr id="13" name="TextBox 12">
            <a:extLst>
              <a:ext uri="{FF2B5EF4-FFF2-40B4-BE49-F238E27FC236}">
                <a16:creationId xmlns:a16="http://schemas.microsoft.com/office/drawing/2014/main" id="{A86A2F61-842D-4824-970C-AA3084820056}"/>
              </a:ext>
            </a:extLst>
          </p:cNvPr>
          <p:cNvSpPr txBox="1"/>
          <p:nvPr/>
        </p:nvSpPr>
        <p:spPr>
          <a:xfrm>
            <a:off x="4867834" y="1373938"/>
            <a:ext cx="6992471" cy="3785652"/>
          </a:xfrm>
          <a:prstGeom prst="rect">
            <a:avLst/>
          </a:prstGeom>
          <a:noFill/>
        </p:spPr>
        <p:txBody>
          <a:bodyPr wrap="square">
            <a:spAutoFit/>
          </a:bodyPr>
          <a:lstStyle/>
          <a:p>
            <a:r>
              <a:rPr lang="en-US" sz="1600" b="1" dirty="0"/>
              <a:t>The Key Influencers</a:t>
            </a:r>
            <a:r>
              <a:rPr lang="en-US" sz="1600" dirty="0"/>
              <a:t> visualization highlights how posting patterns vary by month, showing that Stories are most likely to be published in </a:t>
            </a:r>
            <a:r>
              <a:rPr lang="en-US" sz="1600" b="1" dirty="0"/>
              <a:t>December (1.08×)</a:t>
            </a:r>
            <a:r>
              <a:rPr lang="en-US" sz="1600" dirty="0"/>
              <a:t> and </a:t>
            </a:r>
            <a:r>
              <a:rPr lang="en-US" sz="1600" b="1" dirty="0"/>
              <a:t>April (1.06×)</a:t>
            </a:r>
            <a:r>
              <a:rPr lang="en-US" sz="1600" dirty="0"/>
              <a:t> compared to other periods, with an average Story share of approximately </a:t>
            </a:r>
            <a:r>
              <a:rPr lang="en-US" sz="1600" b="1" dirty="0"/>
              <a:t>25%</a:t>
            </a:r>
            <a:r>
              <a:rPr lang="en-US" sz="1600" dirty="0"/>
              <a:t> across months.</a:t>
            </a:r>
          </a:p>
          <a:p>
            <a:r>
              <a:rPr lang="en-US" sz="1600" dirty="0"/>
              <a:t>This helps surface seasonality and structural drivers behind content format decisions. </a:t>
            </a:r>
          </a:p>
          <a:p>
            <a:endParaRPr lang="en-US" sz="1600" dirty="0"/>
          </a:p>
          <a:p>
            <a:r>
              <a:rPr lang="en-US" sz="1600" dirty="0"/>
              <a:t>Complementing this, the </a:t>
            </a:r>
            <a:r>
              <a:rPr lang="en-US" sz="1600" b="1" dirty="0"/>
              <a:t>Q&amp;A</a:t>
            </a:r>
            <a:r>
              <a:rPr lang="en-US" sz="1600" dirty="0"/>
              <a:t> visualization enables users to explore the dataset in real time by asking natural-language questions—such as top-performing post types or monthly engagement—allowing instant switching between analytical perspectives. Together, these AI-driven features make it easier to quantify relationships across post types and time, empowering stakeholders to quickly uncover patterns, validate hypotheses, and drill into different aspects of performance without manual filtering or complex navigation.</a:t>
            </a:r>
            <a:endParaRPr lang="en-IN" sz="1600" dirty="0"/>
          </a:p>
        </p:txBody>
      </p:sp>
    </p:spTree>
    <p:extLst>
      <p:ext uri="{BB962C8B-B14F-4D97-AF65-F5344CB8AC3E}">
        <p14:creationId xmlns:p14="http://schemas.microsoft.com/office/powerpoint/2010/main" val="1922113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6E9B9AB-13DE-48F5-94A8-6394DC2CF2E3}"/>
              </a:ext>
            </a:extLst>
          </p:cNvPr>
          <p:cNvPicPr>
            <a:picLocks noChangeAspect="1"/>
          </p:cNvPicPr>
          <p:nvPr/>
        </p:nvPicPr>
        <p:blipFill>
          <a:blip r:embed="rId2"/>
          <a:stretch>
            <a:fillRect/>
          </a:stretch>
        </p:blipFill>
        <p:spPr>
          <a:xfrm>
            <a:off x="646633" y="356466"/>
            <a:ext cx="4893555" cy="2864638"/>
          </a:xfrm>
          <a:prstGeom prst="rect">
            <a:avLst/>
          </a:prstGeom>
        </p:spPr>
      </p:pic>
      <p:pic>
        <p:nvPicPr>
          <p:cNvPr id="11" name="Picture 10">
            <a:extLst>
              <a:ext uri="{FF2B5EF4-FFF2-40B4-BE49-F238E27FC236}">
                <a16:creationId xmlns:a16="http://schemas.microsoft.com/office/drawing/2014/main" id="{76BFDA96-CCE8-4D73-94EE-E16475BC145E}"/>
              </a:ext>
            </a:extLst>
          </p:cNvPr>
          <p:cNvPicPr>
            <a:picLocks noChangeAspect="1"/>
          </p:cNvPicPr>
          <p:nvPr/>
        </p:nvPicPr>
        <p:blipFill>
          <a:blip r:embed="rId3"/>
          <a:stretch>
            <a:fillRect/>
          </a:stretch>
        </p:blipFill>
        <p:spPr>
          <a:xfrm>
            <a:off x="646633" y="3508011"/>
            <a:ext cx="4846740" cy="2864638"/>
          </a:xfrm>
          <a:prstGeom prst="rect">
            <a:avLst/>
          </a:prstGeom>
        </p:spPr>
      </p:pic>
      <p:sp>
        <p:nvSpPr>
          <p:cNvPr id="12" name="Rectangle 1">
            <a:extLst>
              <a:ext uri="{FF2B5EF4-FFF2-40B4-BE49-F238E27FC236}">
                <a16:creationId xmlns:a16="http://schemas.microsoft.com/office/drawing/2014/main" id="{4EB26EEC-5F84-4F9E-B100-ED434CA7FCDB}"/>
              </a:ext>
            </a:extLst>
          </p:cNvPr>
          <p:cNvSpPr>
            <a:spLocks noChangeArrowheads="1"/>
          </p:cNvSpPr>
          <p:nvPr/>
        </p:nvSpPr>
        <p:spPr bwMode="auto">
          <a:xfrm>
            <a:off x="5755341" y="416819"/>
            <a:ext cx="6087035"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Arial" panose="020B0604020202020204" pitchFamily="34" charset="0"/>
              </a:rPr>
              <a:t>The </a:t>
            </a:r>
            <a:r>
              <a:rPr lang="en-US" altLang="en-US" sz="1600" b="1" i="1" dirty="0">
                <a:latin typeface="Arial" panose="020B0604020202020204" pitchFamily="34" charset="0"/>
              </a:rPr>
              <a:t>H</a:t>
            </a:r>
            <a:r>
              <a:rPr kumimoji="0" lang="en-US" altLang="en-US" sz="1600" b="1" i="1" u="none" strike="noStrike" cap="none" normalizeH="0" baseline="0" dirty="0">
                <a:ln>
                  <a:noFill/>
                </a:ln>
                <a:solidFill>
                  <a:schemeClr val="tx1"/>
                </a:solidFill>
                <a:effectLst/>
                <a:latin typeface="Arial" panose="020B0604020202020204" pitchFamily="34" charset="0"/>
              </a:rPr>
              <a:t>ashtag </a:t>
            </a:r>
            <a:r>
              <a:rPr lang="en-US" altLang="en-US" sz="1600" b="1" i="1" dirty="0">
                <a:latin typeface="Arial" panose="020B0604020202020204" pitchFamily="34" charset="0"/>
              </a:rPr>
              <a:t>P</a:t>
            </a:r>
            <a:r>
              <a:rPr kumimoji="0" lang="en-US" altLang="en-US" sz="1600" b="1" i="1" u="none" strike="noStrike" cap="none" normalizeH="0" baseline="0" dirty="0">
                <a:ln>
                  <a:noFill/>
                </a:ln>
                <a:solidFill>
                  <a:schemeClr val="tx1"/>
                </a:solidFill>
                <a:effectLst/>
                <a:latin typeface="Arial" panose="020B0604020202020204" pitchFamily="34" charset="0"/>
              </a:rPr>
              <a:t>erformance </a:t>
            </a:r>
            <a:r>
              <a:rPr lang="en-US" altLang="en-US" sz="1600" b="1" i="1" dirty="0">
                <a:latin typeface="Arial" panose="020B0604020202020204" pitchFamily="34" charset="0"/>
              </a:rPr>
              <a:t>A</a:t>
            </a:r>
            <a:r>
              <a:rPr kumimoji="0" lang="en-US" altLang="en-US" sz="1600" b="1" i="1" u="none" strike="noStrike" cap="none" normalizeH="0" baseline="0" dirty="0">
                <a:ln>
                  <a:noFill/>
                </a:ln>
                <a:solidFill>
                  <a:schemeClr val="tx1"/>
                </a:solidFill>
                <a:effectLst/>
                <a:latin typeface="Arial" panose="020B0604020202020204" pitchFamily="34" charset="0"/>
              </a:rPr>
              <a:t>nalysis </a:t>
            </a:r>
            <a:r>
              <a:rPr kumimoji="0" lang="en-US" altLang="en-US" sz="1600" b="0" i="1" u="none" strike="noStrike" cap="none" normalizeH="0" baseline="0" dirty="0">
                <a:ln>
                  <a:noFill/>
                </a:ln>
                <a:solidFill>
                  <a:schemeClr val="tx1"/>
                </a:solidFill>
                <a:effectLst/>
                <a:latin typeface="Arial" panose="020B0604020202020204" pitchFamily="34" charset="0"/>
              </a:rPr>
              <a:t>shows that branded and value-driven hashtags such as </a:t>
            </a:r>
            <a:r>
              <a:rPr kumimoji="0" lang="en-US" altLang="en-US" sz="1600" b="1" i="1" u="none" strike="noStrike" cap="none" normalizeH="0" baseline="0" dirty="0">
                <a:ln>
                  <a:noFill/>
                </a:ln>
                <a:solidFill>
                  <a:schemeClr val="tx1"/>
                </a:solidFill>
                <a:effectLst/>
                <a:latin typeface="Arial" panose="020B0604020202020204" pitchFamily="34" charset="0"/>
              </a:rPr>
              <a:t>#MakeupGoals, #CrueltyFree, #BoldLooks, #VeganBeauty, and #SugarCosmetics</a:t>
            </a:r>
            <a:r>
              <a:rPr kumimoji="0" lang="en-US" altLang="en-US" sz="1600" b="0" i="1" u="none" strike="noStrike" cap="none" normalizeH="0" baseline="0" dirty="0">
                <a:ln>
                  <a:noFill/>
                </a:ln>
                <a:solidFill>
                  <a:schemeClr val="tx1"/>
                </a:solidFill>
                <a:effectLst/>
                <a:latin typeface="Arial" panose="020B0604020202020204" pitchFamily="34" charset="0"/>
              </a:rPr>
              <a:t> consistently generate the highest engagement, each contributing approximately </a:t>
            </a:r>
            <a:r>
              <a:rPr kumimoji="0" lang="en-US" altLang="en-US" sz="1600" b="1" i="1" u="none" strike="noStrike" cap="none" normalizeH="0" baseline="0" dirty="0">
                <a:ln>
                  <a:noFill/>
                </a:ln>
                <a:solidFill>
                  <a:schemeClr val="tx1"/>
                </a:solidFill>
                <a:effectLst/>
                <a:latin typeface="Arial" panose="020B0604020202020204" pitchFamily="34" charset="0"/>
              </a:rPr>
              <a:t>2.2M–2.6M likes per post type</a:t>
            </a:r>
            <a:r>
              <a:rPr kumimoji="0" lang="en-US" altLang="en-US" sz="1600" b="0" i="1" u="none" strike="noStrike" cap="none" normalizeH="0" baseline="0" dirty="0">
                <a:ln>
                  <a:noFill/>
                </a:ln>
                <a:solidFill>
                  <a:schemeClr val="tx1"/>
                </a:solidFill>
                <a:effectLst/>
                <a:latin typeface="Arial" panose="020B0604020202020204" pitchFamily="34" charset="0"/>
              </a:rPr>
              <a:t>, significantly outperforming secondary hashtag groups, which average below </a:t>
            </a:r>
            <a:r>
              <a:rPr kumimoji="0" lang="en-US" altLang="en-US" sz="1600" b="1" i="1" u="none" strike="noStrike" cap="none" normalizeH="0" baseline="0" dirty="0">
                <a:ln>
                  <a:noFill/>
                </a:ln>
                <a:solidFill>
                  <a:schemeClr val="tx1"/>
                </a:solidFill>
                <a:effectLst/>
                <a:latin typeface="Arial" panose="020B0604020202020204" pitchFamily="34" charset="0"/>
              </a:rPr>
              <a:t>1M likes</a:t>
            </a:r>
            <a:r>
              <a:rPr kumimoji="0" lang="en-US" altLang="en-US" sz="1600" b="0" i="1" u="none" strike="noStrike" cap="none" normalizeH="0" baseline="0" dirty="0">
                <a:ln>
                  <a:noFill/>
                </a:ln>
                <a:solidFill>
                  <a:schemeClr val="tx1"/>
                </a:solidFill>
                <a:effectLst/>
                <a:latin typeface="Arial" panose="020B0604020202020204" pitchFamily="34" charset="0"/>
              </a:rPr>
              <a:t>. Across these top hashtags, Reels and Images typically lead in total likes, indicating that visually rich formats combined with strong brand-aligned hashtags drive maximum reach and interaction.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Arial" panose="020B0604020202020204" pitchFamily="34" charset="0"/>
              </a:rPr>
              <a:t>The </a:t>
            </a:r>
            <a:r>
              <a:rPr lang="en-US" altLang="en-US" sz="1600" b="1" i="1" dirty="0">
                <a:latin typeface="Arial" panose="020B0604020202020204" pitchFamily="34" charset="0"/>
              </a:rPr>
              <a:t>A</a:t>
            </a:r>
            <a:r>
              <a:rPr kumimoji="0" lang="en-US" altLang="en-US" sz="1600" b="1" i="1" u="none" strike="noStrike" cap="none" normalizeH="0" baseline="0" dirty="0">
                <a:ln>
                  <a:noFill/>
                </a:ln>
                <a:solidFill>
                  <a:schemeClr val="tx1"/>
                </a:solidFill>
                <a:effectLst/>
                <a:latin typeface="Arial" panose="020B0604020202020204" pitchFamily="34" charset="0"/>
              </a:rPr>
              <a:t>udience </a:t>
            </a:r>
            <a:r>
              <a:rPr lang="en-US" altLang="en-US" sz="1600" b="1" i="1" dirty="0">
                <a:latin typeface="Arial" panose="020B0604020202020204" pitchFamily="34" charset="0"/>
              </a:rPr>
              <a:t>E</a:t>
            </a:r>
            <a:r>
              <a:rPr kumimoji="0" lang="en-US" altLang="en-US" sz="1600" b="1" i="1" u="none" strike="noStrike" cap="none" normalizeH="0" baseline="0" dirty="0">
                <a:ln>
                  <a:noFill/>
                </a:ln>
                <a:solidFill>
                  <a:schemeClr val="tx1"/>
                </a:solidFill>
                <a:effectLst/>
                <a:latin typeface="Arial" panose="020B0604020202020204" pitchFamily="34" charset="0"/>
              </a:rPr>
              <a:t>motion </a:t>
            </a:r>
            <a:r>
              <a:rPr lang="en-US" altLang="en-US" sz="1600" b="1" i="1" dirty="0">
                <a:latin typeface="Arial" panose="020B0604020202020204" pitchFamily="34" charset="0"/>
              </a:rPr>
              <a:t>A</a:t>
            </a:r>
            <a:r>
              <a:rPr kumimoji="0" lang="en-US" altLang="en-US" sz="1600" b="1" i="1" u="none" strike="noStrike" cap="none" normalizeH="0" baseline="0" dirty="0">
                <a:ln>
                  <a:noFill/>
                </a:ln>
                <a:solidFill>
                  <a:schemeClr val="tx1"/>
                </a:solidFill>
                <a:effectLst/>
                <a:latin typeface="Arial" panose="020B0604020202020204" pitchFamily="34" charset="0"/>
              </a:rPr>
              <a:t>nalysis</a:t>
            </a:r>
            <a:r>
              <a:rPr kumimoji="0" lang="en-US" altLang="en-US" sz="1600" b="0" i="1" u="none" strike="noStrike" cap="none" normalizeH="0" baseline="0" dirty="0">
                <a:ln>
                  <a:noFill/>
                </a:ln>
                <a:solidFill>
                  <a:schemeClr val="tx1"/>
                </a:solidFill>
                <a:effectLst/>
                <a:latin typeface="Arial" panose="020B0604020202020204" pitchFamily="34" charset="0"/>
              </a:rPr>
              <a:t> further highlights how content sentiment impacts engagement. Posts associated with </a:t>
            </a:r>
            <a:r>
              <a:rPr kumimoji="0" lang="en-US" altLang="en-US" sz="1600" b="1" i="1" u="none" strike="noStrike" cap="none" normalizeH="0" baseline="0" dirty="0">
                <a:ln>
                  <a:noFill/>
                </a:ln>
                <a:solidFill>
                  <a:schemeClr val="tx1"/>
                </a:solidFill>
                <a:effectLst/>
                <a:latin typeface="Arial" panose="020B0604020202020204" pitchFamily="34" charset="0"/>
              </a:rPr>
              <a:t>Curious</a:t>
            </a:r>
            <a:r>
              <a:rPr kumimoji="0" lang="en-US" altLang="en-US" sz="1600" b="0" i="1" u="none" strike="noStrike" cap="none" normalizeH="0" baseline="0" dirty="0">
                <a:ln>
                  <a:noFill/>
                </a:ln>
                <a:solidFill>
                  <a:schemeClr val="tx1"/>
                </a:solidFill>
                <a:effectLst/>
                <a:latin typeface="Arial" panose="020B0604020202020204" pitchFamily="34" charset="0"/>
              </a:rPr>
              <a:t> emotions achieve the highest average engagement rate at approximately </a:t>
            </a:r>
            <a:r>
              <a:rPr kumimoji="0" lang="en-US" altLang="en-US" sz="1600" b="1" i="1" u="none" strike="noStrike" cap="none" normalizeH="0" baseline="0" dirty="0">
                <a:ln>
                  <a:noFill/>
                </a:ln>
                <a:solidFill>
                  <a:schemeClr val="tx1"/>
                </a:solidFill>
                <a:effectLst/>
                <a:latin typeface="Arial" panose="020B0604020202020204" pitchFamily="34" charset="0"/>
              </a:rPr>
              <a:t>18.6%</a:t>
            </a:r>
            <a:r>
              <a:rPr kumimoji="0" lang="en-US" altLang="en-US" sz="1600" b="0" i="1" u="none" strike="noStrike" cap="none" normalizeH="0" baseline="0" dirty="0">
                <a:ln>
                  <a:noFill/>
                </a:ln>
                <a:solidFill>
                  <a:schemeClr val="tx1"/>
                </a:solidFill>
                <a:effectLst/>
                <a:latin typeface="Arial" panose="020B0604020202020204" pitchFamily="34" charset="0"/>
              </a:rPr>
              <a:t>, along with peak total likes near </a:t>
            </a:r>
            <a:r>
              <a:rPr kumimoji="0" lang="en-US" altLang="en-US" sz="1600" b="1" i="1" u="none" strike="noStrike" cap="none" normalizeH="0" baseline="0" dirty="0">
                <a:ln>
                  <a:noFill/>
                </a:ln>
                <a:solidFill>
                  <a:schemeClr val="tx1"/>
                </a:solidFill>
                <a:effectLst/>
                <a:latin typeface="Arial" panose="020B0604020202020204" pitchFamily="34" charset="0"/>
              </a:rPr>
              <a:t>6M</a:t>
            </a:r>
            <a:r>
              <a:rPr kumimoji="0" lang="en-US" altLang="en-US" sz="1600" b="0" i="1" u="none" strike="noStrike" cap="none" normalizeH="0" baseline="0" dirty="0">
                <a:ln>
                  <a:noFill/>
                </a:ln>
                <a:solidFill>
                  <a:schemeClr val="tx1"/>
                </a:solidFill>
                <a:effectLst/>
                <a:latin typeface="Arial" panose="020B0604020202020204" pitchFamily="34" charset="0"/>
              </a:rPr>
              <a:t>, outperforming other emotions such as Inspired, Confident, and Happy. While total likes remain relatively consistent across emotions (roughly </a:t>
            </a:r>
            <a:r>
              <a:rPr kumimoji="0" lang="en-US" altLang="en-US" sz="1600" b="1" i="1" u="none" strike="noStrike" cap="none" normalizeH="0" baseline="0" dirty="0">
                <a:ln>
                  <a:noFill/>
                </a:ln>
                <a:solidFill>
                  <a:schemeClr val="tx1"/>
                </a:solidFill>
                <a:effectLst/>
                <a:latin typeface="Arial" panose="020B0604020202020204" pitchFamily="34" charset="0"/>
              </a:rPr>
              <a:t>5.7M–6.2M</a:t>
            </a:r>
            <a:r>
              <a:rPr kumimoji="0" lang="en-US" altLang="en-US" sz="1600" b="0" i="1" u="none" strike="noStrike" cap="none" normalizeH="0" baseline="0" dirty="0">
                <a:ln>
                  <a:noFill/>
                </a:ln>
                <a:solidFill>
                  <a:schemeClr val="tx1"/>
                </a:solidFill>
                <a:effectLst/>
                <a:latin typeface="Arial" panose="020B0604020202020204" pitchFamily="34" charset="0"/>
              </a:rPr>
              <a:t>), engagement efficiency varies, suggesting that curiosity-driven content prompts deeper user interaction. Together, these visuals demonstrate that pairing high-performing hashtags with emotionally compelling storytelling—particularly curiosity-led narratives—can significantly enhance both reach and engagement.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094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BBABC5-724E-4A0A-95BF-5F10ECA26E89}"/>
              </a:ext>
            </a:extLst>
          </p:cNvPr>
          <p:cNvPicPr>
            <a:picLocks noChangeAspect="1"/>
          </p:cNvPicPr>
          <p:nvPr/>
        </p:nvPicPr>
        <p:blipFill>
          <a:blip r:embed="rId2"/>
          <a:stretch>
            <a:fillRect/>
          </a:stretch>
        </p:blipFill>
        <p:spPr>
          <a:xfrm>
            <a:off x="339599" y="445577"/>
            <a:ext cx="4644777" cy="4762917"/>
          </a:xfrm>
          <a:prstGeom prst="rect">
            <a:avLst/>
          </a:prstGeom>
        </p:spPr>
      </p:pic>
      <p:sp>
        <p:nvSpPr>
          <p:cNvPr id="7" name="TextBox 6">
            <a:extLst>
              <a:ext uri="{FF2B5EF4-FFF2-40B4-BE49-F238E27FC236}">
                <a16:creationId xmlns:a16="http://schemas.microsoft.com/office/drawing/2014/main" id="{36302668-647F-4B99-B153-7E8774F5E08E}"/>
              </a:ext>
            </a:extLst>
          </p:cNvPr>
          <p:cNvSpPr txBox="1"/>
          <p:nvPr/>
        </p:nvSpPr>
        <p:spPr>
          <a:xfrm>
            <a:off x="5136777" y="335845"/>
            <a:ext cx="6715624" cy="5909310"/>
          </a:xfrm>
          <a:prstGeom prst="rect">
            <a:avLst/>
          </a:prstGeom>
          <a:noFill/>
        </p:spPr>
        <p:txBody>
          <a:bodyPr wrap="square">
            <a:spAutoFit/>
          </a:bodyPr>
          <a:lstStyle/>
          <a:p>
            <a:r>
              <a:rPr lang="en-US" dirty="0"/>
              <a:t>This breakdown provides a holistic view of engagement distribution across both interaction types and post formats. Overall, the account generated approximately </a:t>
            </a:r>
            <a:r>
              <a:rPr lang="en-US" b="1" dirty="0"/>
              <a:t>8M total shares</a:t>
            </a:r>
            <a:r>
              <a:rPr lang="en-US" dirty="0"/>
              <a:t> and </a:t>
            </a:r>
            <a:r>
              <a:rPr lang="en-US" b="1" dirty="0"/>
              <a:t>18M total comments</a:t>
            </a:r>
            <a:r>
              <a:rPr lang="en-US" dirty="0"/>
              <a:t>, indicating strong two-way audience interaction. </a:t>
            </a:r>
          </a:p>
          <a:p>
            <a:r>
              <a:rPr lang="en-US" dirty="0"/>
              <a:t>When analyzing engagement by type, impressions, likes, reach, saves, shares, and comments each contribute evenly at </a:t>
            </a:r>
            <a:r>
              <a:rPr lang="en-US" b="1" dirty="0"/>
              <a:t>100%</a:t>
            </a:r>
            <a:r>
              <a:rPr lang="en-US" dirty="0"/>
              <a:t>, confirming that all interaction metrics are consistently present across the dataset. Shifting focus to post formats under the selected engagement type (Impressions), engagement is distributed almost uniformly across content types, with </a:t>
            </a:r>
            <a:r>
              <a:rPr lang="en-US" b="1" dirty="0"/>
              <a:t>Reels leading slightly at 25.22%</a:t>
            </a:r>
            <a:r>
              <a:rPr lang="en-US" dirty="0"/>
              <a:t>, followed closely by </a:t>
            </a:r>
            <a:r>
              <a:rPr lang="en-US" b="1" dirty="0"/>
              <a:t>Stories at 25.02%</a:t>
            </a:r>
            <a:r>
              <a:rPr lang="en-US" dirty="0"/>
              <a:t>, </a:t>
            </a:r>
            <a:r>
              <a:rPr lang="en-US" b="1" dirty="0"/>
              <a:t>Images at 24.89%</a:t>
            </a:r>
            <a:r>
              <a:rPr lang="en-US" dirty="0"/>
              <a:t>, and </a:t>
            </a:r>
            <a:r>
              <a:rPr lang="en-US" b="1" dirty="0"/>
              <a:t>Videos at 24.87%</a:t>
            </a:r>
            <a:r>
              <a:rPr lang="en-US" dirty="0"/>
              <a:t>. </a:t>
            </a:r>
          </a:p>
          <a:p>
            <a:r>
              <a:rPr lang="en-US" dirty="0"/>
              <a:t>This near-equal split suggests that no single format dominates impressions, highlighting the importance of maintaining a balanced content mix. Overall, the visualization demonstrates that while engagement is spread evenly across formats, Reels and Stories show a marginal edge, reinforcing their role as high-visibility content channels.</a:t>
            </a:r>
            <a:endParaRPr lang="en-IN" dirty="0"/>
          </a:p>
        </p:txBody>
      </p:sp>
    </p:spTree>
    <p:extLst>
      <p:ext uri="{BB962C8B-B14F-4D97-AF65-F5344CB8AC3E}">
        <p14:creationId xmlns:p14="http://schemas.microsoft.com/office/powerpoint/2010/main" val="1320038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D2A4-B3FA-46B1-A928-A6DFF398FEA8}"/>
              </a:ext>
            </a:extLst>
          </p:cNvPr>
          <p:cNvSpPr>
            <a:spLocks noGrp="1"/>
          </p:cNvSpPr>
          <p:nvPr>
            <p:ph type="title"/>
          </p:nvPr>
        </p:nvSpPr>
        <p:spPr>
          <a:xfrm>
            <a:off x="407895" y="98611"/>
            <a:ext cx="10515600" cy="722500"/>
          </a:xfrm>
        </p:spPr>
        <p:txBody>
          <a:bodyPr/>
          <a:lstStyle/>
          <a:p>
            <a:r>
              <a:rPr lang="en-US" dirty="0"/>
              <a:t>Campaign Analysis</a:t>
            </a:r>
            <a:endParaRPr lang="en-IN" dirty="0"/>
          </a:p>
        </p:txBody>
      </p:sp>
      <p:pic>
        <p:nvPicPr>
          <p:cNvPr id="15" name="Content Placeholder 14">
            <a:extLst>
              <a:ext uri="{FF2B5EF4-FFF2-40B4-BE49-F238E27FC236}">
                <a16:creationId xmlns:a16="http://schemas.microsoft.com/office/drawing/2014/main" id="{26CECCCB-39B2-47FF-8DEE-0831AD6F1621}"/>
              </a:ext>
            </a:extLst>
          </p:cNvPr>
          <p:cNvPicPr>
            <a:picLocks noGrp="1" noChangeAspect="1"/>
          </p:cNvPicPr>
          <p:nvPr>
            <p:ph idx="1"/>
          </p:nvPr>
        </p:nvPicPr>
        <p:blipFill>
          <a:blip r:embed="rId2"/>
          <a:stretch>
            <a:fillRect/>
          </a:stretch>
        </p:blipFill>
        <p:spPr>
          <a:xfrm>
            <a:off x="228600" y="993391"/>
            <a:ext cx="5688106" cy="3085436"/>
          </a:xfrm>
        </p:spPr>
      </p:pic>
      <p:sp>
        <p:nvSpPr>
          <p:cNvPr id="17" name="TextBox 16">
            <a:extLst>
              <a:ext uri="{FF2B5EF4-FFF2-40B4-BE49-F238E27FC236}">
                <a16:creationId xmlns:a16="http://schemas.microsoft.com/office/drawing/2014/main" id="{351C37AB-15EB-4BD9-9F30-F0A15B10F109}"/>
              </a:ext>
            </a:extLst>
          </p:cNvPr>
          <p:cNvSpPr txBox="1"/>
          <p:nvPr/>
        </p:nvSpPr>
        <p:spPr>
          <a:xfrm>
            <a:off x="5988423" y="921673"/>
            <a:ext cx="6096000" cy="5355312"/>
          </a:xfrm>
          <a:prstGeom prst="rect">
            <a:avLst/>
          </a:prstGeom>
          <a:noFill/>
        </p:spPr>
        <p:txBody>
          <a:bodyPr wrap="square">
            <a:spAutoFit/>
          </a:bodyPr>
          <a:lstStyle/>
          <a:p>
            <a:r>
              <a:rPr lang="en-US" dirty="0"/>
              <a:t>This visualization compares reach performance across different campaign types—Festive Offers, Giveaways, Influencer Collaborations, Product Launches, and Tutorials—over the course of the year. Overall reach contribution remains relatively stable month-to-month, averaging around </a:t>
            </a:r>
            <a:r>
              <a:rPr lang="en-US" b="1" dirty="0"/>
              <a:t>1.5%–1.8% per campaign type</a:t>
            </a:r>
            <a:r>
              <a:rPr lang="en-US" dirty="0"/>
              <a:t>, indicating consistent audience exposure throughout the year. However, noticeable peaks appear during </a:t>
            </a:r>
            <a:r>
              <a:rPr lang="en-US" b="1" dirty="0"/>
              <a:t>August and December</a:t>
            </a:r>
            <a:r>
              <a:rPr lang="en-US" dirty="0"/>
              <a:t>, where reach approaches </a:t>
            </a:r>
            <a:r>
              <a:rPr lang="en-US" b="1" dirty="0"/>
              <a:t>~1.9%</a:t>
            </a:r>
            <a:r>
              <a:rPr lang="en-US" dirty="0"/>
              <a:t>, suggesting heightened audience activity during seasonal and year-end periods. Among campaign formats, </a:t>
            </a:r>
            <a:r>
              <a:rPr lang="en-US" b="1" dirty="0"/>
              <a:t>Product Launches and Tutorials</a:t>
            </a:r>
            <a:r>
              <a:rPr lang="en-US" dirty="0"/>
              <a:t> frequently lead in monthly reach, particularly in high-performing months such as March, August, and December, highlighting their effectiveness in driving visibility. This pattern indicates that strategically timing major launches and educational content around peak months can help maximize campaign reach and audience discovery.</a:t>
            </a:r>
            <a:endParaRPr lang="en-IN" dirty="0"/>
          </a:p>
        </p:txBody>
      </p:sp>
    </p:spTree>
    <p:extLst>
      <p:ext uri="{BB962C8B-B14F-4D97-AF65-F5344CB8AC3E}">
        <p14:creationId xmlns:p14="http://schemas.microsoft.com/office/powerpoint/2010/main" val="2108160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0E7C83-95E9-427B-90AB-09206A08A6B4}"/>
              </a:ext>
            </a:extLst>
          </p:cNvPr>
          <p:cNvPicPr>
            <a:picLocks noChangeAspect="1"/>
          </p:cNvPicPr>
          <p:nvPr/>
        </p:nvPicPr>
        <p:blipFill>
          <a:blip r:embed="rId2"/>
          <a:stretch>
            <a:fillRect/>
          </a:stretch>
        </p:blipFill>
        <p:spPr>
          <a:xfrm>
            <a:off x="6624921" y="253370"/>
            <a:ext cx="5091953" cy="3291488"/>
          </a:xfrm>
          <a:prstGeom prst="rect">
            <a:avLst/>
          </a:prstGeom>
          <a:ln>
            <a:solidFill>
              <a:schemeClr val="tx1"/>
            </a:solidFill>
          </a:ln>
        </p:spPr>
      </p:pic>
      <p:pic>
        <p:nvPicPr>
          <p:cNvPr id="8" name="Picture 7">
            <a:extLst>
              <a:ext uri="{FF2B5EF4-FFF2-40B4-BE49-F238E27FC236}">
                <a16:creationId xmlns:a16="http://schemas.microsoft.com/office/drawing/2014/main" id="{DFB1E6D3-144C-41A5-A7B5-F5F05B0127E3}"/>
              </a:ext>
            </a:extLst>
          </p:cNvPr>
          <p:cNvPicPr>
            <a:picLocks noChangeAspect="1"/>
          </p:cNvPicPr>
          <p:nvPr/>
        </p:nvPicPr>
        <p:blipFill>
          <a:blip r:embed="rId3"/>
          <a:stretch>
            <a:fillRect/>
          </a:stretch>
        </p:blipFill>
        <p:spPr>
          <a:xfrm>
            <a:off x="475126" y="253369"/>
            <a:ext cx="5531227" cy="3291488"/>
          </a:xfrm>
          <a:prstGeom prst="rect">
            <a:avLst/>
          </a:prstGeom>
        </p:spPr>
      </p:pic>
      <p:sp>
        <p:nvSpPr>
          <p:cNvPr id="9" name="Rectangle 1">
            <a:extLst>
              <a:ext uri="{FF2B5EF4-FFF2-40B4-BE49-F238E27FC236}">
                <a16:creationId xmlns:a16="http://schemas.microsoft.com/office/drawing/2014/main" id="{BF5A89E0-CA12-4E37-83E3-EAB39972934D}"/>
              </a:ext>
            </a:extLst>
          </p:cNvPr>
          <p:cNvSpPr>
            <a:spLocks noChangeArrowheads="1"/>
          </p:cNvSpPr>
          <p:nvPr/>
        </p:nvSpPr>
        <p:spPr bwMode="auto">
          <a:xfrm>
            <a:off x="378070" y="3718679"/>
            <a:ext cx="572533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Arial" panose="020B0604020202020204" pitchFamily="34" charset="0"/>
              </a:rPr>
              <a:t>The </a:t>
            </a:r>
            <a:r>
              <a:rPr lang="en-US" altLang="en-US" b="1" i="1" dirty="0">
                <a:latin typeface="Arial" panose="020B0604020202020204" pitchFamily="34" charset="0"/>
              </a:rPr>
              <a:t>S</a:t>
            </a:r>
            <a:r>
              <a:rPr kumimoji="0" lang="en-US" altLang="en-US" sz="1800" b="1" i="1" u="none" strike="noStrike" cap="none" normalizeH="0" baseline="0" dirty="0">
                <a:ln>
                  <a:noFill/>
                </a:ln>
                <a:solidFill>
                  <a:schemeClr val="tx1"/>
                </a:solidFill>
                <a:effectLst/>
                <a:latin typeface="Arial" panose="020B0604020202020204" pitchFamily="34" charset="0"/>
              </a:rPr>
              <a:t>hares </a:t>
            </a:r>
            <a:r>
              <a:rPr lang="en-US" altLang="en-US" b="1" i="1" dirty="0">
                <a:latin typeface="Arial" panose="020B0604020202020204" pitchFamily="34" charset="0"/>
              </a:rPr>
              <a:t>A</a:t>
            </a:r>
            <a:r>
              <a:rPr kumimoji="0" lang="en-US" altLang="en-US" sz="1800" b="1" i="1" u="none" strike="noStrike" cap="none" normalizeH="0" baseline="0" dirty="0">
                <a:ln>
                  <a:noFill/>
                </a:ln>
                <a:solidFill>
                  <a:schemeClr val="tx1"/>
                </a:solidFill>
                <a:effectLst/>
                <a:latin typeface="Arial" panose="020B0604020202020204" pitchFamily="34" charset="0"/>
              </a:rPr>
              <a:t>nalysis </a:t>
            </a:r>
            <a:r>
              <a:rPr kumimoji="0" lang="en-US" altLang="en-US" sz="1800" b="0" i="1" u="none" strike="noStrike" cap="none" normalizeH="0" baseline="0" dirty="0">
                <a:ln>
                  <a:noFill/>
                </a:ln>
                <a:solidFill>
                  <a:schemeClr val="tx1"/>
                </a:solidFill>
                <a:effectLst/>
                <a:latin typeface="Arial" panose="020B0604020202020204" pitchFamily="34" charset="0"/>
              </a:rPr>
              <a:t>shows that all major hashtag groups—</a:t>
            </a:r>
            <a:r>
              <a:rPr kumimoji="0" lang="en-US" altLang="en-US" sz="1800" b="1" i="1" u="none" strike="noStrike" cap="none" normalizeH="0" baseline="0" dirty="0">
                <a:ln>
                  <a:noFill/>
                </a:ln>
                <a:solidFill>
                  <a:schemeClr val="tx1"/>
                </a:solidFill>
                <a:effectLst/>
                <a:latin typeface="Arial" panose="020B0604020202020204" pitchFamily="34" charset="0"/>
              </a:rPr>
              <a:t>#CrueltyFree, #MakeupGoals, #VeganBeauty, #SugarCosmetics, and #BoldLooks</a:t>
            </a:r>
            <a:r>
              <a:rPr kumimoji="0" lang="en-US" altLang="en-US" sz="1800" b="0" i="1" u="none" strike="noStrike" cap="none" normalizeH="0" baseline="0" dirty="0">
                <a:ln>
                  <a:noFill/>
                </a:ln>
                <a:solidFill>
                  <a:schemeClr val="tx1"/>
                </a:solidFill>
                <a:effectLst/>
                <a:latin typeface="Arial" panose="020B0604020202020204" pitchFamily="34" charset="0"/>
              </a:rPr>
              <a:t>—consistently generate high sharing activity across campaign types, with each combination contributing approximately </a:t>
            </a:r>
            <a:r>
              <a:rPr kumimoji="0" lang="en-US" altLang="en-US" sz="1800" b="1" i="1" u="none" strike="noStrike" cap="none" normalizeH="0" baseline="0" dirty="0">
                <a:ln>
                  <a:noFill/>
                </a:ln>
                <a:solidFill>
                  <a:schemeClr val="tx1"/>
                </a:solidFill>
                <a:effectLst/>
                <a:latin typeface="Arial" panose="020B0604020202020204" pitchFamily="34" charset="0"/>
              </a:rPr>
              <a:t>0.28M–0.32M shares</a:t>
            </a:r>
            <a:r>
              <a:rPr kumimoji="0" lang="en-US" altLang="en-US" sz="1800" b="0" i="1" u="none" strike="noStrike" cap="none" normalizeH="0" baseline="0" dirty="0">
                <a:ln>
                  <a:noFill/>
                </a:ln>
                <a:solidFill>
                  <a:schemeClr val="tx1"/>
                </a:solidFill>
                <a:effectLst/>
                <a:latin typeface="Arial" panose="020B0604020202020204" pitchFamily="34" charset="0"/>
              </a:rPr>
              <a:t>. Among campaigns, </a:t>
            </a:r>
            <a:r>
              <a:rPr kumimoji="0" lang="en-US" altLang="en-US" sz="1800" b="1" i="1" u="none" strike="noStrike" cap="none" normalizeH="0" baseline="0" dirty="0">
                <a:ln>
                  <a:noFill/>
                </a:ln>
                <a:solidFill>
                  <a:schemeClr val="tx1"/>
                </a:solidFill>
                <a:effectLst/>
                <a:latin typeface="Arial" panose="020B0604020202020204" pitchFamily="34" charset="0"/>
              </a:rPr>
              <a:t>Tutorials and Giveaways</a:t>
            </a:r>
            <a:r>
              <a:rPr kumimoji="0" lang="en-US" altLang="en-US" sz="1800" b="0" i="1" u="none" strike="noStrike" cap="none" normalizeH="0" baseline="0" dirty="0">
                <a:ln>
                  <a:noFill/>
                </a:ln>
                <a:solidFill>
                  <a:schemeClr val="tx1"/>
                </a:solidFill>
                <a:effectLst/>
                <a:latin typeface="Arial" panose="020B0604020202020204" pitchFamily="34" charset="0"/>
              </a:rPr>
              <a:t> slightly outperform others across most hashtag groups, indicating that educational and incentive-based content is more likely to be redistributed by users.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1"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FDAA8A26-537D-48B3-A8CC-B9B73A44957B}"/>
              </a:ext>
            </a:extLst>
          </p:cNvPr>
          <p:cNvSpPr txBox="1"/>
          <p:nvPr/>
        </p:nvSpPr>
        <p:spPr>
          <a:xfrm>
            <a:off x="6308228" y="3718679"/>
            <a:ext cx="5725337"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Arial" panose="020B0604020202020204" pitchFamily="34" charset="0"/>
              </a:rPr>
              <a:t>The </a:t>
            </a:r>
            <a:r>
              <a:rPr lang="en-US" altLang="en-US" b="1" i="1" dirty="0" err="1">
                <a:latin typeface="Arial" panose="020B0604020202020204" pitchFamily="34" charset="0"/>
              </a:rPr>
              <a:t>T</a:t>
            </a:r>
            <a:r>
              <a:rPr kumimoji="0" lang="en-US" altLang="en-US" sz="1800" b="1" i="1" u="none" strike="noStrike" cap="none" normalizeH="0" baseline="0" dirty="0" err="1">
                <a:ln>
                  <a:noFill/>
                </a:ln>
                <a:solidFill>
                  <a:schemeClr val="tx1"/>
                </a:solidFill>
                <a:effectLst/>
                <a:latin typeface="Arial" panose="020B0604020202020204" pitchFamily="34" charset="0"/>
              </a:rPr>
              <a:t>reemap</a:t>
            </a:r>
            <a:r>
              <a:rPr kumimoji="0" lang="en-US" altLang="en-US" sz="1800" b="1" i="1" u="none" strike="noStrike" cap="none" normalizeH="0" baseline="0" dirty="0">
                <a:ln>
                  <a:noFill/>
                </a:ln>
                <a:solidFill>
                  <a:schemeClr val="tx1"/>
                </a:solidFill>
                <a:effectLst/>
                <a:latin typeface="Arial" panose="020B0604020202020204" pitchFamily="34" charset="0"/>
              </a:rPr>
              <a:t> visualization </a:t>
            </a:r>
            <a:r>
              <a:rPr kumimoji="0" lang="en-US" altLang="en-US" sz="1800" b="0" i="1" u="none" strike="noStrike" cap="none" normalizeH="0" baseline="0" dirty="0">
                <a:ln>
                  <a:noFill/>
                </a:ln>
                <a:solidFill>
                  <a:schemeClr val="tx1"/>
                </a:solidFill>
                <a:effectLst/>
                <a:latin typeface="Arial" panose="020B0604020202020204" pitchFamily="34" charset="0"/>
              </a:rPr>
              <a:t>further breaks down </a:t>
            </a:r>
            <a:r>
              <a:rPr kumimoji="0" lang="en-US" altLang="en-US" sz="1800" b="1" i="1" u="none" strike="noStrike" cap="none" normalizeH="0" baseline="0" dirty="0">
                <a:ln>
                  <a:noFill/>
                </a:ln>
                <a:solidFill>
                  <a:schemeClr val="tx1"/>
                </a:solidFill>
                <a:effectLst/>
                <a:latin typeface="Arial" panose="020B0604020202020204" pitchFamily="34" charset="0"/>
              </a:rPr>
              <a:t>profile visits by campaign type and post format</a:t>
            </a:r>
            <a:r>
              <a:rPr lang="en-US" altLang="en-US" i="1" dirty="0">
                <a:latin typeface="Arial" panose="020B0604020202020204" pitchFamily="34" charset="0"/>
              </a:rPr>
              <a:t>.</a:t>
            </a:r>
            <a:r>
              <a:rPr kumimoji="0" lang="en-US" altLang="en-US" sz="1800" b="0" i="1" u="none" strike="noStrike" cap="none" normalizeH="0" baseline="0" dirty="0">
                <a:ln>
                  <a:noFill/>
                </a:ln>
                <a:solidFill>
                  <a:schemeClr val="tx1"/>
                </a:solidFill>
                <a:effectLst/>
                <a:latin typeface="Arial" panose="020B0604020202020204" pitchFamily="34" charset="0"/>
              </a:rPr>
              <a:t> Within each campaign, </a:t>
            </a:r>
            <a:r>
              <a:rPr kumimoji="0" lang="en-US" altLang="en-US" sz="1800" b="1" i="1" u="none" strike="noStrike" cap="none" normalizeH="0" baseline="0" dirty="0">
                <a:ln>
                  <a:noFill/>
                </a:ln>
                <a:solidFill>
                  <a:schemeClr val="tx1"/>
                </a:solidFill>
                <a:effectLst/>
                <a:latin typeface="Arial" panose="020B0604020202020204" pitchFamily="34" charset="0"/>
              </a:rPr>
              <a:t>Reels, Images, Videos, and Stories each contribute roughly ~4.8%–5.2%</a:t>
            </a:r>
            <a:r>
              <a:rPr kumimoji="0" lang="en-US" altLang="en-US" sz="1800" b="0" i="1" u="none" strike="noStrike" cap="none" normalizeH="0" baseline="0" dirty="0">
                <a:ln>
                  <a:noFill/>
                </a:ln>
                <a:solidFill>
                  <a:schemeClr val="tx1"/>
                </a:solidFill>
                <a:effectLst/>
                <a:latin typeface="Arial" panose="020B0604020202020204" pitchFamily="34" charset="0"/>
              </a:rPr>
              <a:t> of total profile visits, suggesting no single format overwhelmingly dominates traffic. However, </a:t>
            </a:r>
            <a:r>
              <a:rPr kumimoji="0" lang="en-US" altLang="en-US" sz="1800" b="1" i="1" u="none" strike="noStrike" cap="none" normalizeH="0" baseline="0" dirty="0">
                <a:ln>
                  <a:noFill/>
                </a:ln>
                <a:solidFill>
                  <a:schemeClr val="tx1"/>
                </a:solidFill>
                <a:effectLst/>
                <a:latin typeface="Arial" panose="020B0604020202020204" pitchFamily="34" charset="0"/>
              </a:rPr>
              <a:t>Tutorial and Giveaway campaigns</a:t>
            </a:r>
            <a:r>
              <a:rPr kumimoji="0" lang="en-US" altLang="en-US" sz="1800" b="0" i="1" u="none" strike="noStrike" cap="none" normalizeH="0" baseline="0" dirty="0">
                <a:ln>
                  <a:noFill/>
                </a:ln>
                <a:solidFill>
                  <a:schemeClr val="tx1"/>
                </a:solidFill>
                <a:effectLst/>
                <a:latin typeface="Arial" panose="020B0604020202020204" pitchFamily="34" charset="0"/>
              </a:rPr>
              <a:t> show marginally higher contributions—particularly through Stories and Reels (~5.1%–5.2%)—reinforcing their effectiveness in driving users from content to profile exploration.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5363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B9544-151C-488C-BC18-F59841CBFAD2}"/>
              </a:ext>
            </a:extLst>
          </p:cNvPr>
          <p:cNvSpPr>
            <a:spLocks noGrp="1"/>
          </p:cNvSpPr>
          <p:nvPr>
            <p:ph type="title"/>
          </p:nvPr>
        </p:nvSpPr>
        <p:spPr>
          <a:xfrm>
            <a:off x="439923" y="-62753"/>
            <a:ext cx="9404723" cy="726141"/>
          </a:xfrm>
        </p:spPr>
        <p:txBody>
          <a:bodyPr/>
          <a:lstStyle/>
          <a:p>
            <a:r>
              <a:rPr lang="en-US" dirty="0"/>
              <a:t>Hashtag Analysis</a:t>
            </a:r>
            <a:endParaRPr lang="en-IN" dirty="0"/>
          </a:p>
        </p:txBody>
      </p:sp>
      <p:pic>
        <p:nvPicPr>
          <p:cNvPr id="5" name="Content Placeholder 4">
            <a:extLst>
              <a:ext uri="{FF2B5EF4-FFF2-40B4-BE49-F238E27FC236}">
                <a16:creationId xmlns:a16="http://schemas.microsoft.com/office/drawing/2014/main" id="{70CEF0A1-7654-4DA6-A152-0E40B5AD4C9A}"/>
              </a:ext>
            </a:extLst>
          </p:cNvPr>
          <p:cNvPicPr>
            <a:picLocks noGrp="1" noChangeAspect="1"/>
          </p:cNvPicPr>
          <p:nvPr>
            <p:ph idx="1"/>
          </p:nvPr>
        </p:nvPicPr>
        <p:blipFill>
          <a:blip r:embed="rId2"/>
          <a:stretch>
            <a:fillRect/>
          </a:stretch>
        </p:blipFill>
        <p:spPr>
          <a:xfrm>
            <a:off x="439923" y="887290"/>
            <a:ext cx="5180948" cy="2662734"/>
          </a:xfrm>
        </p:spPr>
      </p:pic>
      <p:pic>
        <p:nvPicPr>
          <p:cNvPr id="7" name="Picture 6">
            <a:extLst>
              <a:ext uri="{FF2B5EF4-FFF2-40B4-BE49-F238E27FC236}">
                <a16:creationId xmlns:a16="http://schemas.microsoft.com/office/drawing/2014/main" id="{F10666E0-D9E5-401E-B220-CAEB4BF5A4F0}"/>
              </a:ext>
            </a:extLst>
          </p:cNvPr>
          <p:cNvPicPr>
            <a:picLocks noChangeAspect="1"/>
          </p:cNvPicPr>
          <p:nvPr/>
        </p:nvPicPr>
        <p:blipFill>
          <a:blip r:embed="rId3"/>
          <a:stretch>
            <a:fillRect/>
          </a:stretch>
        </p:blipFill>
        <p:spPr>
          <a:xfrm>
            <a:off x="5887076" y="887290"/>
            <a:ext cx="5327282" cy="2662734"/>
          </a:xfrm>
          <a:prstGeom prst="rect">
            <a:avLst/>
          </a:prstGeom>
        </p:spPr>
      </p:pic>
      <p:sp>
        <p:nvSpPr>
          <p:cNvPr id="8" name="Rectangle 1">
            <a:extLst>
              <a:ext uri="{FF2B5EF4-FFF2-40B4-BE49-F238E27FC236}">
                <a16:creationId xmlns:a16="http://schemas.microsoft.com/office/drawing/2014/main" id="{62039C55-C9FF-455F-9824-D15722FAC9C3}"/>
              </a:ext>
            </a:extLst>
          </p:cNvPr>
          <p:cNvSpPr>
            <a:spLocks noChangeArrowheads="1"/>
          </p:cNvSpPr>
          <p:nvPr/>
        </p:nvSpPr>
        <p:spPr bwMode="auto">
          <a:xfrm>
            <a:off x="339699" y="3648636"/>
            <a:ext cx="1109475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Arial" panose="020B0604020202020204" pitchFamily="34" charset="0"/>
              </a:rPr>
              <a:t>The hashtag reach analysis highlights a clear performance gap between single branded hashtags and combined hashtag groups. Individually, </a:t>
            </a:r>
            <a:r>
              <a:rPr kumimoji="0" lang="en-US" altLang="en-US" sz="1800" b="1" i="1" u="none" strike="noStrike" cap="none" normalizeH="0" baseline="0" dirty="0">
                <a:ln>
                  <a:noFill/>
                </a:ln>
                <a:solidFill>
                  <a:schemeClr val="tx1"/>
                </a:solidFill>
                <a:effectLst/>
                <a:latin typeface="Arial" panose="020B0604020202020204" pitchFamily="34" charset="0"/>
              </a:rPr>
              <a:t>#MakeupGoals, #CrueltyFree, #BoldLooks, #SugarCosmetics, and #VeganBeauty</a:t>
            </a:r>
            <a:r>
              <a:rPr kumimoji="0" lang="en-US" altLang="en-US" sz="1800" b="0" i="1" u="none" strike="noStrike" cap="none" normalizeH="0" baseline="0" dirty="0">
                <a:ln>
                  <a:noFill/>
                </a:ln>
                <a:solidFill>
                  <a:schemeClr val="tx1"/>
                </a:solidFill>
                <a:effectLst/>
                <a:latin typeface="Arial" panose="020B0604020202020204" pitchFamily="34" charset="0"/>
              </a:rPr>
              <a:t> dominate visibility, each driving approximately </a:t>
            </a:r>
            <a:r>
              <a:rPr kumimoji="0" lang="en-US" altLang="en-US" sz="1800" b="1" i="1" u="none" strike="noStrike" cap="none" normalizeH="0" baseline="0" dirty="0">
                <a:ln>
                  <a:noFill/>
                </a:ln>
                <a:solidFill>
                  <a:schemeClr val="tx1"/>
                </a:solidFill>
                <a:effectLst/>
                <a:latin typeface="Arial" panose="020B0604020202020204" pitchFamily="34" charset="0"/>
              </a:rPr>
              <a:t>60M–65M in total reach</a:t>
            </a:r>
            <a:r>
              <a:rPr kumimoji="0" lang="en-US" altLang="en-US" sz="1800" b="0" i="1" u="none" strike="noStrike" cap="none" normalizeH="0" baseline="0" dirty="0">
                <a:ln>
                  <a:noFill/>
                </a:ln>
                <a:solidFill>
                  <a:schemeClr val="tx1"/>
                </a:solidFill>
                <a:effectLst/>
                <a:latin typeface="Arial" panose="020B0604020202020204" pitchFamily="34" charset="0"/>
              </a:rPr>
              <a:t>, significantly outperforming multi-hashtag combinations, which average closer to </a:t>
            </a:r>
            <a:r>
              <a:rPr kumimoji="0" lang="en-US" altLang="en-US" sz="1800" b="1" i="1" u="none" strike="noStrike" cap="none" normalizeH="0" baseline="0" dirty="0">
                <a:ln>
                  <a:noFill/>
                </a:ln>
                <a:solidFill>
                  <a:schemeClr val="tx1"/>
                </a:solidFill>
                <a:effectLst/>
                <a:latin typeface="Arial" panose="020B0604020202020204" pitchFamily="34" charset="0"/>
              </a:rPr>
              <a:t>15M–20M</a:t>
            </a:r>
            <a:r>
              <a:rPr kumimoji="0" lang="en-US" altLang="en-US" sz="1800" b="0" i="1" u="none" strike="noStrike" cap="none" normalizeH="0" baseline="0" dirty="0">
                <a:ln>
                  <a:noFill/>
                </a:ln>
                <a:solidFill>
                  <a:schemeClr val="tx1"/>
                </a:solidFill>
                <a:effectLst/>
                <a:latin typeface="Arial" panose="020B0604020202020204" pitchFamily="34" charset="0"/>
              </a:rPr>
              <a:t>. At the grouped level, combinations led by </a:t>
            </a:r>
            <a:r>
              <a:rPr kumimoji="0" lang="en-US" altLang="en-US" sz="1800" b="1" i="1" u="none" strike="noStrike" cap="none" normalizeH="0" baseline="0" dirty="0">
                <a:ln>
                  <a:noFill/>
                </a:ln>
                <a:solidFill>
                  <a:schemeClr val="tx1"/>
                </a:solidFill>
                <a:effectLst/>
                <a:latin typeface="Arial" panose="020B0604020202020204" pitchFamily="34" charset="0"/>
              </a:rPr>
              <a:t>#CrueltyFree</a:t>
            </a:r>
            <a:r>
              <a:rPr kumimoji="0" lang="en-US" altLang="en-US" sz="1800" b="0" i="1" u="none" strike="noStrike" cap="none" normalizeH="0" baseline="0" dirty="0">
                <a:ln>
                  <a:noFill/>
                </a:ln>
                <a:solidFill>
                  <a:schemeClr val="tx1"/>
                </a:solidFill>
                <a:effectLst/>
                <a:latin typeface="Arial" panose="020B0604020202020204" pitchFamily="34" charset="0"/>
              </a:rPr>
              <a:t> achieve the highest reach contribution at approximately </a:t>
            </a:r>
            <a:r>
              <a:rPr kumimoji="0" lang="en-US" altLang="en-US" sz="1800" b="1" i="1" u="none" strike="noStrike" cap="none" normalizeH="0" baseline="0" dirty="0">
                <a:ln>
                  <a:noFill/>
                </a:ln>
                <a:solidFill>
                  <a:schemeClr val="tx1"/>
                </a:solidFill>
                <a:effectLst/>
                <a:latin typeface="Arial" panose="020B0604020202020204" pitchFamily="34" charset="0"/>
              </a:rPr>
              <a:t>20.4%</a:t>
            </a:r>
            <a:r>
              <a:rPr kumimoji="0" lang="en-US" altLang="en-US" sz="1800" b="0" i="1" u="none" strike="noStrike" cap="none" normalizeH="0" baseline="0" dirty="0">
                <a:ln>
                  <a:noFill/>
                </a:ln>
                <a:solidFill>
                  <a:schemeClr val="tx1"/>
                </a:solidFill>
                <a:effectLst/>
                <a:latin typeface="Arial" panose="020B0604020202020204" pitchFamily="34" charset="0"/>
              </a:rPr>
              <a:t>, followed by </a:t>
            </a:r>
            <a:r>
              <a:rPr kumimoji="0" lang="en-US" altLang="en-US" sz="1800" b="1" i="1" u="none" strike="noStrike" cap="none" normalizeH="0" baseline="0" dirty="0">
                <a:ln>
                  <a:noFill/>
                </a:ln>
                <a:solidFill>
                  <a:schemeClr val="tx1"/>
                </a:solidFill>
                <a:effectLst/>
                <a:latin typeface="Arial" panose="020B0604020202020204" pitchFamily="34" charset="0"/>
              </a:rPr>
              <a:t>#MakeupGoals (~20.0%)</a:t>
            </a:r>
            <a:r>
              <a:rPr kumimoji="0" lang="en-US" altLang="en-US" sz="1800" b="0" i="1" u="none" strike="noStrike" cap="none" normalizeH="0" baseline="0" dirty="0">
                <a:ln>
                  <a:noFill/>
                </a:ln>
                <a:solidFill>
                  <a:schemeClr val="tx1"/>
                </a:solidFill>
                <a:effectLst/>
                <a:latin typeface="Arial" panose="020B0604020202020204" pitchFamily="34" charset="0"/>
              </a:rPr>
              <a:t> and </a:t>
            </a:r>
            <a:r>
              <a:rPr kumimoji="0" lang="en-US" altLang="en-US" sz="1800" b="1" i="1" u="none" strike="noStrike" cap="none" normalizeH="0" baseline="0" dirty="0">
                <a:ln>
                  <a:noFill/>
                </a:ln>
                <a:solidFill>
                  <a:schemeClr val="tx1"/>
                </a:solidFill>
                <a:effectLst/>
                <a:latin typeface="Arial" panose="020B0604020202020204" pitchFamily="34" charset="0"/>
              </a:rPr>
              <a:t>#BoldLooks (~19.9%)</a:t>
            </a:r>
            <a:r>
              <a:rPr kumimoji="0" lang="en-US" altLang="en-US" sz="1800" b="0" i="1" u="none" strike="noStrike" cap="none" normalizeH="0" baseline="0" dirty="0">
                <a:ln>
                  <a:noFill/>
                </a:ln>
                <a:solidFill>
                  <a:schemeClr val="tx1"/>
                </a:solidFill>
                <a:effectLst/>
                <a:latin typeface="Arial" panose="020B0604020202020204" pitchFamily="34" charset="0"/>
              </a:rPr>
              <a:t>, indicating that ethical and aspirational themes resonate most strongly with the audience.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Arial" panose="020B0604020202020204" pitchFamily="34" charset="0"/>
              </a:rPr>
              <a:t>Overall, the results suggest that while combining hashtags offers breadth, single high-performing branded or value-led hashtags deliver substantially greater reach. Prioritizing primary tags such as </a:t>
            </a:r>
            <a:r>
              <a:rPr kumimoji="0" lang="en-US" altLang="en-US" sz="1800" b="1" i="1" u="none" strike="noStrike" cap="none" normalizeH="0" baseline="0" dirty="0">
                <a:ln>
                  <a:noFill/>
                </a:ln>
                <a:solidFill>
                  <a:schemeClr val="tx1"/>
                </a:solidFill>
                <a:effectLst/>
                <a:latin typeface="Arial" panose="020B0604020202020204" pitchFamily="34" charset="0"/>
              </a:rPr>
              <a:t>#CrueltyFree</a:t>
            </a:r>
            <a:r>
              <a:rPr kumimoji="0" lang="en-US" altLang="en-US" sz="1800" b="0" i="1" u="none" strike="noStrike" cap="none" normalizeH="0" baseline="0" dirty="0">
                <a:ln>
                  <a:noFill/>
                </a:ln>
                <a:solidFill>
                  <a:schemeClr val="tx1"/>
                </a:solidFill>
                <a:effectLst/>
                <a:latin typeface="Arial" panose="020B0604020202020204" pitchFamily="34" charset="0"/>
              </a:rPr>
              <a:t> and </a:t>
            </a:r>
            <a:r>
              <a:rPr kumimoji="0" lang="en-US" altLang="en-US" sz="1800" b="1" i="1" u="none" strike="noStrike" cap="none" normalizeH="0" baseline="0" dirty="0">
                <a:ln>
                  <a:noFill/>
                </a:ln>
                <a:solidFill>
                  <a:schemeClr val="tx1"/>
                </a:solidFill>
                <a:effectLst/>
                <a:latin typeface="Arial" panose="020B0604020202020204" pitchFamily="34" charset="0"/>
              </a:rPr>
              <a:t>#MakeupGoals</a:t>
            </a:r>
            <a:r>
              <a:rPr kumimoji="0" lang="en-US" altLang="en-US" sz="1800" b="0" i="1" u="none" strike="noStrike" cap="none" normalizeH="0" baseline="0" dirty="0">
                <a:ln>
                  <a:noFill/>
                </a:ln>
                <a:solidFill>
                  <a:schemeClr val="tx1"/>
                </a:solidFill>
                <a:effectLst/>
                <a:latin typeface="Arial" panose="020B0604020202020204" pitchFamily="34" charset="0"/>
              </a:rPr>
              <a:t>—and selectively layering secondary hashtags—can help maximize discoverability while maintaining relevance.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70218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D1E42-5074-4EBA-9E46-04638254ED35}"/>
              </a:ext>
            </a:extLst>
          </p:cNvPr>
          <p:cNvSpPr>
            <a:spLocks noGrp="1"/>
          </p:cNvSpPr>
          <p:nvPr>
            <p:ph type="title"/>
          </p:nvPr>
        </p:nvSpPr>
        <p:spPr>
          <a:xfrm>
            <a:off x="645130" y="147918"/>
            <a:ext cx="9404723" cy="739588"/>
          </a:xfrm>
        </p:spPr>
        <p:txBody>
          <a:bodyPr/>
          <a:lstStyle/>
          <a:p>
            <a:r>
              <a:rPr lang="en-US" dirty="0"/>
              <a:t>Key Takeaways</a:t>
            </a:r>
            <a:endParaRPr lang="en-IN" dirty="0"/>
          </a:p>
        </p:txBody>
      </p:sp>
      <p:sp>
        <p:nvSpPr>
          <p:cNvPr id="3" name="Content Placeholder 2">
            <a:extLst>
              <a:ext uri="{FF2B5EF4-FFF2-40B4-BE49-F238E27FC236}">
                <a16:creationId xmlns:a16="http://schemas.microsoft.com/office/drawing/2014/main" id="{BD03188C-DBF5-4487-A041-4DD0FEBE0FA3}"/>
              </a:ext>
            </a:extLst>
          </p:cNvPr>
          <p:cNvSpPr>
            <a:spLocks noGrp="1"/>
          </p:cNvSpPr>
          <p:nvPr>
            <p:ph idx="1"/>
          </p:nvPr>
        </p:nvSpPr>
        <p:spPr>
          <a:xfrm>
            <a:off x="645130" y="1021976"/>
            <a:ext cx="10659364" cy="5226424"/>
          </a:xfrm>
        </p:spPr>
        <p:txBody>
          <a:bodyPr>
            <a:normAutofit fontScale="77500" lnSpcReduction="20000"/>
          </a:bodyPr>
          <a:lstStyle/>
          <a:p>
            <a:pPr rtl="0" fontAlgn="base">
              <a:spcBef>
                <a:spcPts val="1200"/>
              </a:spcBef>
              <a:spcAft>
                <a:spcPts val="0"/>
              </a:spcAft>
              <a:buFont typeface="Arial" panose="020B0604020202020204" pitchFamily="34" charset="0"/>
              <a:buChar char="•"/>
            </a:pPr>
            <a:r>
              <a:rPr lang="en-US" sz="1800" b="1" i="0" u="none" strike="noStrike" dirty="0">
                <a:effectLst/>
                <a:latin typeface="Arial" panose="020B0604020202020204" pitchFamily="34" charset="0"/>
              </a:rPr>
              <a:t>Strong overall engagement at scale:</a:t>
            </a:r>
            <a:r>
              <a:rPr lang="en-US" sz="1800" b="0" i="0" u="none" strike="noStrike" dirty="0">
                <a:effectLst/>
                <a:latin typeface="Arial" panose="020B0604020202020204" pitchFamily="34" charset="0"/>
              </a:rPr>
              <a:t> Analysis of ~</a:t>
            </a:r>
            <a:r>
              <a:rPr lang="en-US" sz="1800" b="1" i="0" u="none" strike="noStrike" dirty="0">
                <a:effectLst/>
                <a:latin typeface="Arial" panose="020B0604020202020204" pitchFamily="34" charset="0"/>
              </a:rPr>
              <a:t>50K posts</a:t>
            </a:r>
            <a:r>
              <a:rPr lang="en-US" sz="1800" b="0" i="0" u="none" strike="noStrike" dirty="0">
                <a:effectLst/>
                <a:latin typeface="Arial" panose="020B0604020202020204" pitchFamily="34" charset="0"/>
              </a:rPr>
              <a:t> generated </a:t>
            </a:r>
            <a:r>
              <a:rPr lang="en-US" sz="1800" b="1" i="0" u="none" strike="noStrike" dirty="0">
                <a:effectLst/>
                <a:latin typeface="Arial" panose="020B0604020202020204" pitchFamily="34" charset="0"/>
              </a:rPr>
              <a:t>148M likes</a:t>
            </a:r>
            <a:r>
              <a:rPr lang="en-US" sz="1800" b="0" i="0" u="none" strike="noStrike" dirty="0">
                <a:effectLst/>
                <a:latin typeface="Arial" panose="020B0604020202020204" pitchFamily="34" charset="0"/>
              </a:rPr>
              <a:t>, </a:t>
            </a:r>
            <a:r>
              <a:rPr lang="en-US" sz="1800" b="1" i="0" u="none" strike="noStrike" dirty="0">
                <a:effectLst/>
                <a:latin typeface="Arial" panose="020B0604020202020204" pitchFamily="34" charset="0"/>
              </a:rPr>
              <a:t>987M reach</a:t>
            </a:r>
            <a:r>
              <a:rPr lang="en-US" sz="1800" b="0" i="0" u="none" strike="noStrike" dirty="0">
                <a:effectLst/>
                <a:latin typeface="Arial" panose="020B0604020202020204" pitchFamily="34" charset="0"/>
              </a:rPr>
              <a:t>, and </a:t>
            </a:r>
            <a:r>
              <a:rPr lang="en-US" sz="1800" b="1" i="0" u="none" strike="noStrike" dirty="0">
                <a:effectLst/>
                <a:latin typeface="Arial" panose="020B0604020202020204" pitchFamily="34" charset="0"/>
              </a:rPr>
              <a:t>18M comments</a:t>
            </a:r>
            <a:r>
              <a:rPr lang="en-US" sz="1800" b="0" i="0" u="none" strike="noStrike" dirty="0">
                <a:effectLst/>
                <a:latin typeface="Arial" panose="020B0604020202020204" pitchFamily="34" charset="0"/>
              </a:rPr>
              <a:t>, delivering an impressive </a:t>
            </a:r>
            <a:r>
              <a:rPr lang="en-US" sz="1800" b="1" i="0" u="none" strike="noStrike" dirty="0">
                <a:effectLst/>
                <a:latin typeface="Arial" panose="020B0604020202020204" pitchFamily="34" charset="0"/>
              </a:rPr>
              <a:t>~18.5% average engagement rate</a:t>
            </a:r>
            <a:r>
              <a:rPr lang="en-US" sz="1800" b="0" i="0" u="none" strike="noStrike" dirty="0">
                <a:effectLst/>
                <a:latin typeface="Arial" panose="020B0604020202020204" pitchFamily="34" charset="0"/>
              </a:rPr>
              <a:t>, indicating a highly active and responsive audience base.</a:t>
            </a:r>
            <a:endParaRPr lang="en-US" sz="1800" dirty="0">
              <a:latin typeface="Arial" panose="020B0604020202020204" pitchFamily="34" charset="0"/>
            </a:endParaRPr>
          </a:p>
          <a:p>
            <a:pPr marL="0" indent="0" rtl="0" fontAlgn="base">
              <a:spcBef>
                <a:spcPts val="1200"/>
              </a:spcBef>
              <a:spcAft>
                <a:spcPts val="0"/>
              </a:spcAft>
              <a:buNone/>
            </a:pPr>
            <a:endParaRPr lang="en-US" sz="1800" b="0" i="0" u="none" strike="noStrike" dirty="0">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effectLst/>
                <a:latin typeface="Arial" panose="020B0604020202020204" pitchFamily="34" charset="0"/>
              </a:rPr>
              <a:t>Reach is the primary growth lever:</a:t>
            </a:r>
            <a:r>
              <a:rPr lang="en-US" sz="1800" b="0" i="0" u="none" strike="noStrike" dirty="0">
                <a:effectLst/>
                <a:latin typeface="Arial" panose="020B0604020202020204" pitchFamily="34" charset="0"/>
              </a:rPr>
              <a:t> Reach shows strong correlation with </a:t>
            </a:r>
            <a:r>
              <a:rPr lang="en-US" sz="1800" b="1" i="0" u="none" strike="noStrike" dirty="0">
                <a:effectLst/>
                <a:latin typeface="Arial" panose="020B0604020202020204" pitchFamily="34" charset="0"/>
              </a:rPr>
              <a:t>Profile Visits (0.94)</a:t>
            </a:r>
            <a:r>
              <a:rPr lang="en-US" sz="1800" b="0" i="0" u="none" strike="noStrike" dirty="0">
                <a:effectLst/>
                <a:latin typeface="Arial" panose="020B0604020202020204" pitchFamily="34" charset="0"/>
              </a:rPr>
              <a:t> and </a:t>
            </a:r>
            <a:r>
              <a:rPr lang="en-US" sz="1800" b="1" i="0" u="none" strike="noStrike" dirty="0">
                <a:effectLst/>
                <a:latin typeface="Arial" panose="020B0604020202020204" pitchFamily="34" charset="0"/>
              </a:rPr>
              <a:t>Likes (0.90)</a:t>
            </a:r>
            <a:r>
              <a:rPr lang="en-US" sz="1800" b="0" i="0" u="none" strike="noStrike" dirty="0">
                <a:effectLst/>
                <a:latin typeface="Arial" panose="020B0604020202020204" pitchFamily="34" charset="0"/>
              </a:rPr>
              <a:t>, confirming that increasing visibility directly drives engagement and profile traffic. Likes further act as a leading indicator of deeper interaction, with near-perfect correlation to Saves (</a:t>
            </a:r>
            <a:r>
              <a:rPr lang="en-US" sz="1800" b="1" i="0" u="none" strike="noStrike" dirty="0">
                <a:effectLst/>
                <a:latin typeface="Arial" panose="020B0604020202020204" pitchFamily="34" charset="0"/>
              </a:rPr>
              <a:t>0.99</a:t>
            </a:r>
            <a:r>
              <a:rPr lang="en-US" sz="1800" b="0" i="0" u="none" strike="noStrike" dirty="0">
                <a:effectLst/>
                <a:latin typeface="Arial" panose="020B0604020202020204" pitchFamily="34" charset="0"/>
              </a:rPr>
              <a:t>) and strong links to Shares (</a:t>
            </a:r>
            <a:r>
              <a:rPr lang="en-US" sz="1800" b="1" i="0" u="none" strike="noStrike" dirty="0">
                <a:effectLst/>
                <a:latin typeface="Arial" panose="020B0604020202020204" pitchFamily="34" charset="0"/>
              </a:rPr>
              <a:t>0.86</a:t>
            </a:r>
            <a:r>
              <a:rPr lang="en-US" sz="1800" b="0" i="0" u="none" strike="noStrike" dirty="0">
                <a:effectLst/>
                <a:latin typeface="Arial" panose="020B0604020202020204" pitchFamily="34" charset="0"/>
              </a:rPr>
              <a:t>) and Comments (</a:t>
            </a:r>
            <a:r>
              <a:rPr lang="en-US" sz="1800" b="1" i="0" u="none" strike="noStrike" dirty="0">
                <a:effectLst/>
                <a:latin typeface="Arial" panose="020B0604020202020204" pitchFamily="34" charset="0"/>
              </a:rPr>
              <a:t>0.84</a:t>
            </a:r>
            <a:r>
              <a:rPr lang="en-US" sz="1800" b="0" i="0" u="none" strike="noStrike" dirty="0">
                <a:effectLst/>
                <a:latin typeface="Arial" panose="020B0604020202020204" pitchFamily="34" charset="0"/>
              </a:rPr>
              <a:t>).</a:t>
            </a:r>
            <a:br>
              <a:rPr lang="en-US" sz="1800" b="0" i="0" u="none" strike="noStrike" dirty="0">
                <a:effectLst/>
                <a:latin typeface="Arial" panose="020B0604020202020204" pitchFamily="34" charset="0"/>
              </a:rPr>
            </a:br>
            <a:endParaRPr lang="en-US" sz="1800" b="0" i="0" u="none" strike="noStrike" dirty="0">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effectLst/>
                <a:latin typeface="Arial" panose="020B0604020202020204" pitchFamily="34" charset="0"/>
              </a:rPr>
              <a:t>Content performance varies by timing and format:</a:t>
            </a:r>
            <a:r>
              <a:rPr lang="en-US" sz="1800" b="0" i="0" u="none" strike="noStrike" dirty="0">
                <a:effectLst/>
                <a:latin typeface="Arial" panose="020B0604020202020204" pitchFamily="34" charset="0"/>
              </a:rPr>
              <a:t> Monthly post volume remains stable (~</a:t>
            </a:r>
            <a:r>
              <a:rPr lang="en-US" sz="1800" b="1" i="0" u="none" strike="noStrike" dirty="0">
                <a:effectLst/>
                <a:latin typeface="Arial" panose="020B0604020202020204" pitchFamily="34" charset="0"/>
              </a:rPr>
              <a:t>3.9K–4.3K posts</a:t>
            </a:r>
            <a:r>
              <a:rPr lang="en-US" sz="1800" b="0" i="0" u="none" strike="noStrike" dirty="0">
                <a:effectLst/>
                <a:latin typeface="Arial" panose="020B0604020202020204" pitchFamily="34" charset="0"/>
              </a:rPr>
              <a:t>), but MoM profile visits fluctuate between </a:t>
            </a:r>
            <a:r>
              <a:rPr lang="en-US" sz="1800" b="1" i="0" u="none" strike="noStrike" dirty="0">
                <a:effectLst/>
                <a:latin typeface="Arial" panose="020B0604020202020204" pitchFamily="34" charset="0"/>
              </a:rPr>
              <a:t>–10% to +10%</a:t>
            </a:r>
            <a:r>
              <a:rPr lang="en-US" sz="1800" b="0" i="0" u="none" strike="noStrike" dirty="0">
                <a:effectLst/>
                <a:latin typeface="Arial" panose="020B0604020202020204" pitchFamily="34" charset="0"/>
              </a:rPr>
              <a:t>, showing that engagement is not purely volume-driven. </a:t>
            </a:r>
            <a:r>
              <a:rPr lang="en-US" sz="1800" b="1" i="0" u="none" strike="noStrike" dirty="0">
                <a:effectLst/>
                <a:latin typeface="Arial" panose="020B0604020202020204" pitchFamily="34" charset="0"/>
              </a:rPr>
              <a:t>Wednesday (14.76%)</a:t>
            </a:r>
            <a:r>
              <a:rPr lang="en-US" sz="1800" b="0" i="0" u="none" strike="noStrike" dirty="0">
                <a:effectLst/>
                <a:latin typeface="Arial" panose="020B0604020202020204" pitchFamily="34" charset="0"/>
              </a:rPr>
              <a:t> emerges as the strongest day for profile visits, while December stands out as a peak month with higher posting and positive MoM growth, suggesting year-end audience uplift.</a:t>
            </a:r>
            <a:br>
              <a:rPr lang="en-US" sz="1800" b="0" i="0" u="none" strike="noStrike" dirty="0">
                <a:effectLst/>
                <a:latin typeface="Arial" panose="020B0604020202020204" pitchFamily="34" charset="0"/>
              </a:rPr>
            </a:br>
            <a:endParaRPr lang="en-US" sz="1800" b="0" i="0" u="none" strike="noStrike" dirty="0">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800" b="1" i="0" u="none" strike="noStrike" dirty="0">
                <a:effectLst/>
                <a:latin typeface="Arial" panose="020B0604020202020204" pitchFamily="34" charset="0"/>
              </a:rPr>
              <a:t>Reels and Stories lead visibility, but balance matters:</a:t>
            </a:r>
            <a:r>
              <a:rPr lang="en-US" sz="1800" b="0" i="0" u="none" strike="noStrike" dirty="0">
                <a:effectLst/>
                <a:latin typeface="Arial" panose="020B0604020202020204" pitchFamily="34" charset="0"/>
              </a:rPr>
              <a:t> Engagement is almost evenly distributed across formats—Reels (</a:t>
            </a:r>
            <a:r>
              <a:rPr lang="en-US" sz="1800" b="1" i="0" u="none" strike="noStrike" dirty="0">
                <a:effectLst/>
                <a:latin typeface="Arial" panose="020B0604020202020204" pitchFamily="34" charset="0"/>
              </a:rPr>
              <a:t>25.22%</a:t>
            </a:r>
            <a:r>
              <a:rPr lang="en-US" sz="1800" b="0" i="0" u="none" strike="noStrike" dirty="0">
                <a:effectLst/>
                <a:latin typeface="Arial" panose="020B0604020202020204" pitchFamily="34" charset="0"/>
              </a:rPr>
              <a:t>), Stories (</a:t>
            </a:r>
            <a:r>
              <a:rPr lang="en-US" sz="1800" b="1" i="0" u="none" strike="noStrike" dirty="0">
                <a:effectLst/>
                <a:latin typeface="Arial" panose="020B0604020202020204" pitchFamily="34" charset="0"/>
              </a:rPr>
              <a:t>25.02%</a:t>
            </a:r>
            <a:r>
              <a:rPr lang="en-US" sz="1800" b="0" i="0" u="none" strike="noStrike" dirty="0">
                <a:effectLst/>
                <a:latin typeface="Arial" panose="020B0604020202020204" pitchFamily="34" charset="0"/>
              </a:rPr>
              <a:t>), Images (</a:t>
            </a:r>
            <a:r>
              <a:rPr lang="en-US" sz="1800" b="1" i="0" u="none" strike="noStrike" dirty="0">
                <a:effectLst/>
                <a:latin typeface="Arial" panose="020B0604020202020204" pitchFamily="34" charset="0"/>
              </a:rPr>
              <a:t>24.89%</a:t>
            </a:r>
            <a:r>
              <a:rPr lang="en-US" sz="1800" b="0" i="0" u="none" strike="noStrike" dirty="0">
                <a:effectLst/>
                <a:latin typeface="Arial" panose="020B0604020202020204" pitchFamily="34" charset="0"/>
              </a:rPr>
              <a:t>), and Videos (</a:t>
            </a:r>
            <a:r>
              <a:rPr lang="en-US" sz="1800" b="1" i="0" u="none" strike="noStrike" dirty="0">
                <a:effectLst/>
                <a:latin typeface="Arial" panose="020B0604020202020204" pitchFamily="34" charset="0"/>
              </a:rPr>
              <a:t>24.87%</a:t>
            </a:r>
            <a:r>
              <a:rPr lang="en-US" sz="1800" b="0" i="0" u="none" strike="noStrike" dirty="0">
                <a:effectLst/>
                <a:latin typeface="Arial" panose="020B0604020202020204" pitchFamily="34" charset="0"/>
              </a:rPr>
              <a:t>)—highlighting the importance of maintaining a balanced content mix, with Reels and Stories showing a marginal edge in impressions.</a:t>
            </a:r>
            <a:endParaRPr lang="en-US" sz="1800" dirty="0">
              <a:latin typeface="Arial" panose="020B0604020202020204" pitchFamily="34" charset="0"/>
            </a:endParaRPr>
          </a:p>
          <a:p>
            <a:pPr rtl="0" fontAlgn="base">
              <a:spcBef>
                <a:spcPts val="0"/>
              </a:spcBef>
              <a:spcAft>
                <a:spcPts val="0"/>
              </a:spcAft>
              <a:buFont typeface="Arial" panose="020B0604020202020204" pitchFamily="34" charset="0"/>
              <a:buChar char="•"/>
            </a:pPr>
            <a:endParaRPr lang="en-US" sz="1800" b="0" i="0" u="none" strike="noStrike" dirty="0">
              <a:effectLst/>
              <a:latin typeface="Arial" panose="020B0604020202020204" pitchFamily="34" charset="0"/>
            </a:endParaRPr>
          </a:p>
          <a:p>
            <a:pPr rtl="0" fontAlgn="base">
              <a:spcBef>
                <a:spcPts val="0"/>
              </a:spcBef>
              <a:spcAft>
                <a:spcPts val="1200"/>
              </a:spcAft>
              <a:buFont typeface="Arial" panose="020B0604020202020204" pitchFamily="34" charset="0"/>
              <a:buChar char="•"/>
            </a:pPr>
            <a:r>
              <a:rPr lang="en-US" sz="1800" b="1" i="0" u="none" strike="noStrike" dirty="0">
                <a:effectLst/>
                <a:latin typeface="Arial" panose="020B0604020202020204" pitchFamily="34" charset="0"/>
              </a:rPr>
              <a:t>Hashtags and emotions significantly influence engagement:</a:t>
            </a:r>
            <a:r>
              <a:rPr lang="en-US" sz="1800" b="0" i="0" u="none" strike="noStrike" dirty="0">
                <a:effectLst/>
                <a:latin typeface="Arial" panose="020B0604020202020204" pitchFamily="34" charset="0"/>
              </a:rPr>
              <a:t> Branded and value-led hashtags such as </a:t>
            </a:r>
            <a:r>
              <a:rPr lang="en-US" sz="1800" b="1" i="0" u="none" strike="noStrike" dirty="0">
                <a:effectLst/>
                <a:latin typeface="Arial" panose="020B0604020202020204" pitchFamily="34" charset="0"/>
              </a:rPr>
              <a:t>#CrueltyFree, #MakeupGoals, #BoldLooks, #VeganBeauty, and #SugarCosmetics</a:t>
            </a:r>
            <a:r>
              <a:rPr lang="en-US" sz="1800" b="0" i="0" u="none" strike="noStrike" dirty="0">
                <a:effectLst/>
                <a:latin typeface="Arial" panose="020B0604020202020204" pitchFamily="34" charset="0"/>
              </a:rPr>
              <a:t> drive </a:t>
            </a:r>
            <a:r>
              <a:rPr lang="en-US" sz="1800" b="1" i="0" u="none" strike="noStrike" dirty="0">
                <a:effectLst/>
                <a:latin typeface="Arial" panose="020B0604020202020204" pitchFamily="34" charset="0"/>
              </a:rPr>
              <a:t>2.2M–2.6M likes per post type</a:t>
            </a:r>
            <a:r>
              <a:rPr lang="en-US" sz="1800" b="0" i="0" u="none" strike="noStrike" dirty="0">
                <a:effectLst/>
                <a:latin typeface="Arial" panose="020B0604020202020204" pitchFamily="34" charset="0"/>
              </a:rPr>
              <a:t> and </a:t>
            </a:r>
            <a:r>
              <a:rPr lang="en-US" sz="1800" b="1" i="0" u="none" strike="noStrike" dirty="0">
                <a:effectLst/>
                <a:latin typeface="Arial" panose="020B0604020202020204" pitchFamily="34" charset="0"/>
              </a:rPr>
              <a:t>60M–65M reach individually</a:t>
            </a:r>
            <a:r>
              <a:rPr lang="en-US" sz="1800" b="0" i="0" u="none" strike="noStrike" dirty="0">
                <a:effectLst/>
                <a:latin typeface="Arial" panose="020B0604020202020204" pitchFamily="34" charset="0"/>
              </a:rPr>
              <a:t>, far outperforming combined hashtag groups. Emotionally, “Curious” content achieves the highest engagement rate (</a:t>
            </a:r>
            <a:r>
              <a:rPr lang="en-US" sz="1800" b="1" i="0" u="none" strike="noStrike" dirty="0">
                <a:effectLst/>
                <a:latin typeface="Arial" panose="020B0604020202020204" pitchFamily="34" charset="0"/>
              </a:rPr>
              <a:t>~18.6%</a:t>
            </a:r>
            <a:r>
              <a:rPr lang="en-US" sz="1800" b="0" i="0" u="none" strike="noStrike" dirty="0">
                <a:effectLst/>
                <a:latin typeface="Arial" panose="020B0604020202020204" pitchFamily="34" charset="0"/>
              </a:rPr>
              <a:t>) and nearly </a:t>
            </a:r>
            <a:r>
              <a:rPr lang="en-US" sz="1800" b="1" i="0" u="none" strike="noStrike" dirty="0">
                <a:effectLst/>
                <a:latin typeface="Arial" panose="020B0604020202020204" pitchFamily="34" charset="0"/>
              </a:rPr>
              <a:t>6M total likes</a:t>
            </a:r>
            <a:r>
              <a:rPr lang="en-US" sz="1800" b="0" i="0" u="none" strike="noStrike" dirty="0">
                <a:effectLst/>
                <a:latin typeface="Arial" panose="020B0604020202020204" pitchFamily="34" charset="0"/>
              </a:rPr>
              <a:t>, demonstrating that curiosity-led storytelling boosts interaction.</a:t>
            </a:r>
            <a:br>
              <a:rPr lang="en-US" sz="1800" b="0" i="0" u="none" strike="noStrike" dirty="0">
                <a:effectLst/>
                <a:latin typeface="Arial" panose="020B0604020202020204" pitchFamily="34" charset="0"/>
              </a:rPr>
            </a:br>
            <a:endParaRPr lang="en-US" sz="1800" b="0" i="0" u="none" strike="noStrike" dirty="0">
              <a:effectLst/>
              <a:latin typeface="Arial" panose="020B0604020202020204" pitchFamily="34" charset="0"/>
            </a:endParaRPr>
          </a:p>
          <a:p>
            <a:pPr rtl="0" fontAlgn="base">
              <a:spcBef>
                <a:spcPts val="0"/>
              </a:spcBef>
              <a:spcAft>
                <a:spcPts val="1200"/>
              </a:spcAft>
              <a:buFont typeface="Arial" panose="020B0604020202020204" pitchFamily="34" charset="0"/>
              <a:buChar char="•"/>
            </a:pPr>
            <a:r>
              <a:rPr lang="en-US" sz="1800" b="1" i="0" u="none" strike="noStrike" dirty="0">
                <a:effectLst/>
                <a:latin typeface="Arial" panose="020B0604020202020204" pitchFamily="34" charset="0"/>
              </a:rPr>
              <a:t>Tutorials and Giveaways maximize amplification:</a:t>
            </a:r>
            <a:r>
              <a:rPr lang="en-US" sz="1800" b="0" i="0" u="none" strike="noStrike" dirty="0">
                <a:effectLst/>
                <a:latin typeface="Arial" panose="020B0604020202020204" pitchFamily="34" charset="0"/>
              </a:rPr>
              <a:t> These campaigns consistently generate higher shares (</a:t>
            </a:r>
            <a:r>
              <a:rPr lang="en-US" sz="1800" b="1" i="0" u="none" strike="noStrike" dirty="0">
                <a:effectLst/>
                <a:latin typeface="Arial" panose="020B0604020202020204" pitchFamily="34" charset="0"/>
              </a:rPr>
              <a:t>~0.28M–0.32M per hashtag group</a:t>
            </a:r>
            <a:r>
              <a:rPr lang="en-US" sz="1800" b="0" i="0" u="none" strike="noStrike" dirty="0">
                <a:effectLst/>
                <a:latin typeface="Arial" panose="020B0604020202020204" pitchFamily="34" charset="0"/>
              </a:rPr>
              <a:t>) and slightly higher profile visits (~</a:t>
            </a:r>
            <a:r>
              <a:rPr lang="en-US" sz="1800" b="1" i="0" u="none" strike="noStrike" dirty="0">
                <a:effectLst/>
                <a:latin typeface="Arial" panose="020B0604020202020204" pitchFamily="34" charset="0"/>
              </a:rPr>
              <a:t>5.1%–5.2%</a:t>
            </a:r>
            <a:r>
              <a:rPr lang="en-US" sz="1800" b="0" i="0" u="none" strike="noStrike" dirty="0">
                <a:effectLst/>
                <a:latin typeface="Arial" panose="020B0604020202020204" pitchFamily="34" charset="0"/>
              </a:rPr>
              <a:t> via Stories and Reels), making them the most effective formats for driving both redistribution and profile exploration.</a:t>
            </a:r>
            <a:br>
              <a:rPr lang="en-US" sz="1800" b="0" i="0" u="none" strike="noStrike" dirty="0">
                <a:effectLst/>
                <a:latin typeface="Arial" panose="020B0604020202020204" pitchFamily="34" charset="0"/>
              </a:rPr>
            </a:br>
            <a:endParaRPr lang="en-IN" dirty="0"/>
          </a:p>
        </p:txBody>
      </p:sp>
    </p:spTree>
    <p:extLst>
      <p:ext uri="{BB962C8B-B14F-4D97-AF65-F5344CB8AC3E}">
        <p14:creationId xmlns:p14="http://schemas.microsoft.com/office/powerpoint/2010/main" val="1157354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2CCF-D98D-44A2-87C8-E04BB8F458C2}"/>
              </a:ext>
            </a:extLst>
          </p:cNvPr>
          <p:cNvSpPr>
            <a:spLocks noGrp="1"/>
          </p:cNvSpPr>
          <p:nvPr>
            <p:ph type="title"/>
          </p:nvPr>
        </p:nvSpPr>
        <p:spPr>
          <a:xfrm>
            <a:off x="645132" y="300318"/>
            <a:ext cx="9404723" cy="766482"/>
          </a:xfrm>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6970D77-D616-4C95-98BC-5EB95DB60396}"/>
              </a:ext>
            </a:extLst>
          </p:cNvPr>
          <p:cNvSpPr>
            <a:spLocks noGrp="1"/>
          </p:cNvSpPr>
          <p:nvPr>
            <p:ph idx="1"/>
          </p:nvPr>
        </p:nvSpPr>
        <p:spPr>
          <a:xfrm>
            <a:off x="645132" y="1219200"/>
            <a:ext cx="10982092" cy="5029200"/>
          </a:xfrm>
        </p:spPr>
        <p:txBody>
          <a:bodyPr>
            <a:normAutofit lnSpcReduction="10000"/>
          </a:bodyPr>
          <a:lstStyle/>
          <a:p>
            <a:r>
              <a:rPr lang="en-US" dirty="0"/>
              <a:t>This analysis demonstrates that Sugar Cosmetics’ Instagram performance is primarily driven by reach, content format, and timing. Reels and Stories consistently deliver higher visibility, while Likes act as a leading indicator of deeper engagement such as Saves, Shares, and Profile Visits. Audience activity peaks during mid-week—especially Wednesdays—and shows strong seasonal uplift in key months like April and December.</a:t>
            </a:r>
          </a:p>
          <a:p>
            <a:r>
              <a:rPr lang="en-US" dirty="0"/>
              <a:t>Branded and value-led hashtags (#CrueltyFree, #MakeupGoals, #SugarCosmetics) significantly outperform combined hashtag groups, and curiosity-driven content achieves the highest engagement rates. Tutorial and Giveaway campaigns further emerge as the most effective formats for driving shares and profile visits.</a:t>
            </a:r>
          </a:p>
          <a:p>
            <a:r>
              <a:rPr lang="en-US" dirty="0"/>
              <a:t>Overall, the interactive Tableau dashboard enables data-driven content planning by highlighting when to post, what formats to prioritize, and which campaigns and hashtags deliver maximum impact. By focusing on Reel-first strategies, mid-week publishing, high-performing hashtags, and engagement-led campaign formats, Sugar Cosmetics can strengthen organic reach, deepen audience interaction, and maximize ROI from Instagram.</a:t>
            </a:r>
          </a:p>
          <a:p>
            <a:endParaRPr lang="en-IN" dirty="0"/>
          </a:p>
        </p:txBody>
      </p:sp>
    </p:spTree>
    <p:extLst>
      <p:ext uri="{BB962C8B-B14F-4D97-AF65-F5344CB8AC3E}">
        <p14:creationId xmlns:p14="http://schemas.microsoft.com/office/powerpoint/2010/main" val="2924314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5B8C-4107-4DA7-9051-F7B58D8376A7}"/>
              </a:ext>
            </a:extLst>
          </p:cNvPr>
          <p:cNvSpPr>
            <a:spLocks noGrp="1"/>
          </p:cNvSpPr>
          <p:nvPr>
            <p:ph type="ctrTitle"/>
          </p:nvPr>
        </p:nvSpPr>
        <p:spPr/>
        <p:txBody>
          <a:bodyPr/>
          <a:lstStyle/>
          <a:p>
            <a:r>
              <a:rPr lang="en-US" dirty="0"/>
              <a:t>Thank You</a:t>
            </a:r>
            <a:endParaRPr lang="en-IN" dirty="0"/>
          </a:p>
        </p:txBody>
      </p:sp>
      <p:sp>
        <p:nvSpPr>
          <p:cNvPr id="4" name="Subtitle 3">
            <a:extLst>
              <a:ext uri="{FF2B5EF4-FFF2-40B4-BE49-F238E27FC236}">
                <a16:creationId xmlns:a16="http://schemas.microsoft.com/office/drawing/2014/main" id="{7ECBE889-8623-41BA-8A98-C4F16A1423B7}"/>
              </a:ext>
            </a:extLst>
          </p:cNvPr>
          <p:cNvSpPr>
            <a:spLocks noGrp="1"/>
          </p:cNvSpPr>
          <p:nvPr>
            <p:ph type="subTitle" idx="1"/>
          </p:nvPr>
        </p:nvSpPr>
        <p:spPr/>
        <p:txBody>
          <a:bodyPr/>
          <a:lstStyle/>
          <a:p>
            <a:pPr marL="342891" indent="-342891" algn="r">
              <a:buFontTx/>
              <a:buChar char="-"/>
            </a:pPr>
            <a:r>
              <a:rPr lang="en-US" dirty="0"/>
              <a:t>Aditya Verma</a:t>
            </a:r>
          </a:p>
          <a:p>
            <a:pPr marL="342891" indent="-342891" algn="r">
              <a:buFontTx/>
              <a:buChar char="-"/>
            </a:pPr>
            <a:r>
              <a:rPr lang="en-IN" dirty="0"/>
              <a:t>Data Analyst/Business Analyst</a:t>
            </a:r>
          </a:p>
        </p:txBody>
      </p:sp>
    </p:spTree>
    <p:extLst>
      <p:ext uri="{BB962C8B-B14F-4D97-AF65-F5344CB8AC3E}">
        <p14:creationId xmlns:p14="http://schemas.microsoft.com/office/powerpoint/2010/main" val="10948970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906</TotalTime>
  <Words>2275</Words>
  <Application>Microsoft Office PowerPoint</Application>
  <PresentationFormat>Widescreen</PresentationFormat>
  <Paragraphs>70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Ion</vt:lpstr>
      <vt:lpstr>Sugar Cosmetics – Instagram Performance  Analysis</vt:lpstr>
      <vt:lpstr>Agenda of the Meeting</vt:lpstr>
      <vt:lpstr>Introduction</vt:lpstr>
      <vt:lpstr>Overview</vt:lpstr>
      <vt:lpstr>Time Series Analysis</vt:lpstr>
      <vt:lpstr>Performance Analysis</vt:lpstr>
      <vt:lpstr>PowerPoint Presentation</vt:lpstr>
      <vt:lpstr>PowerPoint Presentation</vt:lpstr>
      <vt:lpstr>PowerPoint Presentation</vt:lpstr>
      <vt:lpstr>Campaign Analysis</vt:lpstr>
      <vt:lpstr>PowerPoint Presentation</vt:lpstr>
      <vt:lpstr>Hashtag Analysis</vt:lpstr>
      <vt:lpstr>Key Takeaways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Sugar Cosmetics – Instagram Analysis</dc:title>
  <dc:creator>Aditya Verma</dc:creator>
  <cp:lastModifiedBy>Aditya Verma</cp:lastModifiedBy>
  <cp:revision>31</cp:revision>
  <dcterms:created xsi:type="dcterms:W3CDTF">2026-01-25T08:26:58Z</dcterms:created>
  <dcterms:modified xsi:type="dcterms:W3CDTF">2026-01-26T13:11:44Z</dcterms:modified>
</cp:coreProperties>
</file>