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6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69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288" y="2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F4BD6-70B6-408D-A108-6634674AD375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2BCAB-3635-438E-8104-741E389C0B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6955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F4BD6-70B6-408D-A108-6634674AD375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2BCAB-3635-438E-8104-741E389C0B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5222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F4BD6-70B6-408D-A108-6634674AD375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2BCAB-3635-438E-8104-741E389C0B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5638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F4BD6-70B6-408D-A108-6634674AD375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2BCAB-3635-438E-8104-741E389C0B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9949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F4BD6-70B6-408D-A108-6634674AD375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2BCAB-3635-438E-8104-741E389C0B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7891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F4BD6-70B6-408D-A108-6634674AD375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2BCAB-3635-438E-8104-741E389C0B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5270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F4BD6-70B6-408D-A108-6634674AD375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2BCAB-3635-438E-8104-741E389C0B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36685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F4BD6-70B6-408D-A108-6634674AD375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2BCAB-3635-438E-8104-741E389C0B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8775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F4BD6-70B6-408D-A108-6634674AD375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2BCAB-3635-438E-8104-741E389C0B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88234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F4BD6-70B6-408D-A108-6634674AD375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2BCAB-3635-438E-8104-741E389C0B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3638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F4BD6-70B6-408D-A108-6634674AD375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2BCAB-3635-438E-8104-741E389C0B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49824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F4BD6-70B6-408D-A108-6634674AD375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2BCAB-3635-438E-8104-741E389C0B22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805741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F4BD6-70B6-408D-A108-6634674AD375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2BCAB-3635-438E-8104-741E389C0B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04943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F4BD6-70B6-408D-A108-6634674AD375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2BCAB-3635-438E-8104-741E389C0B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66168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F4BD6-70B6-408D-A108-6634674AD375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2BCAB-3635-438E-8104-741E389C0B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42444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F4BD6-70B6-408D-A108-6634674AD375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2BCAB-3635-438E-8104-741E389C0B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39356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F4BD6-70B6-408D-A108-6634674AD375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2BCAB-3635-438E-8104-741E389C0B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4458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98AF4BD6-70B6-408D-A108-6634674AD375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02BCAB-3635-438E-8104-741E389C0B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25507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  <p:sldLayoutId id="2147483798" r:id="rId12"/>
    <p:sldLayoutId id="2147483799" r:id="rId13"/>
    <p:sldLayoutId id="2147483800" r:id="rId14"/>
    <p:sldLayoutId id="2147483801" r:id="rId15"/>
    <p:sldLayoutId id="2147483802" r:id="rId16"/>
    <p:sldLayoutId id="214748380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82896-64A5-4F0B-BFA5-9705C58428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Supply Chain Analytics – Make vs Buy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FCD2E3-459D-4906-BADE-1FED510E65E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US" dirty="0"/>
              <a:t>Tenant Industries – by Aditya Verma </a:t>
            </a:r>
            <a:br>
              <a:rPr lang="en-US" dirty="0"/>
            </a:br>
            <a:r>
              <a:rPr lang="en-US" dirty="0"/>
              <a:t>Role - Business Analyst/ Data Analyst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811304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BF88A-C235-4C68-8F73-086C418BA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908722"/>
          </a:xfrm>
        </p:spPr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91016-6380-457C-A71D-80F218450C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130" y="1361440"/>
            <a:ext cx="9404723" cy="4886959"/>
          </a:xfrm>
        </p:spPr>
        <p:txBody>
          <a:bodyPr>
            <a:normAutofit/>
          </a:bodyPr>
          <a:lstStyle/>
          <a:p>
            <a:r>
              <a:rPr lang="en-US" b="0" i="0" u="none" strike="noStrike" dirty="0">
                <a:effectLst/>
                <a:latin typeface="Arial" panose="020B0604020202020204" pitchFamily="34" charset="0"/>
              </a:rPr>
              <a:t>The case study focuses on a </a:t>
            </a:r>
            <a:r>
              <a:rPr lang="en-US" b="1" i="0" u="none" strike="noStrike" dirty="0">
                <a:effectLst/>
                <a:latin typeface="Arial" panose="020B0604020202020204" pitchFamily="34" charset="0"/>
              </a:rPr>
              <a:t>make-versus-buy decision</a:t>
            </a:r>
            <a:r>
              <a:rPr lang="en-US" b="0" i="0" u="none" strike="noStrike" dirty="0">
                <a:effectLst/>
                <a:latin typeface="Arial" panose="020B0604020202020204" pitchFamily="34" charset="0"/>
              </a:rPr>
              <a:t>. I as a </a:t>
            </a:r>
            <a:r>
              <a:rPr lang="en-US" b="1" i="0" u="none" strike="noStrike" dirty="0">
                <a:effectLst/>
                <a:latin typeface="Arial" panose="020B0604020202020204" pitchFamily="34" charset="0"/>
              </a:rPr>
              <a:t>Supply Chain Analyst</a:t>
            </a:r>
            <a:r>
              <a:rPr lang="en-US" b="0" i="0" u="none" strike="noStrike" dirty="0">
                <a:effectLst/>
                <a:latin typeface="Arial" panose="020B0604020202020204" pitchFamily="34" charset="0"/>
              </a:rPr>
              <a:t> at a fictitious company called </a:t>
            </a:r>
            <a:r>
              <a:rPr lang="en-US" b="1" i="0" u="none" strike="noStrike" dirty="0" err="1">
                <a:effectLst/>
                <a:latin typeface="Arial" panose="020B0604020202020204" pitchFamily="34" charset="0"/>
              </a:rPr>
              <a:t>Tenate</a:t>
            </a:r>
            <a:r>
              <a:rPr lang="en-US" b="1" i="0" u="none" strike="noStrike" dirty="0">
                <a:effectLst/>
                <a:latin typeface="Arial" panose="020B0604020202020204" pitchFamily="34" charset="0"/>
              </a:rPr>
              <a:t> Industries</a:t>
            </a:r>
            <a:r>
              <a:rPr lang="en-US" b="0" i="0" u="none" strike="noStrike" dirty="0">
                <a:effectLst/>
                <a:latin typeface="Arial" panose="020B0604020202020204" pitchFamily="34" charset="0"/>
              </a:rPr>
              <a:t>, which sells replacement parts for industrial pizza ovens.</a:t>
            </a:r>
          </a:p>
          <a:p>
            <a:r>
              <a:rPr lang="en-US" b="0" i="0" u="none" strike="noStrike" dirty="0">
                <a:effectLst/>
                <a:latin typeface="Arial" panose="020B0604020202020204" pitchFamily="34" charset="0"/>
              </a:rPr>
              <a:t>Motive: To </a:t>
            </a:r>
            <a:r>
              <a:rPr lang="en-US" b="1" i="0" u="none" strike="noStrike" dirty="0">
                <a:effectLst/>
                <a:latin typeface="Arial" panose="020B0604020202020204" pitchFamily="34" charset="0"/>
              </a:rPr>
              <a:t>calculate the total cost</a:t>
            </a:r>
            <a:r>
              <a:rPr lang="en-US" b="0" i="0" u="none" strike="noStrike" dirty="0">
                <a:effectLst/>
                <a:latin typeface="Arial" panose="020B0604020202020204" pitchFamily="34" charset="0"/>
              </a:rPr>
              <a:t> for both the </a:t>
            </a:r>
            <a:r>
              <a:rPr lang="en-US" b="0" i="1" u="none" strike="noStrike" dirty="0">
                <a:effectLst/>
                <a:latin typeface="Arial" panose="020B0604020202020204" pitchFamily="34" charset="0"/>
              </a:rPr>
              <a:t>Make</a:t>
            </a:r>
            <a:r>
              <a:rPr lang="en-US" b="0" i="0" u="none" strike="noStrike" dirty="0">
                <a:effectLst/>
                <a:latin typeface="Arial" panose="020B0604020202020204" pitchFamily="34" charset="0"/>
              </a:rPr>
              <a:t> and </a:t>
            </a:r>
            <a:r>
              <a:rPr lang="en-US" b="0" i="1" u="none" strike="noStrike" dirty="0">
                <a:effectLst/>
                <a:latin typeface="Arial" panose="020B0604020202020204" pitchFamily="34" charset="0"/>
              </a:rPr>
              <a:t>Buy</a:t>
            </a:r>
            <a:r>
              <a:rPr lang="en-US" b="0" i="0" u="none" strike="noStrike" dirty="0">
                <a:effectLst/>
                <a:latin typeface="Arial" panose="020B0604020202020204" pitchFamily="34" charset="0"/>
              </a:rPr>
              <a:t> options</a:t>
            </a:r>
          </a:p>
          <a:p>
            <a:pPr marL="0" indent="0">
              <a:buNone/>
            </a:pPr>
            <a:r>
              <a:rPr lang="en-US" u="sng" dirty="0"/>
              <a:t>About</a:t>
            </a:r>
          </a:p>
          <a:p>
            <a:r>
              <a:rPr lang="en-US" dirty="0"/>
              <a:t>Tenant Industries sells replacement parts for industrial pizza ovens </a:t>
            </a:r>
          </a:p>
          <a:p>
            <a:r>
              <a:rPr lang="en-US" dirty="0"/>
              <a:t>The company receives multiple supplier quotes per part </a:t>
            </a:r>
          </a:p>
          <a:p>
            <a:r>
              <a:rPr lang="en-US" dirty="0"/>
              <a:t>Management needs a data-backed Make vs Buy decision</a:t>
            </a:r>
          </a:p>
          <a:p>
            <a:r>
              <a:rPr lang="en-US" dirty="0"/>
              <a:t>In supply chain, choosing the lowest unit cost is misleading. The real decision must be based on </a:t>
            </a:r>
            <a:r>
              <a:rPr lang="en-US" b="1" dirty="0"/>
              <a:t>full cost</a:t>
            </a:r>
            <a:r>
              <a:rPr lang="en-US" dirty="0"/>
              <a:t>, volume sensitivity, and internal capacity.</a:t>
            </a:r>
          </a:p>
        </p:txBody>
      </p:sp>
    </p:spTree>
    <p:extLst>
      <p:ext uri="{BB962C8B-B14F-4D97-AF65-F5344CB8AC3E}">
        <p14:creationId xmlns:p14="http://schemas.microsoft.com/office/powerpoint/2010/main" val="18604253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3EF45-A413-4B9F-8993-820F2CE64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76642"/>
          </a:xfrm>
        </p:spPr>
        <p:txBody>
          <a:bodyPr/>
          <a:lstStyle/>
          <a:p>
            <a:r>
              <a:rPr lang="en-US" dirty="0"/>
              <a:t>Agenda of the meeting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5423FC-12F5-4ADB-8552-133CB708E2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130" y="1483958"/>
            <a:ext cx="8946541" cy="4195481"/>
          </a:xfrm>
        </p:spPr>
        <p:txBody>
          <a:bodyPr/>
          <a:lstStyle/>
          <a:p>
            <a:r>
              <a:rPr lang="en-US" dirty="0"/>
              <a:t>This project focuses on solving a real-world supply chain problem — deciding whether to manufacture internally or buy from suppliers, using cost-driven analysis and scenario planning.</a:t>
            </a:r>
          </a:p>
          <a:p>
            <a:pPr marL="0" indent="0">
              <a:buNone/>
            </a:pPr>
            <a:r>
              <a:rPr lang="en-US" b="1" u="sng" dirty="0"/>
              <a:t>Objectives</a:t>
            </a:r>
            <a:endParaRPr lang="en-US" u="sng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Compare supplier costs using </a:t>
            </a:r>
            <a:r>
              <a:rPr lang="en-US" b="1" dirty="0"/>
              <a:t>Extended Cost &amp; Full Cost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Identify the </a:t>
            </a:r>
            <a:r>
              <a:rPr lang="en-US" b="1" dirty="0"/>
              <a:t>lowest-cost supplier</a:t>
            </a:r>
            <a:r>
              <a:rPr lang="en-US" dirty="0"/>
              <a:t> at different volumes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Perform </a:t>
            </a:r>
            <a:r>
              <a:rPr lang="en-US" b="1" dirty="0"/>
              <a:t>scenario analysis</a:t>
            </a:r>
            <a:r>
              <a:rPr lang="en-US" dirty="0"/>
              <a:t> for changing demand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Evaluate </a:t>
            </a:r>
            <a:r>
              <a:rPr lang="en-US" b="1" dirty="0"/>
              <a:t>internal manufacturing feasibility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Recommend </a:t>
            </a:r>
            <a:r>
              <a:rPr lang="en-US" b="1" dirty="0"/>
              <a:t>Make or Buy decision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910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1941A-F261-4743-BED6-47663E90D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2718"/>
            <a:ext cx="9230360" cy="979842"/>
          </a:xfrm>
        </p:spPr>
        <p:txBody>
          <a:bodyPr/>
          <a:lstStyle/>
          <a:p>
            <a:r>
              <a:rPr lang="en-US" dirty="0"/>
              <a:t>Key Metrics</a:t>
            </a:r>
            <a:endParaRPr lang="en-IN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EF45533-86FD-47AD-95B3-237F047829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90820047"/>
              </p:ext>
            </p:extLst>
          </p:nvPr>
        </p:nvGraphicFramePr>
        <p:xfrm>
          <a:off x="838200" y="1825624"/>
          <a:ext cx="6118412" cy="2136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8272">
                  <a:extLst>
                    <a:ext uri="{9D8B030D-6E8A-4147-A177-3AD203B41FA5}">
                      <a16:colId xmlns:a16="http://schemas.microsoft.com/office/drawing/2014/main" val="828374590"/>
                    </a:ext>
                  </a:extLst>
                </a:gridCol>
                <a:gridCol w="3290140">
                  <a:extLst>
                    <a:ext uri="{9D8B030D-6E8A-4147-A177-3AD203B41FA5}">
                      <a16:colId xmlns:a16="http://schemas.microsoft.com/office/drawing/2014/main" val="3702729169"/>
                    </a:ext>
                  </a:extLst>
                </a:gridCol>
              </a:tblGrid>
              <a:tr h="374058">
                <a:tc>
                  <a:txBody>
                    <a:bodyPr/>
                    <a:lstStyle/>
                    <a:p>
                      <a:r>
                        <a:rPr lang="en-US" dirty="0"/>
                        <a:t>Metric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Meaning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4312819"/>
                  </a:ext>
                </a:extLst>
              </a:tr>
              <a:tr h="374058">
                <a:tc>
                  <a:txBody>
                    <a:bodyPr/>
                    <a:lstStyle/>
                    <a:p>
                      <a:r>
                        <a:rPr lang="en-IN" dirty="0"/>
                        <a:t>Unit Cost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Cost per unit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784916"/>
                  </a:ext>
                </a:extLst>
              </a:tr>
              <a:tr h="374058">
                <a:tc>
                  <a:txBody>
                    <a:bodyPr/>
                    <a:lstStyle/>
                    <a:p>
                      <a:r>
                        <a:rPr lang="en-IN"/>
                        <a:t>Extended Cost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Unit Cost × Volume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018244"/>
                  </a:ext>
                </a:extLst>
              </a:tr>
              <a:tr h="374058">
                <a:tc>
                  <a:txBody>
                    <a:bodyPr/>
                    <a:lstStyle/>
                    <a:p>
                      <a:r>
                        <a:rPr lang="en-IN"/>
                        <a:t>Non-Recurring Expense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One-time setup/tooling cost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5658193"/>
                  </a:ext>
                </a:extLst>
              </a:tr>
              <a:tr h="374058">
                <a:tc>
                  <a:txBody>
                    <a:bodyPr/>
                    <a:lstStyle/>
                    <a:p>
                      <a:r>
                        <a:rPr lang="en-IN"/>
                        <a:t>Full Cost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Extended Cost + NRE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840041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D56A7FC-B7D3-4434-851F-572C21EE5FED}"/>
              </a:ext>
            </a:extLst>
          </p:cNvPr>
          <p:cNvSpPr txBox="1"/>
          <p:nvPr/>
        </p:nvSpPr>
        <p:spPr>
          <a:xfrm>
            <a:off x="838200" y="4482353"/>
            <a:ext cx="105155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**A supplier may have a low unit cost but a high non-recurring expense — which completely changes the decision at lower volumes**</a:t>
            </a:r>
            <a:endParaRPr lang="en-IN" i="1" dirty="0"/>
          </a:p>
        </p:txBody>
      </p:sp>
    </p:spTree>
    <p:extLst>
      <p:ext uri="{BB962C8B-B14F-4D97-AF65-F5344CB8AC3E}">
        <p14:creationId xmlns:p14="http://schemas.microsoft.com/office/powerpoint/2010/main" val="17956291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C7C02-C1C1-4CB9-9D46-52ECB381F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949362"/>
          </a:xfrm>
        </p:spPr>
        <p:txBody>
          <a:bodyPr>
            <a:normAutofit/>
          </a:bodyPr>
          <a:lstStyle/>
          <a:p>
            <a:pPr algn="ctr" rtl="0">
              <a:spcBef>
                <a:spcPts val="1400"/>
              </a:spcBef>
              <a:spcAft>
                <a:spcPts val="0"/>
              </a:spcAft>
            </a:pPr>
            <a:r>
              <a:rPr lang="en-US" b="0" i="0" u="none" strike="noStrike" dirty="0">
                <a:solidFill>
                  <a:schemeClr val="tx1"/>
                </a:solidFill>
                <a:effectLst/>
              </a:rPr>
              <a:t>Supplier Selection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FB3140-5ADE-46E5-8E14-6A967FC67A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130" y="1737959"/>
            <a:ext cx="8946541" cy="3199802"/>
          </a:xfrm>
        </p:spPr>
        <p:txBody>
          <a:bodyPr>
            <a:normAutofit/>
          </a:bodyPr>
          <a:lstStyle/>
          <a:p>
            <a:pPr fontAlgn="base">
              <a:spcBef>
                <a:spcPts val="1200"/>
              </a:spcBef>
            </a:pPr>
            <a:r>
              <a:rPr lang="en-US" sz="1800" b="0" i="0" u="none" strike="noStrike" dirty="0">
                <a:effectLst/>
                <a:latin typeface="Arial" panose="020B0604020202020204" pitchFamily="34" charset="0"/>
              </a:rPr>
              <a:t> Analyzing the Non- Recurring Expense and Extended Cost of the supplier offering the </a:t>
            </a:r>
            <a:r>
              <a:rPr lang="en-US" sz="1800" b="1" i="0" u="none" strike="noStrike" dirty="0">
                <a:effectLst/>
                <a:latin typeface="Arial" panose="020B0604020202020204" pitchFamily="34" charset="0"/>
              </a:rPr>
              <a:t>lowest quoted amount</a:t>
            </a:r>
            <a:r>
              <a:rPr lang="en-US" sz="1800" b="0" i="0" u="none" strike="noStrike" dirty="0">
                <a:effectLst/>
                <a:latin typeface="Arial" panose="020B0604020202020204" pitchFamily="34" charset="0"/>
              </a:rPr>
              <a:t> through a comparative analysis of all received quotations.</a:t>
            </a:r>
          </a:p>
          <a:p>
            <a:pPr fontAlgn="base">
              <a:spcBef>
                <a:spcPts val="0"/>
              </a:spcBef>
              <a:spcAft>
                <a:spcPts val="1200"/>
              </a:spcAft>
            </a:pPr>
            <a:r>
              <a:rPr lang="en-US" sz="1800" b="0" i="0" u="none" strike="noStrike" dirty="0">
                <a:effectLst/>
                <a:latin typeface="Arial" panose="020B0604020202020204" pitchFamily="34" charset="0"/>
              </a:rPr>
              <a:t>Creation of Full Cost and Extended Cost Measure.</a:t>
            </a:r>
            <a:endParaRPr lang="en-US" sz="1800" u="sng" dirty="0">
              <a:latin typeface="Arial" panose="020B0604020202020204" pitchFamily="34" charset="0"/>
            </a:endParaRPr>
          </a:p>
          <a:p>
            <a:pPr fontAlgn="base">
              <a:spcBef>
                <a:spcPts val="0"/>
              </a:spcBef>
              <a:spcAft>
                <a:spcPts val="1200"/>
              </a:spcAft>
            </a:pPr>
            <a:r>
              <a:rPr lang="en-US" sz="1800" b="0" i="0" u="none" strike="noStrike" dirty="0">
                <a:effectLst/>
                <a:latin typeface="Arial" panose="020B0604020202020204" pitchFamily="34" charset="0"/>
              </a:rPr>
              <a:t>Formulas</a:t>
            </a:r>
            <a:endParaRPr lang="en-US" sz="1200" b="0" dirty="0">
              <a:effectLst/>
            </a:endParaRPr>
          </a:p>
          <a:p>
            <a:pPr rtl="0" fontAlgn="base"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800" b="0" i="0" u="none" strike="noStrike" dirty="0">
                <a:effectLst/>
                <a:latin typeface="Arial" panose="020B0604020202020204" pitchFamily="34" charset="0"/>
              </a:rPr>
              <a:t>Extended Cost: Unit Cost * Volume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800" b="0" i="0" u="none" strike="noStrike" dirty="0">
                <a:effectLst/>
                <a:latin typeface="Arial" panose="020B0604020202020204" pitchFamily="34" charset="0"/>
              </a:rPr>
              <a:t>Full Cost: Non-Recurring Expense + Extended Cost</a:t>
            </a:r>
          </a:p>
        </p:txBody>
      </p:sp>
    </p:spTree>
    <p:extLst>
      <p:ext uri="{BB962C8B-B14F-4D97-AF65-F5344CB8AC3E}">
        <p14:creationId xmlns:p14="http://schemas.microsoft.com/office/powerpoint/2010/main" val="10974709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F9246-C644-413B-8BF5-429833393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397" y="178117"/>
            <a:ext cx="10207083" cy="1325563"/>
          </a:xfrm>
        </p:spPr>
        <p:txBody>
          <a:bodyPr>
            <a:normAutofit fontScale="90000"/>
          </a:bodyPr>
          <a:lstStyle/>
          <a:p>
            <a:r>
              <a:rPr lang="en-US" sz="4400" b="0" i="0" u="none" strike="noStrike" dirty="0">
                <a:solidFill>
                  <a:schemeClr val="tx1"/>
                </a:solidFill>
                <a:effectLst/>
              </a:rPr>
              <a:t>Visualizing Unit Cost and Non - Recurring Expenses from each supplier.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5E9BED-7EAA-4EEF-9DB0-F2B203E072D7}"/>
              </a:ext>
            </a:extLst>
          </p:cNvPr>
          <p:cNvSpPr txBox="1"/>
          <p:nvPr/>
        </p:nvSpPr>
        <p:spPr>
          <a:xfrm flipH="1">
            <a:off x="7113033" y="1406843"/>
            <a:ext cx="4841570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u="sng" dirty="0">
                <a:cs typeface="Arial" panose="020B0604020202020204" pitchFamily="34" charset="0"/>
              </a:rPr>
              <a:t>Non-</a:t>
            </a:r>
            <a:r>
              <a:rPr lang="en-US" sz="1500" u="sng" dirty="0" err="1">
                <a:cs typeface="Arial" panose="020B0604020202020204" pitchFamily="34" charset="0"/>
              </a:rPr>
              <a:t>Reccuring</a:t>
            </a:r>
            <a:r>
              <a:rPr lang="en-US" sz="1500" u="sng" dirty="0">
                <a:cs typeface="Arial" panose="020B0604020202020204" pitchFamily="34" charset="0"/>
              </a:rPr>
              <a:t>-Expense:</a:t>
            </a:r>
          </a:p>
          <a:p>
            <a:pPr marL="28575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500" b="1" i="1" u="none" strike="noStrike" dirty="0">
                <a:effectLst/>
                <a:cs typeface="Arial" panose="020B0604020202020204" pitchFamily="34" charset="0"/>
              </a:rPr>
              <a:t>NRE increases with volume: </a:t>
            </a:r>
            <a:r>
              <a:rPr lang="en-US" sz="1500" i="0" u="none" strike="noStrike" dirty="0">
                <a:effectLst/>
                <a:cs typeface="Arial" panose="020B0604020202020204" pitchFamily="34" charset="0"/>
              </a:rPr>
              <a:t>Setup, tooling, and capacity costs rise from ~$50K–80K at 1,000 units to ~$250K–300K beyond 50,000 units.</a:t>
            </a:r>
          </a:p>
          <a:p>
            <a:pPr marL="28575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500" b="1" i="1" u="none" strike="noStrike" dirty="0">
                <a:effectLst/>
                <a:cs typeface="Arial" panose="020B0604020202020204" pitchFamily="34" charset="0"/>
              </a:rPr>
              <a:t>Low-volume impact: </a:t>
            </a:r>
            <a:r>
              <a:rPr lang="en-US" sz="1500" i="0" u="none" strike="noStrike" dirty="0">
                <a:effectLst/>
                <a:cs typeface="Arial" panose="020B0604020202020204" pitchFamily="34" charset="0"/>
              </a:rPr>
              <a:t>At 1,000–5,000 units, NRE can account for 30–45% of total cost, strongly influencing supplier selection. </a:t>
            </a:r>
          </a:p>
          <a:p>
            <a:pPr marL="28575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500" b="1" i="1" u="none" strike="noStrike" dirty="0">
                <a:effectLst/>
                <a:cs typeface="Arial" panose="020B0604020202020204" pitchFamily="34" charset="0"/>
              </a:rPr>
              <a:t>High-volume impact: </a:t>
            </a:r>
            <a:r>
              <a:rPr lang="en-US" sz="1500" i="0" u="none" strike="noStrike" dirty="0">
                <a:effectLst/>
                <a:cs typeface="Arial" panose="020B0604020202020204" pitchFamily="34" charset="0"/>
              </a:rPr>
              <a:t>At 50,000+ units, NRE adds $5–6 per unit, making it a major cost driver, not negligible.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endParaRPr lang="en-US" sz="1500" i="0" u="sng" strike="noStrike" dirty="0">
              <a:effectLst/>
              <a:cs typeface="Arial" panose="020B0604020202020204" pitchFamily="34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500" i="0" u="sng" strike="noStrike" dirty="0">
                <a:effectLst/>
                <a:cs typeface="Arial" panose="020B0604020202020204" pitchFamily="34" charset="0"/>
              </a:rPr>
              <a:t>Unit Cost:</a:t>
            </a:r>
          </a:p>
          <a:p>
            <a:pPr marL="28575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500" b="1" i="1" u="none" strike="noStrike" dirty="0">
                <a:effectLst/>
                <a:cs typeface="Arial" panose="020B0604020202020204" pitchFamily="34" charset="0"/>
              </a:rPr>
              <a:t>Economies of scale: </a:t>
            </a:r>
            <a:r>
              <a:rPr lang="en-US" sz="1500" i="0" u="none" strike="noStrike" dirty="0">
                <a:effectLst/>
                <a:cs typeface="Arial" panose="020B0604020202020204" pitchFamily="34" charset="0"/>
              </a:rPr>
              <a:t>Unit cost drops from ~$120–150 at 1,000 units to ~$65–75 by 20,000 units (≈ 50% reduction).</a:t>
            </a:r>
          </a:p>
          <a:p>
            <a:pPr marL="28575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500" b="1" i="1" u="none" strike="noStrike" dirty="0">
                <a:effectLst/>
                <a:cs typeface="Arial" panose="020B0604020202020204" pitchFamily="34" charset="0"/>
              </a:rPr>
              <a:t>Beyond ~50,000 units</a:t>
            </a:r>
            <a:r>
              <a:rPr lang="en-US" sz="1500" i="0" u="none" strike="noStrike" dirty="0">
                <a:effectLst/>
                <a:cs typeface="Arial" panose="020B0604020202020204" pitchFamily="34" charset="0"/>
              </a:rPr>
              <a:t>: Unit cost rises to ~$85–95 due to capacity strain and overtime.</a:t>
            </a:r>
            <a:endParaRPr lang="en-US" sz="1500" dirty="0">
              <a:effectLst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1" i="1" u="none" strike="noStrike" dirty="0">
                <a:effectLst/>
                <a:cs typeface="Arial" panose="020B0604020202020204" pitchFamily="34" charset="0"/>
              </a:rPr>
              <a:t>Non-recurring expenses:</a:t>
            </a:r>
            <a:r>
              <a:rPr lang="en-US" sz="1500" i="0" u="none" strike="noStrike" dirty="0">
                <a:effectLst/>
                <a:cs typeface="Arial" panose="020B0604020202020204" pitchFamily="34" charset="0"/>
              </a:rPr>
              <a:t> Increase from ~$110K to $250K–300K at higher volumes.</a:t>
            </a:r>
            <a:endParaRPr lang="en-US" sz="1500" dirty="0"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1" i="1" u="none" strike="noStrike" dirty="0">
                <a:effectLst/>
                <a:cs typeface="Arial" panose="020B0604020202020204" pitchFamily="34" charset="0"/>
              </a:rPr>
              <a:t>Key insight:</a:t>
            </a:r>
            <a:r>
              <a:rPr lang="en-US" sz="1500" i="0" u="none" strike="noStrike" dirty="0">
                <a:effectLst/>
                <a:cs typeface="Arial" panose="020B0604020202020204" pitchFamily="34" charset="0"/>
              </a:rPr>
              <a:t> Even a $5/unit advantage can be offset by higher NRE → lowest unit cost ≠ lowest total cost.</a:t>
            </a:r>
            <a:endParaRPr lang="en-US" sz="1500" u="sng" dirty="0">
              <a:cs typeface="Arial" panose="020B0604020202020204" pitchFamily="34" charset="0"/>
            </a:endParaRP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12972A33-B860-42F9-BDC3-A66CB1FF22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397" y="1503679"/>
            <a:ext cx="6752683" cy="5170645"/>
          </a:xfr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6407665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C66A0B4-6D81-4F20-9621-46A14332A763}"/>
              </a:ext>
            </a:extLst>
          </p:cNvPr>
          <p:cNvSpPr txBox="1"/>
          <p:nvPr/>
        </p:nvSpPr>
        <p:spPr>
          <a:xfrm>
            <a:off x="328062" y="264817"/>
            <a:ext cx="1149314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+mj-lt"/>
                <a:cs typeface="Arial" panose="020B0604020202020204" pitchFamily="34" charset="0"/>
              </a:rPr>
              <a:t>Full Cost Analysis</a:t>
            </a:r>
            <a:endParaRPr lang="en-IN" sz="4400" dirty="0">
              <a:latin typeface="+mj-lt"/>
              <a:cs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349BEAA-03B5-4CC5-95DA-008BC8B8E4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720" y="1393393"/>
            <a:ext cx="6820491" cy="1310754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65454D05-7D1F-42A6-9508-F55C700506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000720" y="2920025"/>
            <a:ext cx="6820491" cy="3673158"/>
          </a:xfrm>
          <a:ln>
            <a:solidFill>
              <a:schemeClr val="bg1"/>
            </a:solidFill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44FD99B-68C8-439D-9569-B4807D0B65A6}"/>
              </a:ext>
            </a:extLst>
          </p:cNvPr>
          <p:cNvSpPr txBox="1"/>
          <p:nvPr/>
        </p:nvSpPr>
        <p:spPr>
          <a:xfrm>
            <a:off x="328062" y="1134487"/>
            <a:ext cx="4460753" cy="3493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i="1" dirty="0"/>
              <a:t>**Finding the Full Cost of the Suppliers for the part number P0380 at Volume 1,00,000. </a:t>
            </a:r>
            <a:r>
              <a:rPr lang="en-US" sz="1700" i="1" dirty="0">
                <a:sym typeface="Wingdings" panose="05000000000000000000" pitchFamily="2" charset="2"/>
              </a:rPr>
              <a:t></a:t>
            </a:r>
            <a:endParaRPr lang="en-US" sz="1700" i="1" dirty="0"/>
          </a:p>
          <a:p>
            <a:endParaRPr lang="en-US" sz="1700" dirty="0"/>
          </a:p>
          <a:p>
            <a:r>
              <a:rPr kumimoji="0" lang="en-US" altLang="en-US" sz="17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Why Lowest Unit Cost ≠ Lowest Total Cost?</a:t>
            </a:r>
            <a:endParaRPr lang="en-US" sz="1700" dirty="0"/>
          </a:p>
          <a:p>
            <a:r>
              <a:rPr lang="en-US" sz="1700" dirty="0"/>
              <a:t>While unit cost drops by over 50% during early scaling, non-recurring and marginal costs rise sharply beyond 50,000 units, making Full-Cost evaluation critical for supplier selection.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700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70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Example at 50,000 units:</a:t>
            </a:r>
          </a:p>
        </p:txBody>
      </p:sp>
      <p:graphicFrame>
        <p:nvGraphicFramePr>
          <p:cNvPr id="20" name="Table 20">
            <a:extLst>
              <a:ext uri="{FF2B5EF4-FFF2-40B4-BE49-F238E27FC236}">
                <a16:creationId xmlns:a16="http://schemas.microsoft.com/office/drawing/2014/main" id="{1E5B0501-CB12-4E46-B220-47F0ABD6F6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3467570"/>
              </p:ext>
            </p:extLst>
          </p:nvPr>
        </p:nvGraphicFramePr>
        <p:xfrm>
          <a:off x="328062" y="4627751"/>
          <a:ext cx="4185922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2961">
                  <a:extLst>
                    <a:ext uri="{9D8B030D-6E8A-4147-A177-3AD203B41FA5}">
                      <a16:colId xmlns:a16="http://schemas.microsoft.com/office/drawing/2014/main" val="2135790441"/>
                    </a:ext>
                  </a:extLst>
                </a:gridCol>
                <a:gridCol w="2092961">
                  <a:extLst>
                    <a:ext uri="{9D8B030D-6E8A-4147-A177-3AD203B41FA5}">
                      <a16:colId xmlns:a16="http://schemas.microsoft.com/office/drawing/2014/main" val="147304661"/>
                    </a:ext>
                  </a:extLst>
                </a:gridCol>
              </a:tblGrid>
              <a:tr h="263424">
                <a:tc>
                  <a:txBody>
                    <a:bodyPr/>
                    <a:lstStyle/>
                    <a:p>
                      <a:r>
                        <a:rPr lang="en-US" dirty="0"/>
                        <a:t>Cost Type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Amount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5669459"/>
                  </a:ext>
                </a:extLst>
              </a:tr>
              <a:tr h="431510">
                <a:tc>
                  <a:txBody>
                    <a:bodyPr/>
                    <a:lstStyle/>
                    <a:p>
                      <a:r>
                        <a:rPr lang="en-US" dirty="0"/>
                        <a:t>Unit Cost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$70 * 50,000 = $3.5M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8748490"/>
                  </a:ext>
                </a:extLst>
              </a:tr>
              <a:tr h="616442">
                <a:tc>
                  <a:txBody>
                    <a:bodyPr/>
                    <a:lstStyle/>
                    <a:p>
                      <a:r>
                        <a:rPr lang="en-US" dirty="0"/>
                        <a:t>Non-Recuring Expenses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$250K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6576714"/>
                  </a:ext>
                </a:extLst>
              </a:tr>
              <a:tr h="273584">
                <a:tc>
                  <a:txBody>
                    <a:bodyPr/>
                    <a:lstStyle/>
                    <a:p>
                      <a:r>
                        <a:rPr lang="en-US" dirty="0"/>
                        <a:t>Full Cost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$3.75M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66378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7924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720738A-1D3E-4DAE-9EC7-A516D2BC4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020482"/>
          </a:xfrm>
        </p:spPr>
        <p:txBody>
          <a:bodyPr/>
          <a:lstStyle/>
          <a:p>
            <a:pPr algn="ctr"/>
            <a:r>
              <a:rPr lang="en-US" b="1" dirty="0"/>
              <a:t>Scenario Analysis</a:t>
            </a:r>
            <a:endParaRPr lang="en-IN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2E0DD97-B21E-479A-A932-2016872F8A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73200"/>
            <a:ext cx="11287760" cy="4775199"/>
          </a:xfrm>
        </p:spPr>
        <p:txBody>
          <a:bodyPr>
            <a:normAutofit fontScale="92500" lnSpcReduction="10000"/>
          </a:bodyPr>
          <a:lstStyle/>
          <a:p>
            <a:r>
              <a:rPr lang="en-US" sz="2000" u="sng" dirty="0"/>
              <a:t>Problem Statement:</a:t>
            </a:r>
            <a:r>
              <a:rPr lang="en-US" sz="2000" dirty="0"/>
              <a:t> </a:t>
            </a:r>
          </a:p>
          <a:p>
            <a:pPr marL="0" indent="0">
              <a:buNone/>
            </a:pPr>
            <a:r>
              <a:rPr lang="en-US" sz="2000" dirty="0"/>
              <a:t>Identifying the lowest-cost supplier for a given demand scenario when supplier pricing varies by volume and includes both unit and non-recurring costs.</a:t>
            </a:r>
          </a:p>
          <a:p>
            <a:r>
              <a:rPr lang="en-US" sz="2000" u="sng" dirty="0"/>
              <a:t>Formulas used: </a:t>
            </a:r>
          </a:p>
          <a:p>
            <a:pPr lvl="1"/>
            <a:r>
              <a:rPr lang="en-US" sz="1700" dirty="0"/>
              <a:t>Created an scenario Volume Slab with 500 Unit Gap from 1000 – 1,00,000.</a:t>
            </a:r>
          </a:p>
          <a:p>
            <a:pPr lvl="1"/>
            <a:r>
              <a:rPr lang="en-US" sz="1700" dirty="0"/>
              <a:t>Buy - Scenario Full Cost = IF(HASONEVALUE(Quotes[Supplier]), MINX(FILTER(Quotes, 'Scenario Volume'[Scenario Volume Value] &gt;= Quotes[Volume] ), Quotes[</a:t>
            </a:r>
            <a:r>
              <a:rPr lang="en-US" sz="1700" dirty="0" err="1"/>
              <a:t>Non_recurring_expenses</a:t>
            </a:r>
            <a:r>
              <a:rPr lang="en-US" sz="1700" dirty="0"/>
              <a:t>] + DIVIDE(Quotes[</a:t>
            </a:r>
            <a:r>
              <a:rPr lang="en-US" sz="1700" dirty="0" err="1"/>
              <a:t>Unit_Cost</a:t>
            </a:r>
            <a:r>
              <a:rPr lang="en-US" sz="1700" dirty="0"/>
              <a:t>] * 'Scenario Volume'[Scenario Volume Value], [Yield Rate])), BLANK()). </a:t>
            </a:r>
          </a:p>
          <a:p>
            <a:pPr lvl="1"/>
            <a:r>
              <a:rPr lang="en-US" sz="1700" dirty="0"/>
              <a:t>Calculates the total buy cost for a </a:t>
            </a:r>
            <a:r>
              <a:rPr lang="en-US" sz="1700" b="1" dirty="0"/>
              <a:t>specific supplier</a:t>
            </a:r>
            <a:r>
              <a:rPr lang="en-US" sz="1700" dirty="0"/>
              <a:t> at the selected scenario volume, accounting for unit cost, non-recurring expenses, and yield.</a:t>
            </a:r>
          </a:p>
          <a:p>
            <a:pPr lvl="1"/>
            <a:r>
              <a:rPr lang="en-US" sz="1700" dirty="0"/>
              <a:t>Buy - Full Cost(All) = MINX(FILTER(Quotes, Quotes[Volume] &lt;= MIN('Scenario Table(All)'[Scenario Volume])), MIN('Scenario Table(All)'[Scenario Volume]) * Quotes[</a:t>
            </a:r>
            <a:r>
              <a:rPr lang="en-US" sz="1700" dirty="0" err="1"/>
              <a:t>Unit_Cost</a:t>
            </a:r>
            <a:r>
              <a:rPr lang="en-US" sz="1700" dirty="0"/>
              <a:t>] + Quotes[</a:t>
            </a:r>
            <a:r>
              <a:rPr lang="en-US" sz="1700" dirty="0" err="1"/>
              <a:t>Non_recurring_expenses</a:t>
            </a:r>
            <a:r>
              <a:rPr lang="en-US" sz="1700" dirty="0"/>
              <a:t>]).</a:t>
            </a:r>
          </a:p>
          <a:p>
            <a:pPr lvl="1"/>
            <a:r>
              <a:rPr lang="en-US" sz="1700" dirty="0"/>
              <a:t>Evaluates the total buy cost across </a:t>
            </a:r>
            <a:r>
              <a:rPr lang="en-US" sz="1700" b="1" dirty="0"/>
              <a:t>all suppliers</a:t>
            </a:r>
            <a:r>
              <a:rPr lang="en-US" sz="1700" dirty="0"/>
              <a:t> at the selected scenario volume and returns the </a:t>
            </a:r>
            <a:r>
              <a:rPr lang="en-US" sz="1700" b="1" dirty="0"/>
              <a:t>minimum full cost</a:t>
            </a:r>
            <a:r>
              <a:rPr lang="en-US" sz="1700" dirty="0"/>
              <a:t>, enabling optimal supplier selection.</a:t>
            </a:r>
          </a:p>
          <a:p>
            <a:pPr marL="457200" lvl="1" indent="0">
              <a:buNone/>
            </a:pPr>
            <a:endParaRPr lang="en-US" sz="20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677257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78FD4F6-345E-4368-9A54-22B25F1161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9542" y="1422737"/>
            <a:ext cx="5430625" cy="3307980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2F8E643-658D-40A3-9279-2FF776B4F60D}"/>
              </a:ext>
            </a:extLst>
          </p:cNvPr>
          <p:cNvSpPr txBox="1"/>
          <p:nvPr/>
        </p:nvSpPr>
        <p:spPr>
          <a:xfrm>
            <a:off x="548639" y="1219468"/>
            <a:ext cx="5840902" cy="5093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u="sng" dirty="0"/>
              <a:t>Interpretation:</a:t>
            </a:r>
          </a:p>
          <a:p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Low Volume (&lt;= 10,000)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0" i="0" u="none" strike="noStrike" dirty="0">
                <a:effectLst/>
              </a:rPr>
              <a:t>Cost differences are driven mainly by </a:t>
            </a:r>
            <a:r>
              <a:rPr lang="en-US" sz="1500" b="1" i="0" u="none" strike="noStrike" dirty="0">
                <a:effectLst/>
              </a:rPr>
              <a:t>Non-Recurring Expenses (NRE)</a:t>
            </a:r>
            <a:r>
              <a:rPr lang="en-US" sz="15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0" i="0" u="none" strike="noStrike" dirty="0">
                <a:effectLst/>
              </a:rPr>
              <a:t>Suppliers with lower setup/tooling costs appear more competitive, even if their unit cost is higher.</a:t>
            </a:r>
          </a:p>
          <a:p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Mid Volume(~20,000 – 40,000)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1" i="0" u="none" strike="noStrike" dirty="0">
                <a:effectLst/>
              </a:rPr>
              <a:t>Unit cost begins to dominate</a:t>
            </a:r>
            <a:r>
              <a:rPr lang="en-US" sz="1500" b="0" i="0" u="none" strike="noStrike" dirty="0">
                <a:effectLst/>
              </a:rPr>
              <a:t> total cost.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0" i="0" u="none" strike="noStrike" dirty="0">
                <a:effectLst/>
              </a:rPr>
              <a:t>Supplier cost curves start to converge, and small unit-cost differences create large total-cost impacts.</a:t>
            </a:r>
          </a:p>
          <a:p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High Volume(&gt;= 50,000)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0" i="0" u="none" strike="noStrike" dirty="0">
                <a:effectLst/>
              </a:rPr>
              <a:t>Full cost rises sharply for all suppliers.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0" i="0" u="none" strike="noStrike" dirty="0">
                <a:effectLst/>
              </a:rPr>
              <a:t>This reflects </a:t>
            </a:r>
            <a:r>
              <a:rPr lang="en-US" sz="1500" b="1" i="0" u="none" strike="noStrike" dirty="0">
                <a:effectLst/>
              </a:rPr>
              <a:t>capacity constraints, overtime labor, and incremental setup costs</a:t>
            </a:r>
            <a:r>
              <a:rPr lang="en-US" sz="1500" b="0" i="0" u="none" strike="noStrike" dirty="0">
                <a:effectLst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0" i="0" u="none" strike="noStrike" dirty="0">
                <a:effectLst/>
              </a:rPr>
              <a:t>Cost separation increases again, indicating that supplier scalability differs at high demand.</a:t>
            </a:r>
          </a:p>
          <a:p>
            <a:endParaRPr lang="en-US" sz="1500" dirty="0"/>
          </a:p>
          <a:p>
            <a:r>
              <a:rPr lang="en-US" sz="1400" u="sng" dirty="0">
                <a:latin typeface="Arial" panose="020B0604020202020204" pitchFamily="34" charset="0"/>
                <a:cs typeface="Arial" panose="020B0604020202020204" pitchFamily="34" charset="0"/>
              </a:rPr>
              <a:t>Formula Used:</a:t>
            </a:r>
            <a:r>
              <a:rPr lang="en-US" sz="1400" dirty="0"/>
              <a:t> </a:t>
            </a:r>
          </a:p>
          <a:p>
            <a:r>
              <a:rPr lang="en-US" sz="1400" dirty="0"/>
              <a:t>Buy - Full Cost(All) = MINX(FILTER(Quotes, Quotes[Volume] &lt;= MIN('Scenario Table(All)'[Scenario Volume])), MIN('Scenario Table(All)'[Scenario Volume]) * Quotes[</a:t>
            </a:r>
            <a:r>
              <a:rPr lang="en-US" sz="1400" dirty="0" err="1"/>
              <a:t>Unit_Cost</a:t>
            </a:r>
            <a:r>
              <a:rPr lang="en-US" sz="1400" dirty="0"/>
              <a:t>] + Quotes[</a:t>
            </a:r>
            <a:r>
              <a:rPr lang="en-US" sz="1400" dirty="0" err="1"/>
              <a:t>Non_Recurring_Expenses</a:t>
            </a:r>
            <a:r>
              <a:rPr lang="en-US" sz="1400" dirty="0"/>
              <a:t>]).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9D8976-4F91-4E25-9228-348BB97DDD4C}"/>
              </a:ext>
            </a:extLst>
          </p:cNvPr>
          <p:cNvSpPr txBox="1"/>
          <p:nvPr/>
        </p:nvSpPr>
        <p:spPr>
          <a:xfrm>
            <a:off x="6389541" y="4927431"/>
            <a:ext cx="543062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Why This Chart? </a:t>
            </a:r>
          </a:p>
          <a:p>
            <a:r>
              <a:rPr lang="en-US" sz="1500" dirty="0"/>
              <a:t>This model dynamically selects the lowest full-cost supplier for any demand scenario by correctly aligning scenario volume with supplier quote slabs.</a:t>
            </a:r>
          </a:p>
        </p:txBody>
      </p:sp>
    </p:spTree>
    <p:extLst>
      <p:ext uri="{BB962C8B-B14F-4D97-AF65-F5344CB8AC3E}">
        <p14:creationId xmlns:p14="http://schemas.microsoft.com/office/powerpoint/2010/main" val="8591202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47BB6-1A76-4C5F-B324-1EB8D5591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716" y="0"/>
            <a:ext cx="10515600" cy="975331"/>
          </a:xfrm>
        </p:spPr>
        <p:txBody>
          <a:bodyPr/>
          <a:lstStyle/>
          <a:p>
            <a:pPr algn="ctr"/>
            <a:r>
              <a:rPr lang="en-US" dirty="0"/>
              <a:t>Full Cost Analysis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8526F3-D5C8-4007-9D75-9E64A8AC25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717" y="975331"/>
            <a:ext cx="5696284" cy="1371351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A8A4902-3112-495C-B563-89920403A9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3280" y="975331"/>
            <a:ext cx="6123003" cy="5252749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5A4E46A-F67D-4638-9B42-53353870C097}"/>
              </a:ext>
            </a:extLst>
          </p:cNvPr>
          <p:cNvSpPr txBox="1"/>
          <p:nvPr/>
        </p:nvSpPr>
        <p:spPr>
          <a:xfrm>
            <a:off x="145716" y="2519680"/>
            <a:ext cx="5696284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Why Full Cost?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500" b="1" dirty="0"/>
              <a:t>To calculate realistic Buy cost at any demand level</a:t>
            </a:r>
            <a:r>
              <a:rPr lang="en-US" sz="1500" dirty="0"/>
              <a:t>. (Supplier quotes are given at </a:t>
            </a:r>
            <a:r>
              <a:rPr lang="en-US" sz="1500" b="1" dirty="0"/>
              <a:t>fixed volume slabs</a:t>
            </a:r>
            <a:r>
              <a:rPr lang="en-US" sz="1500" dirty="0"/>
              <a:t>, but demand is </a:t>
            </a:r>
            <a:r>
              <a:rPr lang="en-US" sz="1500" b="1" dirty="0"/>
              <a:t>dynamic</a:t>
            </a:r>
            <a:r>
              <a:rPr lang="en-US" sz="1500" dirty="0"/>
              <a:t>).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500" b="1" dirty="0"/>
              <a:t>To correctly handle yield rate (real-world constraint)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500" dirty="0"/>
              <a:t>To ensure </a:t>
            </a:r>
            <a:r>
              <a:rPr lang="en-US" sz="1500" b="1" dirty="0"/>
              <a:t>only one supplier is evaluated at a time.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500" dirty="0"/>
              <a:t>To select the </a:t>
            </a:r>
            <a:r>
              <a:rPr lang="en-US" sz="1500" b="1" dirty="0"/>
              <a:t>best applicable quote for that supplier.</a:t>
            </a:r>
            <a:endParaRPr lang="en-US" sz="1500" dirty="0"/>
          </a:p>
          <a:p>
            <a:endParaRPr lang="en-US" sz="1500" dirty="0"/>
          </a:p>
          <a:p>
            <a:r>
              <a:rPr lang="en-US" sz="1500" u="sng" dirty="0">
                <a:latin typeface="Arial" panose="020B0604020202020204" pitchFamily="34" charset="0"/>
                <a:cs typeface="Arial" panose="020B0604020202020204" pitchFamily="34" charset="0"/>
              </a:rPr>
              <a:t>Formula Used:</a:t>
            </a:r>
          </a:p>
          <a:p>
            <a:r>
              <a:rPr lang="en-IN" sz="1500" dirty="0"/>
              <a:t>Buy - Scenario Full Cost = IF(HASONEVALUE(Quotes[Supplier]), MINX(FILTER(Quotes, 'Scenario Volume'[Scenario Volume Value] &gt;= Quotes[Volume] ), Quotes[Non_Recurring_Expenses] + DIVIDE(Quotes[Unit_Cost] * 'Scenario Volume'[Scenario Volume Value], [Yield Rate])), BLANK()).</a:t>
            </a:r>
          </a:p>
          <a:p>
            <a:endParaRPr lang="en-IN" sz="1500" dirty="0"/>
          </a:p>
        </p:txBody>
      </p:sp>
    </p:spTree>
    <p:extLst>
      <p:ext uri="{BB962C8B-B14F-4D97-AF65-F5344CB8AC3E}">
        <p14:creationId xmlns:p14="http://schemas.microsoft.com/office/powerpoint/2010/main" val="19898986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06E6E-72C0-4176-BD20-5CC00BEFF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" y="1"/>
            <a:ext cx="10515600" cy="1076960"/>
          </a:xfrm>
        </p:spPr>
        <p:txBody>
          <a:bodyPr/>
          <a:lstStyle/>
          <a:p>
            <a:pPr algn="ctr"/>
            <a:r>
              <a:rPr lang="en-US" dirty="0"/>
              <a:t>Full Cost Vs Full Cost(All)</a:t>
            </a:r>
            <a:endParaRPr lang="en-IN" dirty="0"/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55B891A4-23A6-4CEB-A3BB-108D100576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4176866"/>
              </p:ext>
            </p:extLst>
          </p:nvPr>
        </p:nvGraphicFramePr>
        <p:xfrm>
          <a:off x="741680" y="973666"/>
          <a:ext cx="9519921" cy="5496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3307">
                  <a:extLst>
                    <a:ext uri="{9D8B030D-6E8A-4147-A177-3AD203B41FA5}">
                      <a16:colId xmlns:a16="http://schemas.microsoft.com/office/drawing/2014/main" val="1185046762"/>
                    </a:ext>
                  </a:extLst>
                </a:gridCol>
                <a:gridCol w="3173307">
                  <a:extLst>
                    <a:ext uri="{9D8B030D-6E8A-4147-A177-3AD203B41FA5}">
                      <a16:colId xmlns:a16="http://schemas.microsoft.com/office/drawing/2014/main" val="4277985366"/>
                    </a:ext>
                  </a:extLst>
                </a:gridCol>
                <a:gridCol w="3173307">
                  <a:extLst>
                    <a:ext uri="{9D8B030D-6E8A-4147-A177-3AD203B41FA5}">
                      <a16:colId xmlns:a16="http://schemas.microsoft.com/office/drawing/2014/main" val="35975918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b="1" dirty="0"/>
                        <a:t>Aspect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/>
                        <a:t>Buy Cost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Buy Cost (All)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00633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0"/>
                        <a:t>Scope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0"/>
                        <a:t>Single supplier (row-level)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0" dirty="0"/>
                        <a:t>All suppliers (global comparison)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6339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0"/>
                        <a:t>Supplier Context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0"/>
                        <a:t>Evaluated per supplier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0" dirty="0"/>
                        <a:t>Evaluated across all suppliers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6866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0"/>
                        <a:t>Purpose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Calculate realistic buy cost for a selected supplier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Identify the lowest buy cost among all suppliers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615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0"/>
                        <a:t>Volume Handling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Uses scenario volume aligned to supplier quote slabs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Uses scenario volume and evaluates all eligible quotes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18648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0"/>
                        <a:t>Yield Rate Adjustment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0"/>
                        <a:t>✅ Included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0"/>
                        <a:t>❌ Not included (baseline comparison)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83058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0"/>
                        <a:t>Non-Recurring Expense (NRE)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0"/>
                        <a:t>✅ Included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0"/>
                        <a:t>✅ Included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73226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0"/>
                        <a:t>Output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0"/>
                        <a:t>Supplier-level cost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0"/>
                        <a:t>Minimum cost 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18186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0"/>
                        <a:t>Used 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0"/>
                        <a:t>Supplier-wise visuals, tables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KPI cards, “Lowest Cost Supplier” indicators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7529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99467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F34BE-A9E4-4E32-9948-C0C0EE32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47762"/>
          </a:xfrm>
        </p:spPr>
        <p:txBody>
          <a:bodyPr/>
          <a:lstStyle/>
          <a:p>
            <a:pPr algn="ctr"/>
            <a:r>
              <a:rPr lang="en-US" dirty="0"/>
              <a:t>Make Vs Buy Analysis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5F765-6D2D-40DF-A76D-1C5FEA0BD3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130" y="1483360"/>
            <a:ext cx="11079510" cy="5090160"/>
          </a:xfrm>
        </p:spPr>
        <p:txBody>
          <a:bodyPr>
            <a:normAutofit/>
          </a:bodyPr>
          <a:lstStyle/>
          <a:p>
            <a:r>
              <a:rPr lang="en-US" sz="1600" dirty="0"/>
              <a:t>Make vs Buy analysis compares the full internal manufacturing cost against the lowest external procurement cost to determine the most cost-effective sourcing decision.</a:t>
            </a:r>
            <a:endParaRPr lang="en-US" sz="1700" u="sng" dirty="0">
              <a:latin typeface="+mn-lt"/>
            </a:endParaRPr>
          </a:p>
          <a:p>
            <a:pPr marL="0" indent="0">
              <a:buNone/>
            </a:pPr>
            <a:endParaRPr lang="en-US" sz="1700" u="sng" dirty="0">
              <a:latin typeface="+mn-lt"/>
            </a:endParaRPr>
          </a:p>
          <a:p>
            <a:r>
              <a:rPr lang="en-US" sz="1700" u="sng" dirty="0">
                <a:latin typeface="+mn-lt"/>
              </a:rPr>
              <a:t>Formulas</a:t>
            </a:r>
          </a:p>
          <a:p>
            <a:pPr lvl="1"/>
            <a:r>
              <a:rPr lang="en-IN" sz="1500" dirty="0">
                <a:latin typeface="+mn-lt"/>
              </a:rPr>
              <a:t>Additional Unit Capacity Required = MINX(</a:t>
            </a:r>
            <a:r>
              <a:rPr lang="en-IN" sz="1500" dirty="0" err="1">
                <a:latin typeface="+mn-lt"/>
              </a:rPr>
              <a:t>Internal_Mfg_Resource_Estimates</a:t>
            </a:r>
            <a:r>
              <a:rPr lang="en-IN" sz="1500" dirty="0">
                <a:latin typeface="+mn-lt"/>
              </a:rPr>
              <a:t>,  MAX('Scenario Volume'[Scenario Volume Value] - </a:t>
            </a:r>
            <a:r>
              <a:rPr lang="en-IN" sz="1500" dirty="0" err="1">
                <a:latin typeface="+mn-lt"/>
              </a:rPr>
              <a:t>Internal_Mfg_Resource_Estimates</a:t>
            </a:r>
            <a:r>
              <a:rPr lang="en-IN" sz="1500" dirty="0">
                <a:latin typeface="+mn-lt"/>
              </a:rPr>
              <a:t>[</a:t>
            </a:r>
            <a:r>
              <a:rPr lang="en-IN" sz="1500" dirty="0" err="1">
                <a:latin typeface="+mn-lt"/>
              </a:rPr>
              <a:t>Existing_Capacity</a:t>
            </a:r>
            <a:r>
              <a:rPr lang="en-IN" sz="1500" dirty="0">
                <a:latin typeface="+mn-lt"/>
              </a:rPr>
              <a:t>], 0)).</a:t>
            </a:r>
          </a:p>
          <a:p>
            <a:pPr lvl="1"/>
            <a:r>
              <a:rPr lang="en-US" sz="1500" dirty="0">
                <a:latin typeface="+mn-lt"/>
              </a:rPr>
              <a:t>Capital Investment Required(Make) = MINX(</a:t>
            </a:r>
            <a:r>
              <a:rPr lang="en-US" sz="1500" dirty="0" err="1">
                <a:latin typeface="+mn-lt"/>
              </a:rPr>
              <a:t>Internal_Mfg_Resource_Estimates,Internal_Mfg_Resource_Estimates</a:t>
            </a:r>
            <a:r>
              <a:rPr lang="en-US" sz="1500" dirty="0">
                <a:latin typeface="+mn-lt"/>
              </a:rPr>
              <a:t>[</a:t>
            </a:r>
            <a:r>
              <a:rPr lang="en-US" sz="1500" dirty="0" err="1">
                <a:latin typeface="+mn-lt"/>
              </a:rPr>
              <a:t>Machine_Fixed_Cost</a:t>
            </a:r>
            <a:r>
              <a:rPr lang="en-US" sz="1500" dirty="0">
                <a:latin typeface="+mn-lt"/>
              </a:rPr>
              <a:t>] * ROUNDUP(DIVIDE([Additional Unit Capacity Required],  MIN(</a:t>
            </a:r>
            <a:r>
              <a:rPr lang="en-US" sz="1500" dirty="0" err="1">
                <a:latin typeface="+mn-lt"/>
              </a:rPr>
              <a:t>Internal_Mfg_Resource_Estimates</a:t>
            </a:r>
            <a:r>
              <a:rPr lang="en-US" sz="1500" dirty="0">
                <a:latin typeface="+mn-lt"/>
              </a:rPr>
              <a:t>[</a:t>
            </a:r>
            <a:r>
              <a:rPr lang="en-US" sz="1500" dirty="0" err="1">
                <a:latin typeface="+mn-lt"/>
              </a:rPr>
              <a:t>Unit_Capacity</a:t>
            </a:r>
            <a:r>
              <a:rPr lang="en-US" sz="1500" dirty="0">
                <a:latin typeface="+mn-lt"/>
              </a:rPr>
              <a:t>])), 0))</a:t>
            </a:r>
            <a:r>
              <a:rPr lang="en-IN" sz="1500" dirty="0">
                <a:latin typeface="+mn-lt"/>
              </a:rPr>
              <a:t>.</a:t>
            </a:r>
          </a:p>
          <a:p>
            <a:pPr lvl="1"/>
            <a:r>
              <a:rPr lang="en-US" sz="1500" dirty="0">
                <a:latin typeface="+mn-lt"/>
              </a:rPr>
              <a:t>Cost Avoidance = IF(HASONEVALUE(</a:t>
            </a:r>
            <a:r>
              <a:rPr lang="en-US" sz="1500" dirty="0" err="1">
                <a:latin typeface="+mn-lt"/>
              </a:rPr>
              <a:t>Product_Dimension</a:t>
            </a:r>
            <a:r>
              <a:rPr lang="en-US" sz="1500" dirty="0">
                <a:latin typeface="+mn-lt"/>
              </a:rPr>
              <a:t>[</a:t>
            </a:r>
            <a:r>
              <a:rPr lang="en-US" sz="1500" dirty="0" err="1">
                <a:latin typeface="+mn-lt"/>
              </a:rPr>
              <a:t>Part_Name</a:t>
            </a:r>
            <a:r>
              <a:rPr lang="en-US" sz="1500" dirty="0">
                <a:latin typeface="+mn-lt"/>
              </a:rPr>
              <a:t>]), ABS([Make Scenario(Full Cost)] - [Buy - Scenario Full Cost]), BLANK())</a:t>
            </a:r>
            <a:r>
              <a:rPr lang="en-IN" sz="1500" dirty="0">
                <a:latin typeface="+mn-lt"/>
              </a:rPr>
              <a:t>.</a:t>
            </a:r>
          </a:p>
          <a:p>
            <a:pPr lvl="1"/>
            <a:r>
              <a:rPr lang="en-IN" sz="1500" dirty="0">
                <a:latin typeface="+mn-lt"/>
              </a:rPr>
              <a:t>Make Scenario(Full Cost) = MINX(</a:t>
            </a:r>
            <a:r>
              <a:rPr lang="en-IN" sz="1500" dirty="0" err="1">
                <a:latin typeface="+mn-lt"/>
              </a:rPr>
              <a:t>Internal_Mfg_Resource_Estimates</a:t>
            </a:r>
            <a:r>
              <a:rPr lang="en-IN" sz="1500" dirty="0">
                <a:latin typeface="+mn-lt"/>
              </a:rPr>
              <a:t>, [Capital Investment Required(Make)] + (</a:t>
            </a:r>
            <a:r>
              <a:rPr lang="en-IN" sz="1500" dirty="0" err="1">
                <a:latin typeface="+mn-lt"/>
              </a:rPr>
              <a:t>Internal_Mfg_Resource_Estimates</a:t>
            </a:r>
            <a:r>
              <a:rPr lang="en-IN" sz="1500" dirty="0">
                <a:latin typeface="+mn-lt"/>
              </a:rPr>
              <a:t>[</a:t>
            </a:r>
            <a:r>
              <a:rPr lang="en-IN" sz="1500" dirty="0" err="1">
                <a:latin typeface="+mn-lt"/>
              </a:rPr>
              <a:t>Cost_per_Unit</a:t>
            </a:r>
            <a:r>
              <a:rPr lang="en-IN" sz="1500" dirty="0">
                <a:latin typeface="+mn-lt"/>
              </a:rPr>
              <a:t>] * 'Scenario Volume'[Scenario Volume Value])).</a:t>
            </a:r>
          </a:p>
          <a:p>
            <a:pPr lvl="1"/>
            <a:r>
              <a:rPr lang="en-US" sz="1500" dirty="0">
                <a:latin typeface="+mn-lt"/>
              </a:rPr>
              <a:t>Make Vs Buy = IF(HASONEVALUE(</a:t>
            </a:r>
            <a:r>
              <a:rPr lang="en-US" sz="1500" dirty="0" err="1">
                <a:latin typeface="+mn-lt"/>
              </a:rPr>
              <a:t>Product_Dimension</a:t>
            </a:r>
            <a:r>
              <a:rPr lang="en-US" sz="1500" dirty="0">
                <a:latin typeface="+mn-lt"/>
              </a:rPr>
              <a:t>[</a:t>
            </a:r>
            <a:r>
              <a:rPr lang="en-US" sz="1500" dirty="0" err="1">
                <a:latin typeface="+mn-lt"/>
              </a:rPr>
              <a:t>Part_Name</a:t>
            </a:r>
            <a:r>
              <a:rPr lang="en-US" sz="1500" dirty="0">
                <a:latin typeface="+mn-lt"/>
              </a:rPr>
              <a:t>]), SWITCH(TRUE(), ABS([Make Scenario(Full Cost)] - [Buy - Scenario Full Cost]) = 0 , BLANK(), [Make Scenario(Full Cost)] - [Buy - Scenario Full Cost] &gt; 0, "Buy", "Make"), BLANK()).</a:t>
            </a:r>
          </a:p>
        </p:txBody>
      </p:sp>
    </p:spTree>
    <p:extLst>
      <p:ext uri="{BB962C8B-B14F-4D97-AF65-F5344CB8AC3E}">
        <p14:creationId xmlns:p14="http://schemas.microsoft.com/office/powerpoint/2010/main" val="8244984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E4F1B-37F7-4D27-9EBE-37D20C153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192" y="127458"/>
            <a:ext cx="8574008" cy="853440"/>
          </a:xfrm>
        </p:spPr>
        <p:txBody>
          <a:bodyPr/>
          <a:lstStyle/>
          <a:p>
            <a:r>
              <a:rPr lang="en-US" sz="4400" dirty="0"/>
              <a:t>Buy Vs Make Decision Making</a:t>
            </a:r>
            <a:endParaRPr lang="en-IN" sz="4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B6E8EE-3B8A-471E-BA5B-BF143608AE38}"/>
              </a:ext>
            </a:extLst>
          </p:cNvPr>
          <p:cNvSpPr txBox="1"/>
          <p:nvPr/>
        </p:nvSpPr>
        <p:spPr>
          <a:xfrm>
            <a:off x="265192" y="1059739"/>
            <a:ext cx="7060168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i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**This is a Visual for the supplier Ringo Nova at Volume 50,000 Units.</a:t>
            </a:r>
          </a:p>
          <a:p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Q. Why This Chart? 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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500" dirty="0"/>
              <a:t>A Make vs Buy recommendation for each part along with the Cost Avoidance achieved by choosing the cheaper option.</a:t>
            </a:r>
          </a:p>
          <a:p>
            <a:endParaRPr lang="en-US" sz="1500" dirty="0"/>
          </a:p>
          <a:p>
            <a:r>
              <a:rPr lang="en-US" sz="1500" dirty="0"/>
              <a:t>Make recommended for 3 parts, generating ~$1.73M in total cost savings.</a:t>
            </a:r>
          </a:p>
          <a:p>
            <a:r>
              <a:rPr lang="en-US" sz="1500" dirty="0"/>
              <a:t>Buy recommended for 6 parts, delivering ~$3.51M in total cost savings.</a:t>
            </a:r>
          </a:p>
          <a:p>
            <a:endParaRPr lang="en-US" sz="1500" dirty="0"/>
          </a:p>
          <a:p>
            <a:r>
              <a:rPr lang="en-US" sz="1500" i="1" dirty="0"/>
              <a:t>**67% of parts are cheaper to Buy, while 33% are cheaper to Make, showing that Make vs Buy decisions must be evaluated part-by-part.</a:t>
            </a:r>
            <a:endParaRPr lang="en-IN" sz="1500" i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732359-520C-44C8-A2FA-C3C281A5C139}"/>
              </a:ext>
            </a:extLst>
          </p:cNvPr>
          <p:cNvSpPr txBox="1"/>
          <p:nvPr/>
        </p:nvSpPr>
        <p:spPr>
          <a:xfrm>
            <a:off x="265192" y="3509014"/>
            <a:ext cx="3605768" cy="3093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Q. Why This Chart? 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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500" dirty="0"/>
              <a:t>Internal manufacturing feasibility per part.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500" dirty="0"/>
              <a:t>Capacity constraints and capital investment required.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500" dirty="0"/>
              <a:t>Final Make Scenario Full Cost.</a:t>
            </a:r>
          </a:p>
          <a:p>
            <a:endParaRPr lang="en-US" sz="1500" dirty="0"/>
          </a:p>
          <a:p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Conclusion: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Parts requiring &gt;$2M capex are consistently recommended as Buy. Whereas, Zero-capex parts are consistently recommended as Make.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1531F1E-ABE3-4B3A-9B1E-CD6EF1C5E8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5430" y="853440"/>
            <a:ext cx="4630650" cy="2575560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EC20FF0-C5A2-4B14-BB95-D52A57444C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0960" y="3654207"/>
            <a:ext cx="7945120" cy="3010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0509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CDE4303-3DCB-4545-898F-F15EB563B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120" y="360363"/>
            <a:ext cx="3042920" cy="787717"/>
          </a:xfrm>
        </p:spPr>
        <p:txBody>
          <a:bodyPr/>
          <a:lstStyle/>
          <a:p>
            <a:r>
              <a:rPr lang="en-US" dirty="0"/>
              <a:t>Summary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E26485-7728-4CB1-980F-55AE501AC9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240" y="1295082"/>
            <a:ext cx="11399520" cy="5268277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1700" b="1" i="0" u="none" strike="noStrike" dirty="0">
                <a:effectLst/>
              </a:rPr>
              <a:t>Evaluated 9 critical replacement parts</a:t>
            </a:r>
            <a:r>
              <a:rPr lang="en-US" sz="1700" b="0" i="0" u="none" strike="noStrike" dirty="0">
                <a:effectLst/>
              </a:rPr>
              <a:t> using a scenario-based full-cost model that integrates supplier pricing, non-recurring expenses, yield impact, and internal capacity constraints</a:t>
            </a:r>
            <a:r>
              <a:rPr lang="en-US" sz="1700" dirty="0"/>
              <a:t>.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1700" dirty="0"/>
              <a:t> </a:t>
            </a:r>
            <a:r>
              <a:rPr lang="en-US" sz="1700" b="1" i="0" u="none" strike="noStrike" dirty="0">
                <a:effectLst/>
              </a:rPr>
              <a:t>Demonstrated that unit cost is not a reliable decision metric</a:t>
            </a:r>
            <a:r>
              <a:rPr lang="en-US" sz="1700" b="0" i="0" u="none" strike="noStrike" dirty="0">
                <a:effectLst/>
              </a:rPr>
              <a:t>: while unit cost improves by ~50% at scale, non-recurring and capacity-driven costs increase to </a:t>
            </a:r>
            <a:r>
              <a:rPr lang="en-US" sz="1700" b="1" i="0" u="none" strike="noStrike" dirty="0">
                <a:effectLst/>
              </a:rPr>
              <a:t>$250K–$300K</a:t>
            </a:r>
            <a:r>
              <a:rPr lang="en-US" sz="1700" b="0" i="0" u="none" strike="noStrike" dirty="0">
                <a:effectLst/>
              </a:rPr>
              <a:t>, materially impacting total cost</a:t>
            </a:r>
            <a:r>
              <a:rPr lang="en-US" sz="1700" dirty="0"/>
              <a:t>. 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1700" b="1" i="0" u="none" strike="noStrike" dirty="0">
                <a:effectLst/>
              </a:rPr>
              <a:t>Applied dynamic demand scenarios (1K–50K+ units)</a:t>
            </a:r>
            <a:r>
              <a:rPr lang="en-US" sz="1700" b="0" i="0" u="none" strike="noStrike" dirty="0">
                <a:effectLst/>
              </a:rPr>
              <a:t> to identify the lowest full-cost option across suppliers and internal manufacturing alternatives</a:t>
            </a:r>
            <a:r>
              <a:rPr lang="en-US" sz="1700" dirty="0"/>
              <a:t>.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1700" dirty="0"/>
              <a:t> </a:t>
            </a:r>
            <a:r>
              <a:rPr lang="en-US" sz="1700" b="1" i="0" u="none" strike="noStrike" dirty="0">
                <a:effectLst/>
              </a:rPr>
              <a:t>Decision outcomes:</a:t>
            </a:r>
          </a:p>
          <a:p>
            <a:pPr mar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700" b="1" i="0" u="none" strike="noStrike" dirty="0">
                <a:effectLst/>
              </a:rPr>
              <a:t>	1. Make recommended for 3 parts</a:t>
            </a:r>
            <a:r>
              <a:rPr lang="en-US" sz="1700" b="0" i="0" u="none" strike="noStrike" dirty="0">
                <a:effectLst/>
              </a:rPr>
              <a:t>, delivering </a:t>
            </a:r>
            <a:r>
              <a:rPr lang="en-US" sz="1700" b="1" i="0" u="none" strike="noStrike" dirty="0">
                <a:effectLst/>
              </a:rPr>
              <a:t>~$1.73M in savings</a:t>
            </a:r>
            <a:r>
              <a:rPr lang="en-US" sz="1700" b="0" i="0" u="none" strike="noStrike" dirty="0">
                <a:effectLst/>
              </a:rPr>
              <a:t>, enabled by sufficient existing capacity and zero incremental capex. </a:t>
            </a:r>
          </a:p>
          <a:p>
            <a:pPr mar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700" b="1" i="0" u="none" strike="noStrike" dirty="0">
                <a:effectLst/>
              </a:rPr>
              <a:t>	2. Buy recommended for 6 parts</a:t>
            </a:r>
            <a:r>
              <a:rPr lang="en-US" sz="1700" b="0" i="0" u="none" strike="noStrike" dirty="0">
                <a:effectLst/>
              </a:rPr>
              <a:t>, unlocking </a:t>
            </a:r>
            <a:r>
              <a:rPr lang="en-US" sz="1700" b="1" i="0" u="none" strike="noStrike" dirty="0">
                <a:effectLst/>
              </a:rPr>
              <a:t>~$3.51M in savings</a:t>
            </a:r>
            <a:r>
              <a:rPr lang="en-US" sz="1700" b="0" i="0" u="none" strike="noStrike" dirty="0">
                <a:effectLst/>
              </a:rPr>
              <a:t>, driven by prohibitive internal capital investment requirements (&gt; $2M).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1700" b="1" i="0" u="none" strike="noStrike" dirty="0">
                <a:effectLst/>
              </a:rPr>
              <a:t>Strategic insight:</a:t>
            </a:r>
            <a:r>
              <a:rPr lang="en-US" sz="1700" b="0" i="0" u="none" strike="noStrike" dirty="0">
                <a:effectLst/>
              </a:rPr>
              <a:t> Internal capacity availability is the primary determinant of Make decisions; when capacity expansion is required, Buy consistently </a:t>
            </a:r>
            <a:r>
              <a:rPr lang="en-US" sz="1700" b="0" i="0" u="none" strike="noStrike" dirty="0">
                <a:effectLst/>
                <a:latin typeface="Arial" panose="020B0604020202020204" pitchFamily="34" charset="0"/>
              </a:rPr>
              <a:t>outperforms Make on a full-cost basis.</a:t>
            </a:r>
            <a:endParaRPr lang="en-IN" sz="1700" dirty="0"/>
          </a:p>
        </p:txBody>
      </p:sp>
    </p:spTree>
    <p:extLst>
      <p:ext uri="{BB962C8B-B14F-4D97-AF65-F5344CB8AC3E}">
        <p14:creationId xmlns:p14="http://schemas.microsoft.com/office/powerpoint/2010/main" val="37150802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1F52362-2762-446A-9FB0-0D62E83BCCA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You.</a:t>
            </a:r>
            <a:endParaRPr lang="en-IN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DFA4899-B908-4633-B578-9221799F52D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US" dirty="0"/>
              <a:t>Presentation by Aditya Verma</a:t>
            </a:r>
          </a:p>
          <a:p>
            <a:pPr algn="r"/>
            <a:r>
              <a:rPr lang="en-US" dirty="0"/>
              <a:t>~Aspiring Business/Data Analyst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0425330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12003</TotalTime>
  <Words>1821</Words>
  <Application>Microsoft Office PowerPoint</Application>
  <PresentationFormat>Widescreen</PresentationFormat>
  <Paragraphs>160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Century Gothic</vt:lpstr>
      <vt:lpstr>Wingdings 3</vt:lpstr>
      <vt:lpstr>Ion</vt:lpstr>
      <vt:lpstr>Supply Chain Analytics – Make vs Buy</vt:lpstr>
      <vt:lpstr>Introduction</vt:lpstr>
      <vt:lpstr>Agenda of the meeting</vt:lpstr>
      <vt:lpstr>Key Metrics</vt:lpstr>
      <vt:lpstr>Supplier Selection</vt:lpstr>
      <vt:lpstr>Visualizing Unit Cost and Non - Recurring Expenses from each supplier.</vt:lpstr>
      <vt:lpstr>PowerPoint Presentation</vt:lpstr>
      <vt:lpstr>Scenario Analysis</vt:lpstr>
      <vt:lpstr>PowerPoint Presentation</vt:lpstr>
      <vt:lpstr>Full Cost Analysis</vt:lpstr>
      <vt:lpstr>Full Cost Vs Full Cost(All)</vt:lpstr>
      <vt:lpstr>Make Vs Buy Analysis</vt:lpstr>
      <vt:lpstr>Buy Vs Make Decision Making</vt:lpstr>
      <vt:lpstr>Summary</vt:lpstr>
      <vt:lpstr>Thank You.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Supply Chain Analytics – Make vs Buy</dc:title>
  <dc:creator>Aditya Verma</dc:creator>
  <cp:lastModifiedBy>Aditya Verma</cp:lastModifiedBy>
  <cp:revision>56</cp:revision>
  <dcterms:created xsi:type="dcterms:W3CDTF">2026-01-03T13:58:26Z</dcterms:created>
  <dcterms:modified xsi:type="dcterms:W3CDTF">2026-01-16T20:28:15Z</dcterms:modified>
</cp:coreProperties>
</file>